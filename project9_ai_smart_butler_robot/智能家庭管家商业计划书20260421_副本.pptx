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svg" ContentType="image/svg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Masters/slideMaster2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trictFirstAndLastChars="0" saveSubsetFonts="1" autoCompressPictures="0">
  <p:sldMasterIdLst>
    <p:sldMasterId id="2147483659" r:id="rId1"/>
    <p:sldMasterId id="2147483660" r:id="rId2"/>
  </p:sldMasterIdLst>
  <p:notesMasterIdLst>
    <p:notesMasterId r:id="rId19"/>
  </p:notesMasterIdLst>
  <p:sldIdLst>
    <p:sldId id="256" r:id="rId3"/>
    <p:sldId id="257" r:id="rId4"/>
    <p:sldId id="258" r:id="rId5"/>
    <p:sldId id="259" r:id="rId6"/>
    <p:sldId id="260" r:id="rId7"/>
    <p:sldId id="261" r:id="rId8"/>
    <p:sldId id="262" r:id="rId9"/>
    <p:sldId id="263" r:id="rId10"/>
    <p:sldId id="264" r:id="rId11"/>
    <p:sldId id="265" r:id="rId12"/>
    <p:sldId id="266" r:id="rId13"/>
    <p:sldId id="267" r:id="rId14"/>
    <p:sldId id="268" r:id="rId15"/>
    <p:sldId id="269" r:id="rId16"/>
    <p:sldId id="270" r:id="rId17"/>
    <p:sldId id="271" r:id="rId18"/>
  </p:sldIdLst>
  <p:sldSz cx="18288000" cy="10287000"/>
  <p:notesSz cx="6858000" cy="9144000"/>
  <p:defaultText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 xmlns:p15="http://schemas.microsoft.com/office/powerpoint/2012/main">
        <p15:guide id="1" orient="horz" pos="1620">
          <p15:clr>
            <a:srgbClr val="747775"/>
          </p15:clr>
        </p15:guide>
        <p15:guide id="2" pos="2880">
          <p15:clr>
            <a:srgbClr val="747775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11"/>
    <p:restoredTop sz="94694"/>
  </p:normalViewPr>
  <p:slideViewPr>
    <p:cSldViewPr snapToGrid="0">
      <p:cViewPr varScale="1">
        <p:scale>
          <a:sx n="80" d="100"/>
          <a:sy n="80" d="100"/>
        </p:scale>
        <p:origin x="824" y="224"/>
      </p:cViewPr>
      <p:guideLst>
        <p:guide orient="horz" pos="1620"/>
        <p:guide pos="2880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6.xml"/><Relationship Id="rId13" Type="http://schemas.openxmlformats.org/officeDocument/2006/relationships/slide" Target="slides/slide11.xml"/><Relationship Id="rId18" Type="http://schemas.openxmlformats.org/officeDocument/2006/relationships/slide" Target="slides/slide16.xml"/><Relationship Id="rId3" Type="http://schemas.openxmlformats.org/officeDocument/2006/relationships/slide" Target="slides/slide1.xml"/><Relationship Id="rId21" Type="http://schemas.openxmlformats.org/officeDocument/2006/relationships/viewProps" Target="viewProps.xml"/><Relationship Id="rId7" Type="http://schemas.openxmlformats.org/officeDocument/2006/relationships/slide" Target="slides/slide5.xml"/><Relationship Id="rId12" Type="http://schemas.openxmlformats.org/officeDocument/2006/relationships/slide" Target="slides/slide10.xml"/><Relationship Id="rId17" Type="http://schemas.openxmlformats.org/officeDocument/2006/relationships/slide" Target="slides/slide15.xml"/><Relationship Id="rId2" Type="http://schemas.openxmlformats.org/officeDocument/2006/relationships/slideMaster" Target="slideMasters/slideMaster2.xml"/><Relationship Id="rId16" Type="http://schemas.openxmlformats.org/officeDocument/2006/relationships/slide" Target="slides/slide14.xml"/><Relationship Id="rId20" Type="http://schemas.openxmlformats.org/officeDocument/2006/relationships/presProps" Target="pres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4.xml"/><Relationship Id="rId11" Type="http://schemas.openxmlformats.org/officeDocument/2006/relationships/slide" Target="slides/slide9.xml"/><Relationship Id="rId5" Type="http://schemas.openxmlformats.org/officeDocument/2006/relationships/slide" Target="slides/slide3.xml"/><Relationship Id="rId15" Type="http://schemas.openxmlformats.org/officeDocument/2006/relationships/slide" Target="slides/slide13.xml"/><Relationship Id="rId23" Type="http://schemas.openxmlformats.org/officeDocument/2006/relationships/tableStyles" Target="tableStyles.xml"/><Relationship Id="rId10" Type="http://schemas.openxmlformats.org/officeDocument/2006/relationships/slide" Target="slides/slide8.xml"/><Relationship Id="rId19" Type="http://schemas.openxmlformats.org/officeDocument/2006/relationships/notesMaster" Target="notesMasters/notesMaster1.xml"/><Relationship Id="rId4" Type="http://schemas.openxmlformats.org/officeDocument/2006/relationships/slide" Target="slides/slide2.xml"/><Relationship Id="rId9" Type="http://schemas.openxmlformats.org/officeDocument/2006/relationships/slide" Target="slides/slide7.xml"/><Relationship Id="rId14" Type="http://schemas.openxmlformats.org/officeDocument/2006/relationships/slide" Target="slides/slide12.xml"/><Relationship Id="rId22" Type="http://schemas.openxmlformats.org/officeDocument/2006/relationships/theme" Target="theme/theme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cs-CZ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B7268E1E-0E44-426D-905E-8AD9B19D2182}" type="datetimeFigureOut">
              <a:rPr lang="cs-CZ" smtClean="0"/>
              <a:t>21.04.2026</a:t>
            </a:fld>
            <a:endParaRPr lang="cs-CZ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cs-CZ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cs-CZ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cs-CZ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871B2431-D351-4C6E-A3CF-9DFAC0E3E050}" type="slidenum">
              <a:rPr lang="cs-CZ" smtClean="0"/>
              <a:t>‹#›</a:t>
            </a:fld>
            <a:endParaRPr lang="cs-CZ"/>
          </a:p>
        </p:txBody>
      </p:sp>
    </p:spTree>
    <p:extLst>
      <p:ext uri="{BB962C8B-B14F-4D97-AF65-F5344CB8AC3E}">
        <p14:creationId xmlns:p14="http://schemas.microsoft.com/office/powerpoint/2010/main" val="179888911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6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>
              <a:rPr lang="cs-CZ"/>
              <a:t>1.7.2013</a:t>
            </a:r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290763" y="512763"/>
            <a:ext cx="4562475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400" b="0" i="0" u="none" strike="noStrike"/>
            </a:lvl1pPr>
          </a:lstStyle>
          <a:p>
            <a:pPr indent="0" algn="l">
              <a:lnSpc>
                <a:spcPct val="100000"/>
              </a:lnSpc>
            </a:pPr>
            <a:r>
              <a:rPr lang="en-US" sz="1400" b="0" i="0" u="none" strike="noStrike">
                <a:solidFill>
                  <a:srgbClr val="000000"/>
                </a:solidFill>
              </a:rPr>
              <a:t>大家好，今天我将向各位介绍一款革命性的产品——智能家庭管家。它不仅仅是一个智能设备，更是一个有灵魂、懂家庭、懂每个人的智能伙伴与生活助手。我们的目标是通过尖端的AI技术，重新定义未来的家庭生活方式，解决当前市场的核心痛点。接下来，我将详细阐述我们的商业计划。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>
              <a:rPr lang="cs-CZ"/>
              <a:t>‹#›</a:t>
            </a:r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>
              <a:rPr lang="cs-CZ"/>
              <a:t>1.7.2013</a:t>
            </a:r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290763" y="512763"/>
            <a:ext cx="4562475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400" b="0" i="0" u="none" strike="noStrike"/>
            </a:lvl1pPr>
          </a:lstStyle>
          <a:p>
            <a:pPr indent="0" algn="l">
              <a:lnSpc>
                <a:spcPct val="100000"/>
              </a:lnSpc>
            </a:pPr>
            <a:r>
              <a:rPr lang="en-US" sz="1400" b="0" i="0" u="none" strike="noStrike">
                <a:solidFill>
                  <a:srgbClr val="000000"/>
                </a:solidFill>
              </a:rPr>
              <a:t>本次汇报将分为四个部分。首先，我们将深入分析当前智能家居市场的规模、痛点与机会。其次，详细介绍我们的智能家庭管家产品，包括其核心功能与技术优势。接着，阐述我们的商业模式与市场进入策略。最后，展示我们的发展规划、融资需求以及核心团队。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>
              <a:rPr lang="cs-CZ"/>
              <a:t>‹#›</a:t>
            </a:r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>
              <a:rPr lang="cs-CZ"/>
              <a:t>1.7.2013</a:t>
            </a:r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290763" y="512763"/>
            <a:ext cx="4562475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400" b="0" i="0" u="none" strike="noStrike"/>
            </a:lvl1pPr>
          </a:lstStyle>
          <a:p>
            <a:pPr indent="0" algn="l">
              <a:lnSpc>
                <a:spcPct val="100000"/>
              </a:lnSpc>
            </a:pPr>
            <a:r>
              <a:rPr lang="en-US" sz="1400" b="0" i="0" u="none" strike="noStrike">
                <a:solidFill>
                  <a:srgbClr val="000000"/>
                </a:solidFill>
              </a:rPr>
              <a:t>首先，我们来看第一部分：市场分析。智能家居市场正在经历爆炸式增长，但繁荣背后，用户的真实痛点依然存在。我们的产品正是在这样的背景下应运而生，旨在解决这些核心问题，抓住巨大的市场机遇。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>
              <a:rPr lang="cs-CZ"/>
              <a:t>‹#›</a:t>
            </a:r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>
              <a:rPr lang="cs-CZ"/>
              <a:t>1.7.2013</a:t>
            </a:r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400" b="0" i="0" u="none" strike="noStrike"/>
            </a:lvl1pPr>
          </a:lstStyle>
          <a:p>
            <a:pPr indent="0" algn="l">
              <a:lnSpc>
                <a:spcPct val="100000"/>
              </a:lnSpc>
            </a:pPr>
            <a:r>
              <a:rPr lang="en-US" sz="1400" b="0" i="0" u="none" strike="noStrike">
                <a:solidFill>
                  <a:srgbClr val="000000"/>
                </a:solidFill>
              </a:rPr>
              <a:t>根据权威机构预测，全球智能家居市场规模将在2026年达到约2000亿美元，并以超过20%的复合年增长率高速发展。更值得关注的是，与我们产品定位高度相关的自主家庭管理市场，在2026年规模已达1285亿美元。这表明，消费者对能够主动管理、自主决策的智能家庭解决方案有着强烈的需求，市场潜力巨大。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>
              <a:rPr lang="cs-CZ"/>
              <a:t>‹#›</a:t>
            </a:r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>
              <a:rPr lang="cs-CZ"/>
              <a:t>1.7.2013</a:t>
            </a:r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400" b="0" i="0" u="none" strike="noStrike"/>
            </a:lvl1pPr>
          </a:lstStyle>
          <a:p>
            <a:pPr indent="0" algn="l">
              <a:lnSpc>
                <a:spcPct val="100000"/>
              </a:lnSpc>
            </a:pPr>
            <a:r>
              <a:rPr lang="en-US" sz="1400" b="0" i="0" u="none" strike="noStrike">
                <a:solidFill>
                  <a:srgbClr val="000000"/>
                </a:solidFill>
              </a:rPr>
              <a:t>尽管市场前景广阔，但当前智能家居行业仍面临三大核心痛点。第一，隐私安全危机，用户数据上传云端，存在泄露风险。第二，交互体验被动，设备需要用户主动触发，缺乏主动性。第三，用户体验割裂，单一设备无法满足全家需求。而这三大痛点，正是我们产品的核心机会所在。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>
              <a:rPr lang="cs-CZ"/>
              <a:t>‹#›</a:t>
            </a:r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>
              <a:rPr lang="cs-CZ"/>
              <a:t>1.7.2013</a:t>
            </a:r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290763" y="512763"/>
            <a:ext cx="4562475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400" b="0" i="0" u="none" strike="noStrike"/>
            </a:lvl1pPr>
          </a:lstStyle>
          <a:p>
            <a:pPr indent="0" algn="l">
              <a:lnSpc>
                <a:spcPct val="100000"/>
              </a:lnSpc>
            </a:pPr>
            <a:r>
              <a:rPr lang="en-US" sz="1400" b="0" i="0" u="none" strike="noStrike">
                <a:solidFill>
                  <a:srgbClr val="000000"/>
                </a:solidFill>
              </a:rPr>
              <a:t>在竞争激烈的市场中，我们的差异化优势非常明显。与依赖云端的传统智能家居相比，我们的产品在隐私安全、响应速度、交互模式和用户适配性上都实现了代际领先。</a:t>
            </a:r>
          </a:p>
          <a:p>
            <a:pPr indent="0" algn="l">
              <a:lnSpc>
                <a:spcPct val="100000"/>
              </a:lnSpc>
            </a:pPr>
            <a:r>
              <a:rPr lang="en-US" sz="1400" b="0" i="0" u="none" strike="noStrike">
                <a:solidFill>
                  <a:srgbClr val="000000"/>
                </a:solidFill>
              </a:rPr>
              <a:t>我们通过本地部署大模型，实现了100%数据安全、毫秒级响应、主动式服务和个性化的多人格交互，这构成了我们坚实的竞争壁垒。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>
              <a:rPr lang="cs-CZ"/>
              <a:t>‹#›</a:t>
            </a:r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>
              <a:rPr lang="cs-CZ"/>
              <a:t>1.7.2013</a:t>
            </a:r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290763" y="512763"/>
            <a:ext cx="4562475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400" b="0" i="0" u="none" strike="noStrike"/>
            </a:lvl1pPr>
          </a:lstStyle>
          <a:p>
            <a:pPr indent="0" algn="l">
              <a:lnSpc>
                <a:spcPct val="100000"/>
              </a:lnSpc>
            </a:pPr>
            <a:r>
              <a:rPr lang="en-US" sz="1400" b="0" i="0" u="none" strike="noStrike">
                <a:solidFill>
                  <a:srgbClr val="000000"/>
                </a:solidFill>
              </a:rPr>
              <a:t>接下来，让我们进入第二部分，详细了解我们的产品——智能家庭管家。它的定位不仅仅是一个工具，更是一个能融入家庭、理解每个成员的智能伙伴。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>
              <a:rPr lang="cs-CZ"/>
              <a:t>‹#›</a:t>
            </a:r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>
              <a:rPr lang="cs-CZ"/>
              <a:t>1.7.2013</a:t>
            </a:r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400" b="0" i="0" u="none" strike="noStrike"/>
            </a:lvl1pPr>
          </a:lstStyle>
          <a:p>
            <a:pPr indent="0" algn="l">
              <a:lnSpc>
                <a:spcPct val="100000"/>
              </a:lnSpc>
            </a:pPr>
            <a:r>
              <a:rPr lang="en-US" sz="1400" b="0" i="0" u="none" strike="noStrike">
                <a:solidFill>
                  <a:srgbClr val="000000"/>
                </a:solidFill>
              </a:rPr>
              <a:t>我们的产品定位是成为家庭不可或缺的智能伙伴。核心价值主张非常清晰：通过在本地部署极轻量级大模型，我们实现了三大核心优势：低延迟、高隐私和强适配。这使得我们的产品能够提供真正主动、安全且个性化的智能服务，这是目前市场上其他产品无法比拟的。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>
              <a:rPr lang="cs-CZ"/>
              <a:t>‹#›</a:t>
            </a:r>
          </a:p>
        </p:txBody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>
              <a:rPr lang="cs-CZ"/>
              <a:t>1.7.2013</a:t>
            </a:r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400" b="0" i="0" u="none" strike="noStrike"/>
            </a:lvl1pPr>
          </a:lstStyle>
          <a:p>
            <a:pPr indent="0" algn="l">
              <a:lnSpc>
                <a:spcPct val="100000"/>
              </a:lnSpc>
            </a:pPr>
            <a:r>
              <a:rPr lang="en-US" sz="1400" b="0" i="0" u="none" strike="noStrike">
                <a:solidFill>
                  <a:srgbClr val="000000"/>
                </a:solidFill>
              </a:rPr>
              <a:t>我们的产品功能围绕家庭需求展开，主要包括四大模块。首先是多人格陪伴服务，它能为不同家庭成员提供个性化的交互体验。其次是主动健康管理服务，主动监测并管理家人健康。第三是无缝家居控制服务，实现真正的全屋智能。最后是情感感知与主动对话服务，让产品更有“人情味”。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>
              <a:rPr lang="cs-CZ"/>
              <a:t>‹#›</a:t>
            </a:r>
          </a:p>
        </p:txBody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>
              <a:rPr lang="cs-CZ"/>
              <a:t>1.7.2013</a:t>
            </a:r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290763" y="512763"/>
            <a:ext cx="4562475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400" b="0" i="0" u="none" strike="noStrike"/>
            </a:lvl1pPr>
          </a:lstStyle>
          <a:p>
            <a:pPr indent="0" algn="l">
              <a:lnSpc>
                <a:spcPct val="100000"/>
              </a:lnSpc>
            </a:pPr>
            <a:r>
              <a:rPr lang="en-US" sz="1400" b="0" i="0" u="none" strike="noStrike">
                <a:solidFill>
                  <a:srgbClr val="000000"/>
                </a:solidFill>
              </a:rPr>
              <a:t>我们的技术优势是实现这一切的基础。核心在于极轻量级大模型的本地部署，这是我们的技术壁垒。结合AI Agent自主决策引擎和多模态数据融合感知技术，我们的产品能够精准理解用户和环境。例如，我们的情绪识别准确率超过90%，本地响应延迟低于500毫秒，这些都保证了极致的用户体验。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>
              <a:rPr lang="cs-CZ"/>
              <a:t>‹#›</a:t>
            </a:r>
          </a:p>
        </p:txBody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>
              <a:rPr lang="cs-CZ"/>
              <a:t>1.7.2013</a:t>
            </a:r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290763" y="512763"/>
            <a:ext cx="4562475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400" b="0" i="0" u="none" strike="noStrike"/>
            </a:lvl1pPr>
          </a:lstStyle>
          <a:p>
            <a:pPr indent="0" algn="l">
              <a:lnSpc>
                <a:spcPct val="100000"/>
              </a:lnSpc>
            </a:pPr>
            <a:r>
              <a:rPr lang="en-US" sz="1400" b="0" i="0" u="none" strike="noStrike">
                <a:solidFill>
                  <a:srgbClr val="000000"/>
                </a:solidFill>
              </a:rPr>
              <a:t>了解了产品，我们再来看看第三部分：商业模式。一个好的产品需要有清晰的盈利模式和精准的市场策略来支撑，我们对此有周密的计划。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>
              <a:rPr lang="cs-CZ"/>
              <a:t>‹#›</a:t>
            </a:r>
          </a:p>
        </p:txBody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>
              <a:rPr lang="cs-CZ"/>
              <a:t>1.7.2013</a:t>
            </a:r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290763" y="512763"/>
            <a:ext cx="4562475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400" b="0" i="0" u="none" strike="noStrike"/>
            </a:lvl1pPr>
          </a:lstStyle>
          <a:p>
            <a:pPr indent="0" algn="l">
              <a:lnSpc>
                <a:spcPct val="100000"/>
              </a:lnSpc>
            </a:pPr>
            <a:r>
              <a:rPr lang="en-US" sz="1400" b="0" i="0" u="none" strike="noStrike">
                <a:solidFill>
                  <a:srgbClr val="000000"/>
                </a:solidFill>
              </a:rPr>
              <a:t>我们的收入主要来自两部分：首先是硬件销售，这是我们初期的主要收入来源。其次是增值服务，这将是我们未来的重要增长点。在市场进入策略上，我们将分阶段进行：首先聚焦有老人的家庭，解决刚需；然后拓展到有孩子的年轻家庭；最终覆盖所有追求高品质生活的家庭。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>
              <a:rPr lang="cs-CZ"/>
              <a:t>‹#›</a:t>
            </a:r>
          </a:p>
        </p:txBody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>
              <a:rPr lang="cs-CZ"/>
              <a:t>1.7.2013</a:t>
            </a:r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290763" y="512763"/>
            <a:ext cx="4562475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400" b="0" i="0" u="none" strike="noStrike"/>
            </a:lvl1pPr>
          </a:lstStyle>
          <a:p>
            <a:pPr indent="0" algn="l">
              <a:lnSpc>
                <a:spcPct val="100000"/>
              </a:lnSpc>
            </a:pPr>
            <a:r>
              <a:rPr lang="en-US" sz="1400" b="0" i="0" u="none" strike="noStrike">
                <a:solidFill>
                  <a:srgbClr val="000000"/>
                </a:solidFill>
              </a:rPr>
              <a:t>最后，我们来看第四部分：发展规划。我们为产品的发展制定了清晰的路线图，并明确了融资需求和资金用途，以确保项目顺利推进。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>
              <a:rPr lang="cs-CZ"/>
              <a:t>‹#›</a:t>
            </a:r>
          </a:p>
        </p:txBody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>
              <a:rPr lang="cs-CZ"/>
              <a:t>1.7.2013</a:t>
            </a:r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290763" y="512763"/>
            <a:ext cx="4562475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400" b="0" i="0" u="none" strike="noStrike"/>
            </a:lvl1pPr>
          </a:lstStyle>
          <a:p>
            <a:pPr indent="0" algn="l">
              <a:lnSpc>
                <a:spcPct val="100000"/>
              </a:lnSpc>
            </a:pPr>
            <a:r>
              <a:rPr lang="en-US" sz="1400" b="0" i="0" u="none" strike="noStrike">
                <a:solidFill>
                  <a:srgbClr val="000000"/>
                </a:solidFill>
              </a:rPr>
              <a:t>我们的产品路线图分为三个主要阶段。P0阶段，我们将在未来6个月内完成第一代产品开发并交付内测。P1阶段，用一年时间优化体验并正式推向市场。P2阶段，我们将进一步增强产品的个性化和扩展性，构建生态。我们的长期目标是成为家庭服务机器人的标准配置。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>
              <a:rPr lang="cs-CZ"/>
              <a:t>‹#›</a:t>
            </a:r>
          </a:p>
        </p:txBody>
      </p:sp>
    </p:spTree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>
              <a:rPr lang="cs-CZ"/>
              <a:t>1.7.2013</a:t>
            </a:r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290763" y="512763"/>
            <a:ext cx="4562475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400" b="0" i="0" u="none" strike="noStrike"/>
            </a:lvl1pPr>
          </a:lstStyle>
          <a:p>
            <a:pPr indent="0" algn="l">
              <a:lnSpc>
                <a:spcPct val="100000"/>
              </a:lnSpc>
            </a:pPr>
            <a:r>
              <a:rPr lang="en-US" sz="1400" b="0" i="0" u="none" strike="noStrike">
                <a:solidFill>
                  <a:srgbClr val="000000"/>
                </a:solidFill>
              </a:rPr>
              <a:t>为实现上述规划，我们寻求1000万人民币的种子轮融资，资金将主要用于产品研发、供应链建设和市场推广。我们拥有一支在AI、机器人、产品和市场领域经验丰富的复合型团队，我们有信心将这个愿景变为现实。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>
              <a:rPr lang="cs-CZ"/>
              <a:t>‹#›</a:t>
            </a:r>
          </a:p>
        </p:txBody>
      </p:sp>
    </p:spTree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>
              <a:rPr lang="cs-CZ"/>
              <a:t>1.7.2013</a:t>
            </a:r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290763" y="512763"/>
            <a:ext cx="4562475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400" b="0" i="0" u="none" strike="noStrike"/>
            </a:lvl1pPr>
          </a:lstStyle>
          <a:p>
            <a:pPr indent="0" algn="l">
              <a:lnSpc>
                <a:spcPct val="100000"/>
              </a:lnSpc>
            </a:pPr>
            <a:r>
              <a:rPr lang="en-US" sz="1400" b="0" i="0" u="none" strike="noStrike">
                <a:solidFill>
                  <a:srgbClr val="000000"/>
                </a:solidFill>
              </a:rPr>
              <a:t>我的介绍到此结束。我们坚信，智能家庭管家将开启一个全新的家庭生活时代。感谢各位的聆听，期待能与您携手，共同开创智能家庭的美好未来。谢谢大家！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>
              <a:rPr lang="cs-CZ"/>
              <a:t>‹#›</a:t>
            </a:r>
          </a:p>
        </p:txBody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标题幻灯片" type="title">
  <p:cSld name="TITLE">
    <p:spTree>
      <p:nvGrpSpPr>
        <p:cNvPr id="1" name="Shape 1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Shape 30"/>
          <p:cNvSpPr txBox="1">
            <a:spLocks noGrp="1"/>
          </p:cNvSpPr>
          <p:nvPr>
            <p:ph type="ctrTitle"/>
          </p:nvPr>
        </p:nvSpPr>
        <p:spPr>
          <a:xfrm>
            <a:off x="1143000" y="841772"/>
            <a:ext cx="6858000" cy="1790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b" anchorCtr="0">
            <a:normAutofit/>
          </a:bodyPr>
          <a:lstStyle>
            <a:lvl1pPr lvl="0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500"/>
              <a:buFont typeface="Arial"/>
              <a:buNone/>
              <a:defRPr sz="4500"/>
            </a:lvl1pPr>
            <a:lvl2pPr lvl="1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>
            <a:endParaRPr/>
          </a:p>
        </p:txBody>
      </p:sp>
      <p:sp>
        <p:nvSpPr>
          <p:cNvPr id="13" name="Shape 31"/>
          <p:cNvSpPr txBox="1">
            <a:spLocks noGrp="1"/>
          </p:cNvSpPr>
          <p:nvPr>
            <p:ph type="subTitle" idx="1"/>
          </p:nvPr>
        </p:nvSpPr>
        <p:spPr>
          <a:xfrm>
            <a:off x="1143000" y="2701528"/>
            <a:ext cx="6858000" cy="124182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t" anchorCtr="0">
            <a:normAutofit/>
          </a:bodyPr>
          <a:lstStyle>
            <a:lvl1pPr lvl="0" algn="ctr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sz="1800"/>
            </a:lvl1pPr>
            <a:lvl2pPr lvl="1" algn="ctr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500"/>
              <a:buNone/>
              <a:defRPr sz="1500"/>
            </a:lvl2pPr>
            <a:lvl3pPr lvl="2" algn="ctr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/>
            </a:lvl3pPr>
            <a:lvl4pPr lvl="3" algn="ctr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4pPr>
            <a:lvl5pPr lvl="4" algn="ctr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5pPr>
            <a:lvl6pPr lvl="5" algn="ctr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6pPr>
            <a:lvl7pPr lvl="6" algn="ctr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7pPr>
            <a:lvl8pPr lvl="7" algn="ctr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8pPr>
            <a:lvl9pPr lvl="8" algn="ctr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9pPr>
          </a:lstStyle>
          <a:p>
            <a:endParaRPr/>
          </a:p>
        </p:txBody>
      </p:sp>
      <p:sp>
        <p:nvSpPr>
          <p:cNvPr id="14" name="Shape 32"/>
          <p:cNvSpPr txBox="1">
            <a:spLocks noGrp="1"/>
          </p:cNvSpPr>
          <p:nvPr>
            <p:ph type="dt" idx="10"/>
          </p:nvPr>
        </p:nvSpPr>
        <p:spPr>
          <a:xfrm>
            <a:off x="6286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>
            <a:endParaRPr/>
          </a:p>
        </p:txBody>
      </p:sp>
      <p:sp>
        <p:nvSpPr>
          <p:cNvPr id="15" name="Shape 33"/>
          <p:cNvSpPr txBox="1">
            <a:spLocks noGrp="1"/>
          </p:cNvSpPr>
          <p:nvPr>
            <p:ph type="ftr" idx="11"/>
          </p:nvPr>
        </p:nvSpPr>
        <p:spPr>
          <a:xfrm>
            <a:off x="3028950" y="4767263"/>
            <a:ext cx="30861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>
            <a:endParaRPr/>
          </a:p>
        </p:txBody>
      </p:sp>
      <p:sp>
        <p:nvSpPr>
          <p:cNvPr id="16" name="Shape 34"/>
          <p:cNvSpPr txBox="1">
            <a:spLocks noGrp="1"/>
          </p:cNvSpPr>
          <p:nvPr>
            <p:ph type="sldNum" idx="12"/>
          </p:nvPr>
        </p:nvSpPr>
        <p:spPr>
          <a:xfrm>
            <a:off x="64579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zh-C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标题和内容" type="obj">
  <p:cSld name="OBJECT">
    <p:spTree>
      <p:nvGrpSpPr>
        <p:cNvPr id="1" name="Shape 1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" name="Shape 54"/>
          <p:cNvSpPr txBox="1">
            <a:spLocks noGrp="1"/>
          </p:cNvSpPr>
          <p:nvPr>
            <p:ph type="title"/>
          </p:nvPr>
        </p:nvSpPr>
        <p:spPr>
          <a:xfrm>
            <a:off x="628650" y="273844"/>
            <a:ext cx="7886700" cy="99417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>
            <a:endParaRPr/>
          </a:p>
        </p:txBody>
      </p:sp>
      <p:sp>
        <p:nvSpPr>
          <p:cNvPr id="19" name="Shape 55"/>
          <p:cNvSpPr txBox="1">
            <a:spLocks noGrp="1"/>
          </p:cNvSpPr>
          <p:nvPr>
            <p:ph type="body" idx="1"/>
          </p:nvPr>
        </p:nvSpPr>
        <p:spPr>
          <a:xfrm>
            <a:off x="628650" y="1369219"/>
            <a:ext cx="7886700" cy="326350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t" anchorCtr="0">
            <a:normAutofit/>
          </a:bodyPr>
          <a:lstStyle>
            <a:lvl1pPr marL="457200" lvl="0" indent="-31750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1pPr>
            <a:lvl2pPr marL="914400" lvl="1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2pPr>
            <a:lvl3pPr marL="1371600" lvl="2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3pPr>
            <a:lvl4pPr marL="1828800" lvl="3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4pPr>
            <a:lvl5pPr marL="2286000" lvl="4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5pPr>
            <a:lvl6pPr marL="2743200" lvl="5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6pPr>
            <a:lvl7pPr marL="3200400" lvl="6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7pPr>
            <a:lvl8pPr marL="3657600" lvl="7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8pPr>
            <a:lvl9pPr marL="4114800" lvl="8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9pPr>
          </a:lstStyle>
          <a:p>
            <a:endParaRPr/>
          </a:p>
        </p:txBody>
      </p:sp>
      <p:sp>
        <p:nvSpPr>
          <p:cNvPr id="20" name="Shape 56"/>
          <p:cNvSpPr txBox="1">
            <a:spLocks noGrp="1"/>
          </p:cNvSpPr>
          <p:nvPr>
            <p:ph type="dt" idx="10"/>
          </p:nvPr>
        </p:nvSpPr>
        <p:spPr>
          <a:xfrm>
            <a:off x="6286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>
            <a:endParaRPr/>
          </a:p>
        </p:txBody>
      </p:sp>
      <p:sp>
        <p:nvSpPr>
          <p:cNvPr id="21" name="Shape 57"/>
          <p:cNvSpPr txBox="1">
            <a:spLocks noGrp="1"/>
          </p:cNvSpPr>
          <p:nvPr>
            <p:ph type="ftr" idx="11"/>
          </p:nvPr>
        </p:nvSpPr>
        <p:spPr>
          <a:xfrm>
            <a:off x="3028950" y="4767263"/>
            <a:ext cx="30861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>
            <a:endParaRPr/>
          </a:p>
        </p:txBody>
      </p:sp>
      <p:sp>
        <p:nvSpPr>
          <p:cNvPr id="22" name="Shape 58"/>
          <p:cNvSpPr txBox="1">
            <a:spLocks noGrp="1"/>
          </p:cNvSpPr>
          <p:nvPr>
            <p:ph type="sldNum" idx="12"/>
          </p:nvPr>
        </p:nvSpPr>
        <p:spPr>
          <a:xfrm>
            <a:off x="64579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zh-C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节标题" type="secHead">
  <p:cSld name="SECTION_HEADER">
    <p:spTree>
      <p:nvGrpSpPr>
        <p:cNvPr id="1" name="Shape 2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" name="Shape 59"/>
          <p:cNvSpPr txBox="1">
            <a:spLocks noGrp="1"/>
          </p:cNvSpPr>
          <p:nvPr>
            <p:ph type="title"/>
          </p:nvPr>
        </p:nvSpPr>
        <p:spPr>
          <a:xfrm>
            <a:off x="623888" y="1282304"/>
            <a:ext cx="7886700" cy="213955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b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500"/>
              <a:buFont typeface="Arial"/>
              <a:buNone/>
              <a:defRPr sz="4500"/>
            </a:lvl1pPr>
            <a:lvl2pPr lvl="1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>
            <a:endParaRPr/>
          </a:p>
        </p:txBody>
      </p:sp>
      <p:sp>
        <p:nvSpPr>
          <p:cNvPr id="25" name="Shape 60"/>
          <p:cNvSpPr txBox="1">
            <a:spLocks noGrp="1"/>
          </p:cNvSpPr>
          <p:nvPr>
            <p:ph type="body" idx="1"/>
          </p:nvPr>
        </p:nvSpPr>
        <p:spPr>
          <a:xfrm>
            <a:off x="623888" y="3442097"/>
            <a:ext cx="7886700" cy="112514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t" anchorCtr="0">
            <a:normAutofit/>
          </a:bodyPr>
          <a:lstStyle>
            <a:lvl1pPr marL="457200" lvl="0" indent="-22860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rgbClr val="888888"/>
              </a:buClr>
              <a:buSzPts val="1800"/>
              <a:buNone/>
              <a:defRPr sz="1800">
                <a:solidFill>
                  <a:srgbClr val="888888"/>
                </a:solidFill>
              </a:defRPr>
            </a:lvl1pPr>
            <a:lvl2pPr marL="914400" lvl="1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1500"/>
              <a:buNone/>
              <a:defRPr sz="1500">
                <a:solidFill>
                  <a:srgbClr val="888888"/>
                </a:solidFill>
              </a:defRPr>
            </a:lvl2pPr>
            <a:lvl3pPr marL="1371600" lvl="2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3pPr>
            <a:lvl4pPr marL="1828800" lvl="3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1200"/>
              <a:buNone/>
              <a:defRPr sz="1200">
                <a:solidFill>
                  <a:srgbClr val="888888"/>
                </a:solidFill>
              </a:defRPr>
            </a:lvl4pPr>
            <a:lvl5pPr marL="2286000" lvl="4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1200"/>
              <a:buNone/>
              <a:defRPr sz="1200">
                <a:solidFill>
                  <a:srgbClr val="888888"/>
                </a:solidFill>
              </a:defRPr>
            </a:lvl5pPr>
            <a:lvl6pPr marL="2743200" lvl="5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1200"/>
              <a:buNone/>
              <a:defRPr sz="1200">
                <a:solidFill>
                  <a:srgbClr val="888888"/>
                </a:solidFill>
              </a:defRPr>
            </a:lvl6pPr>
            <a:lvl7pPr marL="3200400" lvl="6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1200"/>
              <a:buNone/>
              <a:defRPr sz="1200">
                <a:solidFill>
                  <a:srgbClr val="888888"/>
                </a:solidFill>
              </a:defRPr>
            </a:lvl7pPr>
            <a:lvl8pPr marL="3657600" lvl="7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1200"/>
              <a:buNone/>
              <a:defRPr sz="1200">
                <a:solidFill>
                  <a:srgbClr val="888888"/>
                </a:solidFill>
              </a:defRPr>
            </a:lvl8pPr>
            <a:lvl9pPr marL="4114800" lvl="8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1200"/>
              <a:buNone/>
              <a:defRPr sz="1200">
                <a:solidFill>
                  <a:srgbClr val="888888"/>
                </a:solidFill>
              </a:defRPr>
            </a:lvl9pPr>
          </a:lstStyle>
          <a:p>
            <a:endParaRPr/>
          </a:p>
        </p:txBody>
      </p:sp>
      <p:sp>
        <p:nvSpPr>
          <p:cNvPr id="26" name="Shape 61"/>
          <p:cNvSpPr txBox="1">
            <a:spLocks noGrp="1"/>
          </p:cNvSpPr>
          <p:nvPr>
            <p:ph type="dt" idx="10"/>
          </p:nvPr>
        </p:nvSpPr>
        <p:spPr>
          <a:xfrm>
            <a:off x="6286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>
            <a:endParaRPr/>
          </a:p>
        </p:txBody>
      </p:sp>
      <p:sp>
        <p:nvSpPr>
          <p:cNvPr id="27" name="Shape 62"/>
          <p:cNvSpPr txBox="1">
            <a:spLocks noGrp="1"/>
          </p:cNvSpPr>
          <p:nvPr>
            <p:ph type="ftr" idx="11"/>
          </p:nvPr>
        </p:nvSpPr>
        <p:spPr>
          <a:xfrm>
            <a:off x="3028950" y="4767263"/>
            <a:ext cx="30861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>
            <a:endParaRPr/>
          </a:p>
        </p:txBody>
      </p:sp>
      <p:sp>
        <p:nvSpPr>
          <p:cNvPr id="28" name="Shape 63"/>
          <p:cNvSpPr txBox="1">
            <a:spLocks noGrp="1"/>
          </p:cNvSpPr>
          <p:nvPr>
            <p:ph type="sldNum" idx="12"/>
          </p:nvPr>
        </p:nvSpPr>
        <p:spPr>
          <a:xfrm>
            <a:off x="64579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zh-C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两栏内容" type="twoObj">
  <p:cSld name="TWO_OBJECTS">
    <p:spTree>
      <p:nvGrpSpPr>
        <p:cNvPr id="1" name="Shape 2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" name="Shape 9"/>
          <p:cNvSpPr txBox="1">
            <a:spLocks noGrp="1"/>
          </p:cNvSpPr>
          <p:nvPr>
            <p:ph type="title"/>
          </p:nvPr>
        </p:nvSpPr>
        <p:spPr>
          <a:xfrm>
            <a:off x="628650" y="273844"/>
            <a:ext cx="7886700" cy="99417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>
            <a:endParaRPr/>
          </a:p>
        </p:txBody>
      </p:sp>
      <p:sp>
        <p:nvSpPr>
          <p:cNvPr id="31" name="Shape 10"/>
          <p:cNvSpPr txBox="1">
            <a:spLocks noGrp="1"/>
          </p:cNvSpPr>
          <p:nvPr>
            <p:ph type="body" idx="1"/>
          </p:nvPr>
        </p:nvSpPr>
        <p:spPr>
          <a:xfrm>
            <a:off x="628650" y="1369219"/>
            <a:ext cx="3886200" cy="326350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t" anchorCtr="0">
            <a:normAutofit/>
          </a:bodyPr>
          <a:lstStyle>
            <a:lvl1pPr marL="457200" lvl="0" indent="-31750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1pPr>
            <a:lvl2pPr marL="914400" lvl="1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2pPr>
            <a:lvl3pPr marL="1371600" lvl="2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3pPr>
            <a:lvl4pPr marL="1828800" lvl="3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4pPr>
            <a:lvl5pPr marL="2286000" lvl="4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5pPr>
            <a:lvl6pPr marL="2743200" lvl="5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6pPr>
            <a:lvl7pPr marL="3200400" lvl="6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7pPr>
            <a:lvl8pPr marL="3657600" lvl="7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8pPr>
            <a:lvl9pPr marL="4114800" lvl="8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9pPr>
          </a:lstStyle>
          <a:p>
            <a:endParaRPr/>
          </a:p>
        </p:txBody>
      </p:sp>
      <p:sp>
        <p:nvSpPr>
          <p:cNvPr id="32" name="Shape 11"/>
          <p:cNvSpPr txBox="1">
            <a:spLocks noGrp="1"/>
          </p:cNvSpPr>
          <p:nvPr>
            <p:ph type="body" idx="2"/>
          </p:nvPr>
        </p:nvSpPr>
        <p:spPr>
          <a:xfrm>
            <a:off x="4629150" y="1369219"/>
            <a:ext cx="3886200" cy="326350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t" anchorCtr="0">
            <a:normAutofit/>
          </a:bodyPr>
          <a:lstStyle>
            <a:lvl1pPr marL="457200" lvl="0" indent="-31750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1pPr>
            <a:lvl2pPr marL="914400" lvl="1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2pPr>
            <a:lvl3pPr marL="1371600" lvl="2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3pPr>
            <a:lvl4pPr marL="1828800" lvl="3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4pPr>
            <a:lvl5pPr marL="2286000" lvl="4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5pPr>
            <a:lvl6pPr marL="2743200" lvl="5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6pPr>
            <a:lvl7pPr marL="3200400" lvl="6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7pPr>
            <a:lvl8pPr marL="3657600" lvl="7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8pPr>
            <a:lvl9pPr marL="4114800" lvl="8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9pPr>
          </a:lstStyle>
          <a:p>
            <a:endParaRPr/>
          </a:p>
        </p:txBody>
      </p:sp>
      <p:sp>
        <p:nvSpPr>
          <p:cNvPr id="33" name="Shape 12"/>
          <p:cNvSpPr txBox="1">
            <a:spLocks noGrp="1"/>
          </p:cNvSpPr>
          <p:nvPr>
            <p:ph type="dt" idx="10"/>
          </p:nvPr>
        </p:nvSpPr>
        <p:spPr>
          <a:xfrm>
            <a:off x="6286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>
            <a:endParaRPr/>
          </a:p>
        </p:txBody>
      </p:sp>
      <p:sp>
        <p:nvSpPr>
          <p:cNvPr id="34" name="Shape 13"/>
          <p:cNvSpPr txBox="1">
            <a:spLocks noGrp="1"/>
          </p:cNvSpPr>
          <p:nvPr>
            <p:ph type="ftr" idx="11"/>
          </p:nvPr>
        </p:nvSpPr>
        <p:spPr>
          <a:xfrm>
            <a:off x="3028950" y="4767263"/>
            <a:ext cx="30861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>
            <a:endParaRPr/>
          </a:p>
        </p:txBody>
      </p:sp>
      <p:sp>
        <p:nvSpPr>
          <p:cNvPr id="35" name="Shape 14"/>
          <p:cNvSpPr txBox="1">
            <a:spLocks noGrp="1"/>
          </p:cNvSpPr>
          <p:nvPr>
            <p:ph type="sldNum" idx="12"/>
          </p:nvPr>
        </p:nvSpPr>
        <p:spPr>
          <a:xfrm>
            <a:off x="64579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zh-C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比较" type="twoTxTwoObj">
  <p:cSld name="TWO_OBJECTS_WITH_TEXT">
    <p:spTree>
      <p:nvGrpSpPr>
        <p:cNvPr id="1" name="Shape 3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7" name="Shape 35"/>
          <p:cNvSpPr txBox="1">
            <a:spLocks noGrp="1"/>
          </p:cNvSpPr>
          <p:nvPr>
            <p:ph type="title"/>
          </p:nvPr>
        </p:nvSpPr>
        <p:spPr>
          <a:xfrm>
            <a:off x="629841" y="273844"/>
            <a:ext cx="7886700" cy="99417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>
            <a:endParaRPr/>
          </a:p>
        </p:txBody>
      </p:sp>
      <p:sp>
        <p:nvSpPr>
          <p:cNvPr id="38" name="Shape 36"/>
          <p:cNvSpPr txBox="1">
            <a:spLocks noGrp="1"/>
          </p:cNvSpPr>
          <p:nvPr>
            <p:ph type="body" idx="1"/>
          </p:nvPr>
        </p:nvSpPr>
        <p:spPr>
          <a:xfrm>
            <a:off x="629841" y="1260872"/>
            <a:ext cx="3868340" cy="61793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b" anchorCtr="0">
            <a:normAutofit/>
          </a:bodyPr>
          <a:lstStyle>
            <a:lvl1pPr marL="457200" lvl="0" indent="-22860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sz="1800" b="1"/>
            </a:lvl1pPr>
            <a:lvl2pPr marL="914400" lvl="1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500"/>
              <a:buNone/>
              <a:defRPr sz="1500" b="1"/>
            </a:lvl2pPr>
            <a:lvl3pPr marL="1371600" lvl="2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 b="1"/>
            </a:lvl3pPr>
            <a:lvl4pPr marL="1828800" lvl="3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 b="1"/>
            </a:lvl4pPr>
            <a:lvl5pPr marL="2286000" lvl="4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 b="1"/>
            </a:lvl5pPr>
            <a:lvl6pPr marL="2743200" lvl="5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 b="1"/>
            </a:lvl6pPr>
            <a:lvl7pPr marL="3200400" lvl="6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 b="1"/>
            </a:lvl7pPr>
            <a:lvl8pPr marL="3657600" lvl="7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 b="1"/>
            </a:lvl8pPr>
            <a:lvl9pPr marL="4114800" lvl="8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 b="1"/>
            </a:lvl9pPr>
          </a:lstStyle>
          <a:p>
            <a:endParaRPr/>
          </a:p>
        </p:txBody>
      </p:sp>
      <p:sp>
        <p:nvSpPr>
          <p:cNvPr id="39" name="Shape 37"/>
          <p:cNvSpPr txBox="1">
            <a:spLocks noGrp="1"/>
          </p:cNvSpPr>
          <p:nvPr>
            <p:ph type="body" idx="2"/>
          </p:nvPr>
        </p:nvSpPr>
        <p:spPr>
          <a:xfrm>
            <a:off x="629841" y="1878806"/>
            <a:ext cx="3868340" cy="276344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t" anchorCtr="0">
            <a:normAutofit/>
          </a:bodyPr>
          <a:lstStyle>
            <a:lvl1pPr marL="457200" lvl="0" indent="-31750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1pPr>
            <a:lvl2pPr marL="914400" lvl="1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2pPr>
            <a:lvl3pPr marL="1371600" lvl="2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3pPr>
            <a:lvl4pPr marL="1828800" lvl="3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4pPr>
            <a:lvl5pPr marL="2286000" lvl="4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5pPr>
            <a:lvl6pPr marL="2743200" lvl="5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6pPr>
            <a:lvl7pPr marL="3200400" lvl="6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7pPr>
            <a:lvl8pPr marL="3657600" lvl="7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8pPr>
            <a:lvl9pPr marL="4114800" lvl="8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9pPr>
          </a:lstStyle>
          <a:p>
            <a:endParaRPr/>
          </a:p>
        </p:txBody>
      </p:sp>
      <p:sp>
        <p:nvSpPr>
          <p:cNvPr id="40" name="Shape 38"/>
          <p:cNvSpPr txBox="1">
            <a:spLocks noGrp="1"/>
          </p:cNvSpPr>
          <p:nvPr>
            <p:ph type="body" idx="3"/>
          </p:nvPr>
        </p:nvSpPr>
        <p:spPr>
          <a:xfrm>
            <a:off x="4629150" y="1260872"/>
            <a:ext cx="3887391" cy="61793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b" anchorCtr="0">
            <a:normAutofit/>
          </a:bodyPr>
          <a:lstStyle>
            <a:lvl1pPr marL="457200" lvl="0" indent="-22860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sz="1800" b="1"/>
            </a:lvl1pPr>
            <a:lvl2pPr marL="914400" lvl="1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500"/>
              <a:buNone/>
              <a:defRPr sz="1500" b="1"/>
            </a:lvl2pPr>
            <a:lvl3pPr marL="1371600" lvl="2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 b="1"/>
            </a:lvl3pPr>
            <a:lvl4pPr marL="1828800" lvl="3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 b="1"/>
            </a:lvl4pPr>
            <a:lvl5pPr marL="2286000" lvl="4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 b="1"/>
            </a:lvl5pPr>
            <a:lvl6pPr marL="2743200" lvl="5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 b="1"/>
            </a:lvl6pPr>
            <a:lvl7pPr marL="3200400" lvl="6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 b="1"/>
            </a:lvl7pPr>
            <a:lvl8pPr marL="3657600" lvl="7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 b="1"/>
            </a:lvl8pPr>
            <a:lvl9pPr marL="4114800" lvl="8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 b="1"/>
            </a:lvl9pPr>
          </a:lstStyle>
          <a:p>
            <a:endParaRPr/>
          </a:p>
        </p:txBody>
      </p:sp>
      <p:sp>
        <p:nvSpPr>
          <p:cNvPr id="41" name="Shape 39"/>
          <p:cNvSpPr txBox="1">
            <a:spLocks noGrp="1"/>
          </p:cNvSpPr>
          <p:nvPr>
            <p:ph type="body" idx="4"/>
          </p:nvPr>
        </p:nvSpPr>
        <p:spPr>
          <a:xfrm>
            <a:off x="4629150" y="1878806"/>
            <a:ext cx="3887391" cy="276344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t" anchorCtr="0">
            <a:normAutofit/>
          </a:bodyPr>
          <a:lstStyle>
            <a:lvl1pPr marL="457200" lvl="0" indent="-31750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1pPr>
            <a:lvl2pPr marL="914400" lvl="1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2pPr>
            <a:lvl3pPr marL="1371600" lvl="2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3pPr>
            <a:lvl4pPr marL="1828800" lvl="3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4pPr>
            <a:lvl5pPr marL="2286000" lvl="4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5pPr>
            <a:lvl6pPr marL="2743200" lvl="5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6pPr>
            <a:lvl7pPr marL="3200400" lvl="6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7pPr>
            <a:lvl8pPr marL="3657600" lvl="7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8pPr>
            <a:lvl9pPr marL="4114800" lvl="8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9pPr>
          </a:lstStyle>
          <a:p>
            <a:endParaRPr/>
          </a:p>
        </p:txBody>
      </p:sp>
      <p:sp>
        <p:nvSpPr>
          <p:cNvPr id="42" name="Shape 40"/>
          <p:cNvSpPr txBox="1">
            <a:spLocks noGrp="1"/>
          </p:cNvSpPr>
          <p:nvPr>
            <p:ph type="dt" idx="10"/>
          </p:nvPr>
        </p:nvSpPr>
        <p:spPr>
          <a:xfrm>
            <a:off x="6286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>
            <a:endParaRPr/>
          </a:p>
        </p:txBody>
      </p:sp>
      <p:sp>
        <p:nvSpPr>
          <p:cNvPr id="43" name="Shape 41"/>
          <p:cNvSpPr txBox="1">
            <a:spLocks noGrp="1"/>
          </p:cNvSpPr>
          <p:nvPr>
            <p:ph type="ftr" idx="11"/>
          </p:nvPr>
        </p:nvSpPr>
        <p:spPr>
          <a:xfrm>
            <a:off x="3028950" y="4767263"/>
            <a:ext cx="30861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>
            <a:endParaRPr/>
          </a:p>
        </p:txBody>
      </p:sp>
      <p:sp>
        <p:nvSpPr>
          <p:cNvPr id="44" name="Shape 42"/>
          <p:cNvSpPr txBox="1">
            <a:spLocks noGrp="1"/>
          </p:cNvSpPr>
          <p:nvPr>
            <p:ph type="sldNum" idx="12"/>
          </p:nvPr>
        </p:nvSpPr>
        <p:spPr>
          <a:xfrm>
            <a:off x="64579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zh-C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仅标题" type="titleOnly">
  <p:cSld name="TITLE_ONLY">
    <p:spTree>
      <p:nvGrpSpPr>
        <p:cNvPr id="1" name="Shape 4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6" name="Shape 20"/>
          <p:cNvSpPr txBox="1">
            <a:spLocks noGrp="1"/>
          </p:cNvSpPr>
          <p:nvPr>
            <p:ph type="title"/>
          </p:nvPr>
        </p:nvSpPr>
        <p:spPr>
          <a:xfrm>
            <a:off x="628650" y="273844"/>
            <a:ext cx="7886700" cy="99417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>
            <a:endParaRPr/>
          </a:p>
        </p:txBody>
      </p:sp>
      <p:sp>
        <p:nvSpPr>
          <p:cNvPr id="47" name="Shape 21"/>
          <p:cNvSpPr txBox="1">
            <a:spLocks noGrp="1"/>
          </p:cNvSpPr>
          <p:nvPr>
            <p:ph type="dt" idx="10"/>
          </p:nvPr>
        </p:nvSpPr>
        <p:spPr>
          <a:xfrm>
            <a:off x="6286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>
            <a:endParaRPr/>
          </a:p>
        </p:txBody>
      </p:sp>
      <p:sp>
        <p:nvSpPr>
          <p:cNvPr id="48" name="Shape 22"/>
          <p:cNvSpPr txBox="1">
            <a:spLocks noGrp="1"/>
          </p:cNvSpPr>
          <p:nvPr>
            <p:ph type="ftr" idx="11"/>
          </p:nvPr>
        </p:nvSpPr>
        <p:spPr>
          <a:xfrm>
            <a:off x="3028950" y="4767263"/>
            <a:ext cx="30861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>
            <a:endParaRPr/>
          </a:p>
        </p:txBody>
      </p:sp>
      <p:sp>
        <p:nvSpPr>
          <p:cNvPr id="49" name="Shape 23"/>
          <p:cNvSpPr txBox="1">
            <a:spLocks noGrp="1"/>
          </p:cNvSpPr>
          <p:nvPr>
            <p:ph type="sldNum" idx="12"/>
          </p:nvPr>
        </p:nvSpPr>
        <p:spPr>
          <a:xfrm>
            <a:off x="64579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zh-C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空白" type="blank">
  <p:cSld name="BLANK">
    <p:spTree>
      <p:nvGrpSpPr>
        <p:cNvPr id="1" name="Shape 5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" name="Shape 6"/>
          <p:cNvSpPr txBox="1">
            <a:spLocks noGrp="1"/>
          </p:cNvSpPr>
          <p:nvPr>
            <p:ph type="dt" idx="10"/>
          </p:nvPr>
        </p:nvSpPr>
        <p:spPr>
          <a:xfrm>
            <a:off x="6286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>
            <a:endParaRPr/>
          </a:p>
        </p:txBody>
      </p:sp>
      <p:sp>
        <p:nvSpPr>
          <p:cNvPr id="52" name="Shape 7"/>
          <p:cNvSpPr txBox="1">
            <a:spLocks noGrp="1"/>
          </p:cNvSpPr>
          <p:nvPr>
            <p:ph type="ftr" idx="11"/>
          </p:nvPr>
        </p:nvSpPr>
        <p:spPr>
          <a:xfrm>
            <a:off x="3028950" y="4767263"/>
            <a:ext cx="30861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>
            <a:endParaRPr/>
          </a:p>
        </p:txBody>
      </p:sp>
      <p:sp>
        <p:nvSpPr>
          <p:cNvPr id="53" name="Shape 8"/>
          <p:cNvSpPr txBox="1">
            <a:spLocks noGrp="1"/>
          </p:cNvSpPr>
          <p:nvPr>
            <p:ph type="sldNum" idx="12"/>
          </p:nvPr>
        </p:nvSpPr>
        <p:spPr>
          <a:xfrm>
            <a:off x="64579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zh-C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内容与标题" type="objTx">
  <p:cSld name="OBJECT_WITH_CAPTION_TEXT">
    <p:spTree>
      <p:nvGrpSpPr>
        <p:cNvPr id="1" name="Shape 5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5" name="Shape 43"/>
          <p:cNvSpPr txBox="1">
            <a:spLocks noGrp="1"/>
          </p:cNvSpPr>
          <p:nvPr>
            <p:ph type="title"/>
          </p:nvPr>
        </p:nvSpPr>
        <p:spPr>
          <a:xfrm>
            <a:off x="629841" y="342900"/>
            <a:ext cx="2949178" cy="12001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b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None/>
              <a:defRPr sz="2400"/>
            </a:lvl1pPr>
            <a:lvl2pPr lvl="1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>
            <a:endParaRPr/>
          </a:p>
        </p:txBody>
      </p:sp>
      <p:sp>
        <p:nvSpPr>
          <p:cNvPr id="56" name="Shape 44"/>
          <p:cNvSpPr txBox="1">
            <a:spLocks noGrp="1"/>
          </p:cNvSpPr>
          <p:nvPr>
            <p:ph type="body" idx="1"/>
          </p:nvPr>
        </p:nvSpPr>
        <p:spPr>
          <a:xfrm>
            <a:off x="3887391" y="740569"/>
            <a:ext cx="4629150" cy="365521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t" anchorCtr="0">
            <a:normAutofit/>
          </a:bodyPr>
          <a:lstStyle>
            <a:lvl1pPr marL="457200" lvl="0" indent="-38100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  <a:defRPr sz="2400"/>
            </a:lvl1pPr>
            <a:lvl2pPr marL="914400" lvl="1" indent="-36195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100"/>
              <a:buChar char="•"/>
              <a:defRPr sz="2100"/>
            </a:lvl2pPr>
            <a:lvl3pPr marL="1371600" lvl="2" indent="-3429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3pPr>
            <a:lvl4pPr marL="1828800" lvl="3" indent="-32385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500"/>
              <a:buChar char="•"/>
              <a:defRPr sz="1500"/>
            </a:lvl4pPr>
            <a:lvl5pPr marL="2286000" lvl="4" indent="-32385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500"/>
              <a:buChar char="•"/>
              <a:defRPr sz="1500"/>
            </a:lvl5pPr>
            <a:lvl6pPr marL="2743200" lvl="5" indent="-32385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500"/>
              <a:buChar char="•"/>
              <a:defRPr sz="1500"/>
            </a:lvl6pPr>
            <a:lvl7pPr marL="3200400" lvl="6" indent="-32385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500"/>
              <a:buChar char="•"/>
              <a:defRPr sz="1500"/>
            </a:lvl7pPr>
            <a:lvl8pPr marL="3657600" lvl="7" indent="-32385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500"/>
              <a:buChar char="•"/>
              <a:defRPr sz="1500"/>
            </a:lvl8pPr>
            <a:lvl9pPr marL="4114800" lvl="8" indent="-32385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500"/>
              <a:buChar char="•"/>
              <a:defRPr sz="1500"/>
            </a:lvl9pPr>
          </a:lstStyle>
          <a:p>
            <a:endParaRPr/>
          </a:p>
        </p:txBody>
      </p:sp>
      <p:sp>
        <p:nvSpPr>
          <p:cNvPr id="57" name="Shape 45"/>
          <p:cNvSpPr txBox="1">
            <a:spLocks noGrp="1"/>
          </p:cNvSpPr>
          <p:nvPr>
            <p:ph type="body" idx="2"/>
          </p:nvPr>
        </p:nvSpPr>
        <p:spPr>
          <a:xfrm>
            <a:off x="629841" y="1543050"/>
            <a:ext cx="2949178" cy="285869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t" anchorCtr="0">
            <a:normAutofit/>
          </a:bodyPr>
          <a:lstStyle>
            <a:lvl1pPr marL="457200" lvl="0" indent="-22860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1pPr>
            <a:lvl2pPr marL="914400" lvl="1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100"/>
              <a:buNone/>
              <a:defRPr sz="1100"/>
            </a:lvl2pPr>
            <a:lvl3pPr marL="1371600" lvl="2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3pPr>
            <a:lvl4pPr marL="1828800" lvl="3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800"/>
              <a:buNone/>
              <a:defRPr sz="800"/>
            </a:lvl4pPr>
            <a:lvl5pPr marL="2286000" lvl="4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800"/>
              <a:buNone/>
              <a:defRPr sz="800"/>
            </a:lvl5pPr>
            <a:lvl6pPr marL="2743200" lvl="5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800"/>
              <a:buNone/>
              <a:defRPr sz="800"/>
            </a:lvl6pPr>
            <a:lvl7pPr marL="3200400" lvl="6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800"/>
              <a:buNone/>
              <a:defRPr sz="800"/>
            </a:lvl7pPr>
            <a:lvl8pPr marL="3657600" lvl="7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800"/>
              <a:buNone/>
              <a:defRPr sz="800"/>
            </a:lvl8pPr>
            <a:lvl9pPr marL="4114800" lvl="8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800"/>
              <a:buNone/>
              <a:defRPr sz="800"/>
            </a:lvl9pPr>
          </a:lstStyle>
          <a:p>
            <a:endParaRPr/>
          </a:p>
        </p:txBody>
      </p:sp>
      <p:sp>
        <p:nvSpPr>
          <p:cNvPr id="58" name="Shape 46"/>
          <p:cNvSpPr txBox="1">
            <a:spLocks noGrp="1"/>
          </p:cNvSpPr>
          <p:nvPr>
            <p:ph type="dt" idx="10"/>
          </p:nvPr>
        </p:nvSpPr>
        <p:spPr>
          <a:xfrm>
            <a:off x="6286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>
            <a:endParaRPr/>
          </a:p>
        </p:txBody>
      </p:sp>
      <p:sp>
        <p:nvSpPr>
          <p:cNvPr id="59" name="Shape 47"/>
          <p:cNvSpPr txBox="1">
            <a:spLocks noGrp="1"/>
          </p:cNvSpPr>
          <p:nvPr>
            <p:ph type="ftr" idx="11"/>
          </p:nvPr>
        </p:nvSpPr>
        <p:spPr>
          <a:xfrm>
            <a:off x="3028950" y="4767263"/>
            <a:ext cx="30861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>
            <a:endParaRPr/>
          </a:p>
        </p:txBody>
      </p:sp>
      <p:sp>
        <p:nvSpPr>
          <p:cNvPr id="60" name="Shape 48"/>
          <p:cNvSpPr txBox="1">
            <a:spLocks noGrp="1"/>
          </p:cNvSpPr>
          <p:nvPr>
            <p:ph type="sldNum" idx="12"/>
          </p:nvPr>
        </p:nvSpPr>
        <p:spPr>
          <a:xfrm>
            <a:off x="64579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zh-C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图片与标题" type="picTx">
  <p:cSld name="PICTURE_WITH_CAPTION_TEXT">
    <p:spTree>
      <p:nvGrpSpPr>
        <p:cNvPr id="1" name="Shape 6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2" name="Shape 24"/>
          <p:cNvSpPr txBox="1">
            <a:spLocks noGrp="1"/>
          </p:cNvSpPr>
          <p:nvPr>
            <p:ph type="title"/>
          </p:nvPr>
        </p:nvSpPr>
        <p:spPr>
          <a:xfrm>
            <a:off x="629841" y="342900"/>
            <a:ext cx="2949178" cy="12001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b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None/>
              <a:defRPr sz="2400"/>
            </a:lvl1pPr>
            <a:lvl2pPr lvl="1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>
            <a:endParaRPr/>
          </a:p>
        </p:txBody>
      </p:sp>
      <p:sp>
        <p:nvSpPr>
          <p:cNvPr id="63" name="Shape 25"/>
          <p:cNvSpPr>
            <a:spLocks noGrp="1"/>
          </p:cNvSpPr>
          <p:nvPr>
            <p:ph type="pic" idx="2"/>
          </p:nvPr>
        </p:nvSpPr>
        <p:spPr>
          <a:xfrm>
            <a:off x="3887391" y="740569"/>
            <a:ext cx="4629150" cy="3655219"/>
          </a:xfrm>
          <a:prstGeom prst="rect">
            <a:avLst/>
          </a:prstGeom>
          <a:noFill/>
          <a:ln>
            <a:noFill/>
          </a:ln>
        </p:spPr>
      </p:sp>
      <p:sp>
        <p:nvSpPr>
          <p:cNvPr id="64" name="Shape 26"/>
          <p:cNvSpPr txBox="1">
            <a:spLocks noGrp="1"/>
          </p:cNvSpPr>
          <p:nvPr>
            <p:ph type="body" idx="1"/>
          </p:nvPr>
        </p:nvSpPr>
        <p:spPr>
          <a:xfrm>
            <a:off x="629841" y="1543050"/>
            <a:ext cx="2949178" cy="285869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t" anchorCtr="0">
            <a:normAutofit/>
          </a:bodyPr>
          <a:lstStyle>
            <a:lvl1pPr marL="457200" lvl="0" indent="-22860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1pPr>
            <a:lvl2pPr marL="914400" lvl="1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100"/>
              <a:buNone/>
              <a:defRPr sz="1100"/>
            </a:lvl2pPr>
            <a:lvl3pPr marL="1371600" lvl="2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3pPr>
            <a:lvl4pPr marL="1828800" lvl="3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800"/>
              <a:buNone/>
              <a:defRPr sz="800"/>
            </a:lvl4pPr>
            <a:lvl5pPr marL="2286000" lvl="4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800"/>
              <a:buNone/>
              <a:defRPr sz="800"/>
            </a:lvl5pPr>
            <a:lvl6pPr marL="2743200" lvl="5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800"/>
              <a:buNone/>
              <a:defRPr sz="800"/>
            </a:lvl6pPr>
            <a:lvl7pPr marL="3200400" lvl="6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800"/>
              <a:buNone/>
              <a:defRPr sz="800"/>
            </a:lvl7pPr>
            <a:lvl8pPr marL="3657600" lvl="7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800"/>
              <a:buNone/>
              <a:defRPr sz="800"/>
            </a:lvl8pPr>
            <a:lvl9pPr marL="4114800" lvl="8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800"/>
              <a:buNone/>
              <a:defRPr sz="800"/>
            </a:lvl9pPr>
          </a:lstStyle>
          <a:p>
            <a:endParaRPr/>
          </a:p>
        </p:txBody>
      </p:sp>
      <p:sp>
        <p:nvSpPr>
          <p:cNvPr id="65" name="Shape 27"/>
          <p:cNvSpPr txBox="1">
            <a:spLocks noGrp="1"/>
          </p:cNvSpPr>
          <p:nvPr>
            <p:ph type="dt" idx="10"/>
          </p:nvPr>
        </p:nvSpPr>
        <p:spPr>
          <a:xfrm>
            <a:off x="6286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>
            <a:endParaRPr/>
          </a:p>
        </p:txBody>
      </p:sp>
      <p:sp>
        <p:nvSpPr>
          <p:cNvPr id="66" name="Shape 28"/>
          <p:cNvSpPr txBox="1">
            <a:spLocks noGrp="1"/>
          </p:cNvSpPr>
          <p:nvPr>
            <p:ph type="ftr" idx="11"/>
          </p:nvPr>
        </p:nvSpPr>
        <p:spPr>
          <a:xfrm>
            <a:off x="3028950" y="4767263"/>
            <a:ext cx="30861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>
            <a:endParaRPr/>
          </a:p>
        </p:txBody>
      </p:sp>
      <p:sp>
        <p:nvSpPr>
          <p:cNvPr id="67" name="Shape 29"/>
          <p:cNvSpPr txBox="1">
            <a:spLocks noGrp="1"/>
          </p:cNvSpPr>
          <p:nvPr>
            <p:ph type="sldNum" idx="12"/>
          </p:nvPr>
        </p:nvSpPr>
        <p:spPr>
          <a:xfrm>
            <a:off x="64579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zh-C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标题和竖排文字" type="vertTx">
  <p:cSld name="VERTICAL_TEXT">
    <p:spTree>
      <p:nvGrpSpPr>
        <p:cNvPr id="1" name="Shape 6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9" name="Shape 49"/>
          <p:cNvSpPr txBox="1">
            <a:spLocks noGrp="1"/>
          </p:cNvSpPr>
          <p:nvPr>
            <p:ph type="title"/>
          </p:nvPr>
        </p:nvSpPr>
        <p:spPr>
          <a:xfrm>
            <a:off x="628650" y="273844"/>
            <a:ext cx="7886700" cy="99417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>
            <a:endParaRPr/>
          </a:p>
        </p:txBody>
      </p:sp>
      <p:sp>
        <p:nvSpPr>
          <p:cNvPr id="70" name="Shape 50"/>
          <p:cNvSpPr txBox="1">
            <a:spLocks noGrp="1"/>
          </p:cNvSpPr>
          <p:nvPr>
            <p:ph type="body" idx="1"/>
          </p:nvPr>
        </p:nvSpPr>
        <p:spPr>
          <a:xfrm rot="5400000">
            <a:off x="2940248" y="-942379"/>
            <a:ext cx="3263504" cy="7886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t" anchorCtr="0">
            <a:normAutofit/>
          </a:bodyPr>
          <a:lstStyle>
            <a:lvl1pPr marL="457200" lvl="0" indent="-31750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1pPr>
            <a:lvl2pPr marL="914400" lvl="1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2pPr>
            <a:lvl3pPr marL="1371600" lvl="2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3pPr>
            <a:lvl4pPr marL="1828800" lvl="3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4pPr>
            <a:lvl5pPr marL="2286000" lvl="4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5pPr>
            <a:lvl6pPr marL="2743200" lvl="5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6pPr>
            <a:lvl7pPr marL="3200400" lvl="6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7pPr>
            <a:lvl8pPr marL="3657600" lvl="7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8pPr>
            <a:lvl9pPr marL="4114800" lvl="8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9pPr>
          </a:lstStyle>
          <a:p>
            <a:endParaRPr/>
          </a:p>
        </p:txBody>
      </p:sp>
      <p:sp>
        <p:nvSpPr>
          <p:cNvPr id="71" name="Shape 51"/>
          <p:cNvSpPr txBox="1">
            <a:spLocks noGrp="1"/>
          </p:cNvSpPr>
          <p:nvPr>
            <p:ph type="dt" idx="10"/>
          </p:nvPr>
        </p:nvSpPr>
        <p:spPr>
          <a:xfrm>
            <a:off x="6286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>
            <a:endParaRPr/>
          </a:p>
        </p:txBody>
      </p:sp>
      <p:sp>
        <p:nvSpPr>
          <p:cNvPr id="72" name="Shape 52"/>
          <p:cNvSpPr txBox="1">
            <a:spLocks noGrp="1"/>
          </p:cNvSpPr>
          <p:nvPr>
            <p:ph type="ftr" idx="11"/>
          </p:nvPr>
        </p:nvSpPr>
        <p:spPr>
          <a:xfrm>
            <a:off x="3028950" y="4767263"/>
            <a:ext cx="30861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>
            <a:endParaRPr/>
          </a:p>
        </p:txBody>
      </p:sp>
      <p:sp>
        <p:nvSpPr>
          <p:cNvPr id="73" name="Shape 53"/>
          <p:cNvSpPr txBox="1">
            <a:spLocks noGrp="1"/>
          </p:cNvSpPr>
          <p:nvPr>
            <p:ph type="sldNum" idx="12"/>
          </p:nvPr>
        </p:nvSpPr>
        <p:spPr>
          <a:xfrm>
            <a:off x="64579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zh-C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竖排标题与文本" type="vertTitleAndTx">
  <p:cSld name="VERTICAL_TITLE_AND_VERTICAL_TEXT">
    <p:spTree>
      <p:nvGrpSpPr>
        <p:cNvPr id="1" name="Shape 7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5" name="Shape 15"/>
          <p:cNvSpPr txBox="1">
            <a:spLocks noGrp="1"/>
          </p:cNvSpPr>
          <p:nvPr>
            <p:ph type="title"/>
          </p:nvPr>
        </p:nvSpPr>
        <p:spPr>
          <a:xfrm rot="5400000">
            <a:off x="5350073" y="1467445"/>
            <a:ext cx="4358879" cy="197167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>
            <a:endParaRPr/>
          </a:p>
        </p:txBody>
      </p:sp>
      <p:sp>
        <p:nvSpPr>
          <p:cNvPr id="76" name="Shape 16"/>
          <p:cNvSpPr txBox="1">
            <a:spLocks noGrp="1"/>
          </p:cNvSpPr>
          <p:nvPr>
            <p:ph type="body" idx="1"/>
          </p:nvPr>
        </p:nvSpPr>
        <p:spPr>
          <a:xfrm rot="5400000">
            <a:off x="1349573" y="-447080"/>
            <a:ext cx="4358879" cy="58007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t" anchorCtr="0">
            <a:normAutofit/>
          </a:bodyPr>
          <a:lstStyle>
            <a:lvl1pPr marL="457200" lvl="0" indent="-31750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1pPr>
            <a:lvl2pPr marL="914400" lvl="1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2pPr>
            <a:lvl3pPr marL="1371600" lvl="2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3pPr>
            <a:lvl4pPr marL="1828800" lvl="3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4pPr>
            <a:lvl5pPr marL="2286000" lvl="4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5pPr>
            <a:lvl6pPr marL="2743200" lvl="5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6pPr>
            <a:lvl7pPr marL="3200400" lvl="6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7pPr>
            <a:lvl8pPr marL="3657600" lvl="7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8pPr>
            <a:lvl9pPr marL="4114800" lvl="8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9pPr>
          </a:lstStyle>
          <a:p>
            <a:endParaRPr/>
          </a:p>
        </p:txBody>
      </p:sp>
      <p:sp>
        <p:nvSpPr>
          <p:cNvPr id="77" name="Shape 17"/>
          <p:cNvSpPr txBox="1">
            <a:spLocks noGrp="1"/>
          </p:cNvSpPr>
          <p:nvPr>
            <p:ph type="dt" idx="10"/>
          </p:nvPr>
        </p:nvSpPr>
        <p:spPr>
          <a:xfrm>
            <a:off x="6286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>
            <a:endParaRPr/>
          </a:p>
        </p:txBody>
      </p:sp>
      <p:sp>
        <p:nvSpPr>
          <p:cNvPr id="78" name="Shape 18"/>
          <p:cNvSpPr txBox="1">
            <a:spLocks noGrp="1"/>
          </p:cNvSpPr>
          <p:nvPr>
            <p:ph type="ftr" idx="11"/>
          </p:nvPr>
        </p:nvSpPr>
        <p:spPr>
          <a:xfrm>
            <a:off x="3028950" y="4767263"/>
            <a:ext cx="30861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>
            <a:endParaRPr/>
          </a:p>
        </p:txBody>
      </p:sp>
      <p:sp>
        <p:nvSpPr>
          <p:cNvPr id="79" name="Shape 19"/>
          <p:cNvSpPr txBox="1">
            <a:spLocks noGrp="1"/>
          </p:cNvSpPr>
          <p:nvPr>
            <p:ph type="sldNum" idx="12"/>
          </p:nvPr>
        </p:nvSpPr>
        <p:spPr>
          <a:xfrm>
            <a:off x="64579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zh-C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_rels/slideMaster2.xml.rels><?xml version="1.0" encoding="UTF-8" standalone="yes"?>
<Relationships xmlns="http://schemas.openxmlformats.org/package/2006/relationships"><Relationship Id="rId2" Type="http://schemas.openxmlformats.org/officeDocument/2006/relationships/theme" Target="../theme/theme2.xml"/><Relationship Id="rId1" Type="http://schemas.openxmlformats.org/officeDocument/2006/relationships/slideLayout" Target="../slideLayouts/slideLayout12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lt1"/>
        </a:solidFill>
        <a:effectLst/>
      </p:bgPr>
    </p:bg>
    <p:spTree>
      <p:nvGrpSpPr>
        <p:cNvPr id="1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Shape 1"/>
          <p:cNvSpPr txBox="1">
            <a:spLocks noGrp="1"/>
          </p:cNvSpPr>
          <p:nvPr>
            <p:ph type="title"/>
          </p:nvPr>
        </p:nvSpPr>
        <p:spPr>
          <a:xfrm>
            <a:off x="628650" y="273844"/>
            <a:ext cx="7886700" cy="99417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rmAutofit/>
          </a:bodyPr>
          <a:lstStyle>
            <a:lvl1pPr marR="0" lvl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300"/>
              <a:buFont typeface="Arial"/>
              <a:buNone/>
              <a:defRPr sz="33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100"/>
              <a:buNone/>
              <a:defRPr sz="1400"/>
            </a:lvl2pPr>
            <a:lvl3pPr lvl="2">
              <a:spcBef>
                <a:spcPts val="0"/>
              </a:spcBef>
              <a:spcAft>
                <a:spcPts val="0"/>
              </a:spcAft>
              <a:buSzPts val="1100"/>
              <a:buNone/>
              <a:defRPr sz="1400"/>
            </a:lvl3pPr>
            <a:lvl4pPr lvl="3">
              <a:spcBef>
                <a:spcPts val="0"/>
              </a:spcBef>
              <a:spcAft>
                <a:spcPts val="0"/>
              </a:spcAft>
              <a:buSzPts val="1100"/>
              <a:buNone/>
              <a:defRPr sz="1400"/>
            </a:lvl4pPr>
            <a:lvl5pPr lvl="4">
              <a:spcBef>
                <a:spcPts val="0"/>
              </a:spcBef>
              <a:spcAft>
                <a:spcPts val="0"/>
              </a:spcAft>
              <a:buSzPts val="1100"/>
              <a:buNone/>
              <a:defRPr sz="1400"/>
            </a:lvl5pPr>
            <a:lvl6pPr lvl="5">
              <a:spcBef>
                <a:spcPts val="0"/>
              </a:spcBef>
              <a:spcAft>
                <a:spcPts val="0"/>
              </a:spcAft>
              <a:buSzPts val="1100"/>
              <a:buNone/>
              <a:defRPr sz="1400"/>
            </a:lvl6pPr>
            <a:lvl7pPr lvl="6">
              <a:spcBef>
                <a:spcPts val="0"/>
              </a:spcBef>
              <a:spcAft>
                <a:spcPts val="0"/>
              </a:spcAft>
              <a:buSzPts val="1100"/>
              <a:buNone/>
              <a:defRPr sz="1400"/>
            </a:lvl7pPr>
            <a:lvl8pPr lvl="7">
              <a:spcBef>
                <a:spcPts val="0"/>
              </a:spcBef>
              <a:spcAft>
                <a:spcPts val="0"/>
              </a:spcAft>
              <a:buSzPts val="1100"/>
              <a:buNone/>
              <a:defRPr sz="1400"/>
            </a:lvl8pPr>
            <a:lvl9pPr lvl="8">
              <a:spcBef>
                <a:spcPts val="0"/>
              </a:spcBef>
              <a:spcAft>
                <a:spcPts val="0"/>
              </a:spcAft>
              <a:buSzPts val="1100"/>
              <a:buNone/>
              <a:defRPr sz="1400"/>
            </a:lvl9pPr>
          </a:lstStyle>
          <a:p>
            <a:endParaRPr/>
          </a:p>
        </p:txBody>
      </p:sp>
      <p:sp>
        <p:nvSpPr>
          <p:cNvPr id="7" name="Shape 2"/>
          <p:cNvSpPr txBox="1">
            <a:spLocks noGrp="1"/>
          </p:cNvSpPr>
          <p:nvPr>
            <p:ph type="body" idx="1"/>
          </p:nvPr>
        </p:nvSpPr>
        <p:spPr>
          <a:xfrm>
            <a:off x="628650" y="1369219"/>
            <a:ext cx="7886700" cy="326350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t" anchorCtr="0">
            <a:normAutofit/>
          </a:bodyPr>
          <a:lstStyle>
            <a:lvl1pPr marL="457200" marR="0" lvl="0" indent="-361950" algn="l" rtl="0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2100"/>
              <a:buFont typeface="Arial"/>
              <a:buChar char="•"/>
              <a:defRPr sz="21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914400" marR="0" lvl="1" indent="-342900" algn="l" rtl="0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1371600" marR="0" lvl="2" indent="-323850" algn="l" rtl="0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500"/>
              <a:buFont typeface="Arial"/>
              <a:buChar char="•"/>
              <a:defRPr sz="15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1828800" marR="0" lvl="3" indent="-317500" algn="l" rtl="0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Char char="•"/>
              <a:defRPr sz="14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2286000" marR="0" lvl="4" indent="-317500" algn="l" rtl="0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Char char="•"/>
              <a:defRPr sz="14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2743200" marR="0" lvl="5" indent="-317500" algn="l" rtl="0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Char char="•"/>
              <a:defRPr sz="14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3200400" marR="0" lvl="6" indent="-317500" algn="l" rtl="0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Char char="•"/>
              <a:defRPr sz="14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3657600" marR="0" lvl="7" indent="-317500" algn="l" rtl="0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Char char="•"/>
              <a:defRPr sz="14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4114800" marR="0" lvl="8" indent="-317500" algn="l" rtl="0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Char char="•"/>
              <a:defRPr sz="14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  <p:sp>
        <p:nvSpPr>
          <p:cNvPr id="8" name="Shape 3"/>
          <p:cNvSpPr txBox="1">
            <a:spLocks noGrp="1"/>
          </p:cNvSpPr>
          <p:nvPr>
            <p:ph type="dt" idx="10"/>
          </p:nvPr>
        </p:nvSpPr>
        <p:spPr>
          <a:xfrm>
            <a:off x="6286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marR="0" lvl="0" algn="l" rtl="0">
              <a:spcBef>
                <a:spcPts val="0"/>
              </a:spcBef>
              <a:spcAft>
                <a:spcPts val="0"/>
              </a:spcAft>
              <a:buSzPts val="1100"/>
              <a:buNone/>
              <a:defRPr sz="900" b="0" i="0" u="none" strike="noStrike" cap="non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R="0" lvl="1" algn="l" rtl="0">
              <a:spcBef>
                <a:spcPts val="0"/>
              </a:spcBef>
              <a:spcAft>
                <a:spcPts val="0"/>
              </a:spcAft>
              <a:buSzPts val="1100"/>
              <a:buNone/>
              <a:defRPr sz="14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l" rtl="0">
              <a:spcBef>
                <a:spcPts val="0"/>
              </a:spcBef>
              <a:spcAft>
                <a:spcPts val="0"/>
              </a:spcAft>
              <a:buSzPts val="1100"/>
              <a:buNone/>
              <a:defRPr sz="14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l" rtl="0">
              <a:spcBef>
                <a:spcPts val="0"/>
              </a:spcBef>
              <a:spcAft>
                <a:spcPts val="0"/>
              </a:spcAft>
              <a:buSzPts val="1100"/>
              <a:buNone/>
              <a:defRPr sz="14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l" rtl="0">
              <a:spcBef>
                <a:spcPts val="0"/>
              </a:spcBef>
              <a:spcAft>
                <a:spcPts val="0"/>
              </a:spcAft>
              <a:buSzPts val="1100"/>
              <a:buNone/>
              <a:defRPr sz="14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l" rtl="0">
              <a:spcBef>
                <a:spcPts val="0"/>
              </a:spcBef>
              <a:spcAft>
                <a:spcPts val="0"/>
              </a:spcAft>
              <a:buSzPts val="1100"/>
              <a:buNone/>
              <a:defRPr sz="14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l" rtl="0">
              <a:spcBef>
                <a:spcPts val="0"/>
              </a:spcBef>
              <a:spcAft>
                <a:spcPts val="0"/>
              </a:spcAft>
              <a:buSzPts val="1100"/>
              <a:buNone/>
              <a:defRPr sz="14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l" rtl="0">
              <a:spcBef>
                <a:spcPts val="0"/>
              </a:spcBef>
              <a:spcAft>
                <a:spcPts val="0"/>
              </a:spcAft>
              <a:buSzPts val="1100"/>
              <a:buNone/>
              <a:defRPr sz="14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l" rtl="0">
              <a:spcBef>
                <a:spcPts val="0"/>
              </a:spcBef>
              <a:spcAft>
                <a:spcPts val="0"/>
              </a:spcAft>
              <a:buSzPts val="1100"/>
              <a:buNone/>
              <a:defRPr sz="14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  <p:sp>
        <p:nvSpPr>
          <p:cNvPr id="9" name="Shape 4"/>
          <p:cNvSpPr txBox="1">
            <a:spLocks noGrp="1"/>
          </p:cNvSpPr>
          <p:nvPr>
            <p:ph type="ftr" idx="11"/>
          </p:nvPr>
        </p:nvSpPr>
        <p:spPr>
          <a:xfrm>
            <a:off x="3028950" y="4767263"/>
            <a:ext cx="30861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marR="0" lvl="0" algn="ctr" rtl="0">
              <a:spcBef>
                <a:spcPts val="0"/>
              </a:spcBef>
              <a:spcAft>
                <a:spcPts val="0"/>
              </a:spcAft>
              <a:buSzPts val="1100"/>
              <a:buNone/>
              <a:defRPr sz="900" b="0" i="0" u="none" strike="noStrike" cap="non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R="0" lvl="1" algn="l" rtl="0">
              <a:spcBef>
                <a:spcPts val="0"/>
              </a:spcBef>
              <a:spcAft>
                <a:spcPts val="0"/>
              </a:spcAft>
              <a:buSzPts val="1100"/>
              <a:buNone/>
              <a:defRPr sz="14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l" rtl="0">
              <a:spcBef>
                <a:spcPts val="0"/>
              </a:spcBef>
              <a:spcAft>
                <a:spcPts val="0"/>
              </a:spcAft>
              <a:buSzPts val="1100"/>
              <a:buNone/>
              <a:defRPr sz="14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l" rtl="0">
              <a:spcBef>
                <a:spcPts val="0"/>
              </a:spcBef>
              <a:spcAft>
                <a:spcPts val="0"/>
              </a:spcAft>
              <a:buSzPts val="1100"/>
              <a:buNone/>
              <a:defRPr sz="14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l" rtl="0">
              <a:spcBef>
                <a:spcPts val="0"/>
              </a:spcBef>
              <a:spcAft>
                <a:spcPts val="0"/>
              </a:spcAft>
              <a:buSzPts val="1100"/>
              <a:buNone/>
              <a:defRPr sz="14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l" rtl="0">
              <a:spcBef>
                <a:spcPts val="0"/>
              </a:spcBef>
              <a:spcAft>
                <a:spcPts val="0"/>
              </a:spcAft>
              <a:buSzPts val="1100"/>
              <a:buNone/>
              <a:defRPr sz="14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l" rtl="0">
              <a:spcBef>
                <a:spcPts val="0"/>
              </a:spcBef>
              <a:spcAft>
                <a:spcPts val="0"/>
              </a:spcAft>
              <a:buSzPts val="1100"/>
              <a:buNone/>
              <a:defRPr sz="14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l" rtl="0">
              <a:spcBef>
                <a:spcPts val="0"/>
              </a:spcBef>
              <a:spcAft>
                <a:spcPts val="0"/>
              </a:spcAft>
              <a:buSzPts val="1100"/>
              <a:buNone/>
              <a:defRPr sz="14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l" rtl="0">
              <a:spcBef>
                <a:spcPts val="0"/>
              </a:spcBef>
              <a:spcAft>
                <a:spcPts val="0"/>
              </a:spcAft>
              <a:buSzPts val="1100"/>
              <a:buNone/>
              <a:defRPr sz="14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  <p:sp>
        <p:nvSpPr>
          <p:cNvPr id="10" name="Shape 5"/>
          <p:cNvSpPr txBox="1">
            <a:spLocks noGrp="1"/>
          </p:cNvSpPr>
          <p:nvPr>
            <p:ph type="sldNum" idx="12"/>
          </p:nvPr>
        </p:nvSpPr>
        <p:spPr>
          <a:xfrm>
            <a:off x="64579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marL="0" marR="0" lvl="0" indent="0" algn="r" rtl="0">
              <a:spcBef>
                <a:spcPts val="0"/>
              </a:spcBef>
              <a:buNone/>
              <a:defRPr sz="900" b="0" i="0" u="none" strike="noStrike" cap="non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0" marR="0" lvl="1" indent="0" algn="r" rtl="0">
              <a:spcBef>
                <a:spcPts val="0"/>
              </a:spcBef>
              <a:buNone/>
              <a:defRPr sz="900" b="0" i="0" u="none" strike="noStrike" cap="non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0" marR="0" lvl="2" indent="0" algn="r" rtl="0">
              <a:spcBef>
                <a:spcPts val="0"/>
              </a:spcBef>
              <a:buNone/>
              <a:defRPr sz="900" b="0" i="0" u="none" strike="noStrike" cap="non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0" marR="0" lvl="3" indent="0" algn="r" rtl="0">
              <a:spcBef>
                <a:spcPts val="0"/>
              </a:spcBef>
              <a:buNone/>
              <a:defRPr sz="900" b="0" i="0" u="none" strike="noStrike" cap="non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0" marR="0" lvl="4" indent="0" algn="r" rtl="0">
              <a:spcBef>
                <a:spcPts val="0"/>
              </a:spcBef>
              <a:buNone/>
              <a:defRPr sz="900" b="0" i="0" u="none" strike="noStrike" cap="non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0" marR="0" lvl="5" indent="0" algn="r" rtl="0">
              <a:spcBef>
                <a:spcPts val="0"/>
              </a:spcBef>
              <a:buNone/>
              <a:defRPr sz="900" b="0" i="0" u="none" strike="noStrike" cap="non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0" marR="0" lvl="6" indent="0" algn="r" rtl="0">
              <a:spcBef>
                <a:spcPts val="0"/>
              </a:spcBef>
              <a:buNone/>
              <a:defRPr sz="900" b="0" i="0" u="none" strike="noStrike" cap="non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0" marR="0" lvl="7" indent="0" algn="r" rtl="0">
              <a:spcBef>
                <a:spcPts val="0"/>
              </a:spcBef>
              <a:buNone/>
              <a:defRPr sz="900" b="0" i="0" u="none" strike="noStrike" cap="non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0" marR="0" lvl="8" indent="0" algn="r" rtl="0">
              <a:spcBef>
                <a:spcPts val="0"/>
              </a:spcBef>
              <a:buNone/>
              <a:defRPr sz="900" b="0" i="0" u="none" strike="noStrike" cap="non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zh-CN"/>
              <a:t>‹#›</a:t>
            </a:fld>
            <a:endParaRPr/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sldLayoutIdLst>
    <p:sldLayoutId id="2147483648" r:id="rId1"/>
    <p:sldLayoutId id="2147483649" r:id="rId2"/>
    <p:sldLayoutId id="2147483650" r:id="rId3"/>
    <p:sldLayoutId id="2147483651" r:id="rId4"/>
    <p:sldLayoutId id="2147483652" r:id="rId5"/>
    <p:sldLayoutId id="2147483653" r:id="rId6"/>
    <p:sldLayoutId id="2147483654" r:id="rId7"/>
    <p:sldLayoutId id="2147483655" r:id="rId8"/>
    <p:sldLayoutId id="2147483656" r:id="rId9"/>
    <p:sldLayoutId id="2147483657" r:id="rId10"/>
    <p:sldLayoutId id="2147483658" r:id="rId11"/>
  </p:sldLayoutIdLst>
  <p:hf sldNum="0" hdr="0" ftr="0" dt="0"/>
  <p:txStyles>
    <p:title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Masters/slideMaster2.xml><?xml version="1.0" encoding="utf-8"?>
<p:sldMaster xmlns:a="http://schemas.openxmlformats.org/drawingml/2006/main" xmlns:r="http://schemas.openxmlformats.org/officeDocument/2006/relationships" xmlns:p="http://schemas.openxmlformats.org/presentationml/2006/main">
  <p:cSld name="默认主题">
    <p:bg>
      <p:bgPr>
        <a:solidFill>
          <a:srgbClr val="FFFFFF">
            <a:alpha val="100000"/>
          </a:srgbClr>
        </a:solidFill>
        <a:effectLst/>
      </p:bgPr>
    </p:bg>
    <p:spTree>
      <p:nvGrpSpPr>
        <p:cNvPr id="1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dk2" tx2="lt2" accent1="accent1" accent2="accent2" accent3="accent3" accent4="accent4" accent5="accent5" accent6="accent6" hlink="hlink" folHlink="folHlink"/>
  <p:sldLayoutIdLst>
    <p:sldLayoutId id="2157483699" r:id="rId1"/>
  </p:sldLayoutIdLst>
  <p:hf sldNum="0" hdr="0" ftr="0" dt="0"/>
  <p:txStyles>
    <p:title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8" Type="http://schemas.openxmlformats.org/officeDocument/2006/relationships/image" Target="../media/image6.png"/><Relationship Id="rId13" Type="http://schemas.openxmlformats.org/officeDocument/2006/relationships/image" Target="../media/image11.png"/><Relationship Id="rId3" Type="http://schemas.openxmlformats.org/officeDocument/2006/relationships/image" Target="../media/image1.png"/><Relationship Id="rId7" Type="http://schemas.openxmlformats.org/officeDocument/2006/relationships/image" Target="../media/image5.png"/><Relationship Id="rId12" Type="http://schemas.openxmlformats.org/officeDocument/2006/relationships/image" Target="../media/image10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2.xml"/><Relationship Id="rId6" Type="http://schemas.openxmlformats.org/officeDocument/2006/relationships/image" Target="../media/image4.png"/><Relationship Id="rId11" Type="http://schemas.openxmlformats.org/officeDocument/2006/relationships/image" Target="../media/image9.png"/><Relationship Id="rId5" Type="http://schemas.openxmlformats.org/officeDocument/2006/relationships/image" Target="../media/image3.png"/><Relationship Id="rId10" Type="http://schemas.openxmlformats.org/officeDocument/2006/relationships/image" Target="../media/image8.png"/><Relationship Id="rId4" Type="http://schemas.openxmlformats.org/officeDocument/2006/relationships/image" Target="../media/image2.png"/><Relationship Id="rId9" Type="http://schemas.openxmlformats.org/officeDocument/2006/relationships/image" Target="../media/image7.png"/><Relationship Id="rId14" Type="http://schemas.openxmlformats.org/officeDocument/2006/relationships/image" Target="../media/image12.png"/></Relationships>
</file>

<file path=ppt/slides/_rels/slide2.xml.rels><?xml version="1.0" encoding="UTF-8" standalone="yes"?>
<Relationships xmlns="http://schemas.openxmlformats.org/package/2006/relationships"><Relationship Id="rId8" Type="http://schemas.openxmlformats.org/officeDocument/2006/relationships/image" Target="../media/image18.png"/><Relationship Id="rId3" Type="http://schemas.openxmlformats.org/officeDocument/2006/relationships/image" Target="../media/image13.png"/><Relationship Id="rId7" Type="http://schemas.openxmlformats.org/officeDocument/2006/relationships/image" Target="../media/image17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2.xml"/><Relationship Id="rId6" Type="http://schemas.openxmlformats.org/officeDocument/2006/relationships/image" Target="../media/image16.png"/><Relationship Id="rId5" Type="http://schemas.openxmlformats.org/officeDocument/2006/relationships/image" Target="../media/image15.png"/><Relationship Id="rId10" Type="http://schemas.openxmlformats.org/officeDocument/2006/relationships/image" Target="../media/image20.png"/><Relationship Id="rId4" Type="http://schemas.openxmlformats.org/officeDocument/2006/relationships/image" Target="../media/image14.png"/><Relationship Id="rId9" Type="http://schemas.openxmlformats.org/officeDocument/2006/relationships/image" Target="../media/image19.png"/></Relationships>
</file>

<file path=ppt/slides/_rels/slide3.xml.rels><?xml version="1.0" encoding="UTF-8" standalone="yes"?>
<Relationships xmlns="http://schemas.openxmlformats.org/package/2006/relationships"><Relationship Id="rId8" Type="http://schemas.openxmlformats.org/officeDocument/2006/relationships/image" Target="../media/image24.png"/><Relationship Id="rId13" Type="http://schemas.openxmlformats.org/officeDocument/2006/relationships/image" Target="../media/image12.png"/><Relationship Id="rId3" Type="http://schemas.openxmlformats.org/officeDocument/2006/relationships/image" Target="../media/image21.png"/><Relationship Id="rId7" Type="http://schemas.openxmlformats.org/officeDocument/2006/relationships/image" Target="../media/image7.png"/><Relationship Id="rId12" Type="http://schemas.openxmlformats.org/officeDocument/2006/relationships/image" Target="../media/image11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2.xml"/><Relationship Id="rId6" Type="http://schemas.openxmlformats.org/officeDocument/2006/relationships/image" Target="../media/image23.png"/><Relationship Id="rId11" Type="http://schemas.openxmlformats.org/officeDocument/2006/relationships/image" Target="../media/image10.png"/><Relationship Id="rId5" Type="http://schemas.openxmlformats.org/officeDocument/2006/relationships/image" Target="../media/image1.png"/><Relationship Id="rId10" Type="http://schemas.openxmlformats.org/officeDocument/2006/relationships/image" Target="../media/image9.png"/><Relationship Id="rId4" Type="http://schemas.openxmlformats.org/officeDocument/2006/relationships/image" Target="../media/image22.png"/><Relationship Id="rId9" Type="http://schemas.openxmlformats.org/officeDocument/2006/relationships/image" Target="../media/image25.png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26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2.xml"/><Relationship Id="rId6" Type="http://schemas.openxmlformats.org/officeDocument/2006/relationships/image" Target="../media/image29.svg"/><Relationship Id="rId5" Type="http://schemas.openxmlformats.org/officeDocument/2006/relationships/image" Target="../media/image28.png"/><Relationship Id="rId4" Type="http://schemas.openxmlformats.org/officeDocument/2006/relationships/image" Target="../media/image27.svg"/></Relationships>
</file>

<file path=ppt/slides/_rels/slide5.xml.rels><?xml version="1.0" encoding="UTF-8" standalone="yes"?>
<Relationships xmlns="http://schemas.openxmlformats.org/package/2006/relationships"><Relationship Id="rId8" Type="http://schemas.openxmlformats.org/officeDocument/2006/relationships/image" Target="../media/image35.png"/><Relationship Id="rId3" Type="http://schemas.openxmlformats.org/officeDocument/2006/relationships/image" Target="../media/image30.png"/><Relationship Id="rId7" Type="http://schemas.openxmlformats.org/officeDocument/2006/relationships/image" Target="../media/image34.sv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2.xml"/><Relationship Id="rId6" Type="http://schemas.openxmlformats.org/officeDocument/2006/relationships/image" Target="../media/image33.png"/><Relationship Id="rId11" Type="http://schemas.openxmlformats.org/officeDocument/2006/relationships/image" Target="../media/image38.svg"/><Relationship Id="rId5" Type="http://schemas.openxmlformats.org/officeDocument/2006/relationships/image" Target="../media/image32.png"/><Relationship Id="rId10" Type="http://schemas.openxmlformats.org/officeDocument/2006/relationships/image" Target="../media/image37.png"/><Relationship Id="rId4" Type="http://schemas.openxmlformats.org/officeDocument/2006/relationships/image" Target="../media/image31.png"/><Relationship Id="rId9" Type="http://schemas.openxmlformats.org/officeDocument/2006/relationships/image" Target="../media/image36.svg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32.png"/><Relationship Id="rId7" Type="http://schemas.openxmlformats.org/officeDocument/2006/relationships/image" Target="../media/image42.pn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2.xml"/><Relationship Id="rId6" Type="http://schemas.openxmlformats.org/officeDocument/2006/relationships/image" Target="../media/image41.png"/><Relationship Id="rId5" Type="http://schemas.openxmlformats.org/officeDocument/2006/relationships/image" Target="../media/image40.png"/><Relationship Id="rId4" Type="http://schemas.openxmlformats.org/officeDocument/2006/relationships/image" Target="../media/image39.png"/></Relationships>
</file>

<file path=ppt/slides/_rels/slide7.xml.rels><?xml version="1.0" encoding="UTF-8" standalone="yes"?>
<Relationships xmlns="http://schemas.openxmlformats.org/package/2006/relationships"><Relationship Id="rId8" Type="http://schemas.openxmlformats.org/officeDocument/2006/relationships/image" Target="../media/image7.png"/><Relationship Id="rId13" Type="http://schemas.openxmlformats.org/officeDocument/2006/relationships/image" Target="../media/image12.png"/><Relationship Id="rId3" Type="http://schemas.openxmlformats.org/officeDocument/2006/relationships/image" Target="../media/image25.png"/><Relationship Id="rId7" Type="http://schemas.openxmlformats.org/officeDocument/2006/relationships/image" Target="../media/image23.png"/><Relationship Id="rId12" Type="http://schemas.openxmlformats.org/officeDocument/2006/relationships/image" Target="../media/image11.pn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2.xml"/><Relationship Id="rId6" Type="http://schemas.openxmlformats.org/officeDocument/2006/relationships/image" Target="../media/image1.png"/><Relationship Id="rId11" Type="http://schemas.openxmlformats.org/officeDocument/2006/relationships/image" Target="../media/image10.png"/><Relationship Id="rId5" Type="http://schemas.openxmlformats.org/officeDocument/2006/relationships/image" Target="../media/image22.png"/><Relationship Id="rId10" Type="http://schemas.openxmlformats.org/officeDocument/2006/relationships/image" Target="../media/image9.png"/><Relationship Id="rId4" Type="http://schemas.openxmlformats.org/officeDocument/2006/relationships/image" Target="../media/image21.png"/><Relationship Id="rId9" Type="http://schemas.openxmlformats.org/officeDocument/2006/relationships/image" Target="../media/image24.png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43.png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2.xml"/><Relationship Id="rId5" Type="http://schemas.openxmlformats.org/officeDocument/2006/relationships/image" Target="../media/image45.png"/><Relationship Id="rId4" Type="http://schemas.openxmlformats.org/officeDocument/2006/relationships/image" Target="../media/image44.png"/></Relationships>
</file>

<file path=ppt/slides/_rels/slide9.xml.rels><?xml version="1.0" encoding="UTF-8" standalone="yes"?>
<Relationships xmlns="http://schemas.openxmlformats.org/package/2006/relationships"><Relationship Id="rId8" Type="http://schemas.openxmlformats.org/officeDocument/2006/relationships/image" Target="../media/image51.png"/><Relationship Id="rId3" Type="http://schemas.openxmlformats.org/officeDocument/2006/relationships/image" Target="../media/image46.png"/><Relationship Id="rId7" Type="http://schemas.openxmlformats.org/officeDocument/2006/relationships/image" Target="../media/image50.png"/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12.xml"/><Relationship Id="rId6" Type="http://schemas.openxmlformats.org/officeDocument/2006/relationships/image" Target="../media/image49.png"/><Relationship Id="rId5" Type="http://schemas.openxmlformats.org/officeDocument/2006/relationships/image" Target="../media/image48.png"/><Relationship Id="rId4" Type="http://schemas.openxmlformats.org/officeDocument/2006/relationships/image" Target="../media/image47.png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12.xml"/></Relationships>
</file>

<file path=ppt/slides/_rels/slide11.xml.rels><?xml version="1.0" encoding="UTF-8" standalone="yes"?>
<Relationships xmlns="http://schemas.openxmlformats.org/package/2006/relationships"><Relationship Id="rId8" Type="http://schemas.openxmlformats.org/officeDocument/2006/relationships/image" Target="../media/image24.png"/><Relationship Id="rId13" Type="http://schemas.openxmlformats.org/officeDocument/2006/relationships/image" Target="../media/image12.png"/><Relationship Id="rId3" Type="http://schemas.openxmlformats.org/officeDocument/2006/relationships/image" Target="../media/image21.png"/><Relationship Id="rId7" Type="http://schemas.openxmlformats.org/officeDocument/2006/relationships/image" Target="../media/image7.png"/><Relationship Id="rId12" Type="http://schemas.openxmlformats.org/officeDocument/2006/relationships/image" Target="../media/image11.png"/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12.xml"/><Relationship Id="rId6" Type="http://schemas.openxmlformats.org/officeDocument/2006/relationships/image" Target="../media/image23.png"/><Relationship Id="rId11" Type="http://schemas.openxmlformats.org/officeDocument/2006/relationships/image" Target="../media/image10.png"/><Relationship Id="rId5" Type="http://schemas.openxmlformats.org/officeDocument/2006/relationships/image" Target="../media/image1.png"/><Relationship Id="rId10" Type="http://schemas.openxmlformats.org/officeDocument/2006/relationships/image" Target="../media/image9.png"/><Relationship Id="rId4" Type="http://schemas.openxmlformats.org/officeDocument/2006/relationships/image" Target="../media/image22.png"/><Relationship Id="rId9" Type="http://schemas.openxmlformats.org/officeDocument/2006/relationships/image" Target="../media/image25.png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32.png"/><Relationship Id="rId7" Type="http://schemas.openxmlformats.org/officeDocument/2006/relationships/image" Target="../media/image55.png"/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12.xml"/><Relationship Id="rId6" Type="http://schemas.openxmlformats.org/officeDocument/2006/relationships/image" Target="../media/image54.png"/><Relationship Id="rId5" Type="http://schemas.openxmlformats.org/officeDocument/2006/relationships/image" Target="../media/image53.png"/><Relationship Id="rId4" Type="http://schemas.openxmlformats.org/officeDocument/2006/relationships/image" Target="../media/image52.png"/></Relationships>
</file>

<file path=ppt/slides/_rels/slide13.xml.rels><?xml version="1.0" encoding="UTF-8" standalone="yes"?>
<Relationships xmlns="http://schemas.openxmlformats.org/package/2006/relationships"><Relationship Id="rId8" Type="http://schemas.openxmlformats.org/officeDocument/2006/relationships/image" Target="../media/image24.png"/><Relationship Id="rId13" Type="http://schemas.openxmlformats.org/officeDocument/2006/relationships/image" Target="../media/image12.png"/><Relationship Id="rId3" Type="http://schemas.openxmlformats.org/officeDocument/2006/relationships/image" Target="../media/image21.png"/><Relationship Id="rId7" Type="http://schemas.openxmlformats.org/officeDocument/2006/relationships/image" Target="../media/image7.png"/><Relationship Id="rId12" Type="http://schemas.openxmlformats.org/officeDocument/2006/relationships/image" Target="../media/image11.png"/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12.xml"/><Relationship Id="rId6" Type="http://schemas.openxmlformats.org/officeDocument/2006/relationships/image" Target="../media/image23.png"/><Relationship Id="rId11" Type="http://schemas.openxmlformats.org/officeDocument/2006/relationships/image" Target="../media/image10.png"/><Relationship Id="rId5" Type="http://schemas.openxmlformats.org/officeDocument/2006/relationships/image" Target="../media/image1.png"/><Relationship Id="rId10" Type="http://schemas.openxmlformats.org/officeDocument/2006/relationships/image" Target="../media/image9.png"/><Relationship Id="rId4" Type="http://schemas.openxmlformats.org/officeDocument/2006/relationships/image" Target="../media/image22.png"/><Relationship Id="rId9" Type="http://schemas.openxmlformats.org/officeDocument/2006/relationships/image" Target="../media/image25.png"/></Relationships>
</file>

<file path=ppt/slides/_rels/slide14.xml.rels><?xml version="1.0" encoding="UTF-8" standalone="yes"?>
<Relationships xmlns="http://schemas.openxmlformats.org/package/2006/relationships"><Relationship Id="rId8" Type="http://schemas.openxmlformats.org/officeDocument/2006/relationships/image" Target="../media/image61.png"/><Relationship Id="rId13" Type="http://schemas.openxmlformats.org/officeDocument/2006/relationships/image" Target="../media/image65.svg"/><Relationship Id="rId18" Type="http://schemas.openxmlformats.org/officeDocument/2006/relationships/image" Target="../media/image70.png"/><Relationship Id="rId3" Type="http://schemas.openxmlformats.org/officeDocument/2006/relationships/image" Target="../media/image56.png"/><Relationship Id="rId7" Type="http://schemas.openxmlformats.org/officeDocument/2006/relationships/image" Target="../media/image60.png"/><Relationship Id="rId12" Type="http://schemas.openxmlformats.org/officeDocument/2006/relationships/image" Target="../media/image64.png"/><Relationship Id="rId17" Type="http://schemas.openxmlformats.org/officeDocument/2006/relationships/image" Target="../media/image69.svg"/><Relationship Id="rId2" Type="http://schemas.openxmlformats.org/officeDocument/2006/relationships/notesSlide" Target="../notesSlides/notesSlide14.xml"/><Relationship Id="rId16" Type="http://schemas.openxmlformats.org/officeDocument/2006/relationships/image" Target="../media/image68.png"/><Relationship Id="rId1" Type="http://schemas.openxmlformats.org/officeDocument/2006/relationships/slideLayout" Target="../slideLayouts/slideLayout12.xml"/><Relationship Id="rId6" Type="http://schemas.openxmlformats.org/officeDocument/2006/relationships/image" Target="../media/image59.png"/><Relationship Id="rId11" Type="http://schemas.openxmlformats.org/officeDocument/2006/relationships/image" Target="../media/image32.png"/><Relationship Id="rId5" Type="http://schemas.openxmlformats.org/officeDocument/2006/relationships/image" Target="../media/image58.png"/><Relationship Id="rId15" Type="http://schemas.openxmlformats.org/officeDocument/2006/relationships/image" Target="../media/image67.svg"/><Relationship Id="rId10" Type="http://schemas.openxmlformats.org/officeDocument/2006/relationships/image" Target="../media/image63.png"/><Relationship Id="rId19" Type="http://schemas.openxmlformats.org/officeDocument/2006/relationships/image" Target="../media/image71.svg"/><Relationship Id="rId4" Type="http://schemas.openxmlformats.org/officeDocument/2006/relationships/image" Target="../media/image57.png"/><Relationship Id="rId9" Type="http://schemas.openxmlformats.org/officeDocument/2006/relationships/image" Target="../media/image62.png"/><Relationship Id="rId14" Type="http://schemas.openxmlformats.org/officeDocument/2006/relationships/image" Target="../media/image66.png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image" Target="../media/image72.png"/><Relationship Id="rId2" Type="http://schemas.openxmlformats.org/officeDocument/2006/relationships/notesSlide" Target="../notesSlides/notesSlide15.xml"/><Relationship Id="rId1" Type="http://schemas.openxmlformats.org/officeDocument/2006/relationships/slideLayout" Target="../slideLayouts/slideLayout12.xml"/></Relationships>
</file>

<file path=ppt/slides/_rels/slide16.xml.rels><?xml version="1.0" encoding="UTF-8" standalone="yes"?>
<Relationships xmlns="http://schemas.openxmlformats.org/package/2006/relationships"><Relationship Id="rId8" Type="http://schemas.openxmlformats.org/officeDocument/2006/relationships/image" Target="../media/image6.png"/><Relationship Id="rId13" Type="http://schemas.openxmlformats.org/officeDocument/2006/relationships/image" Target="../media/image11.png"/><Relationship Id="rId3" Type="http://schemas.openxmlformats.org/officeDocument/2006/relationships/image" Target="../media/image1.png"/><Relationship Id="rId7" Type="http://schemas.openxmlformats.org/officeDocument/2006/relationships/image" Target="../media/image5.png"/><Relationship Id="rId12" Type="http://schemas.openxmlformats.org/officeDocument/2006/relationships/image" Target="../media/image10.png"/><Relationship Id="rId2" Type="http://schemas.openxmlformats.org/officeDocument/2006/relationships/notesSlide" Target="../notesSlides/notesSlide16.xml"/><Relationship Id="rId1" Type="http://schemas.openxmlformats.org/officeDocument/2006/relationships/slideLayout" Target="../slideLayouts/slideLayout12.xml"/><Relationship Id="rId6" Type="http://schemas.openxmlformats.org/officeDocument/2006/relationships/image" Target="../media/image4.png"/><Relationship Id="rId11" Type="http://schemas.openxmlformats.org/officeDocument/2006/relationships/image" Target="../media/image9.png"/><Relationship Id="rId5" Type="http://schemas.openxmlformats.org/officeDocument/2006/relationships/image" Target="../media/image3.png"/><Relationship Id="rId10" Type="http://schemas.openxmlformats.org/officeDocument/2006/relationships/image" Target="../media/image8.png"/><Relationship Id="rId4" Type="http://schemas.openxmlformats.org/officeDocument/2006/relationships/image" Target="../media/image2.png"/><Relationship Id="rId9" Type="http://schemas.openxmlformats.org/officeDocument/2006/relationships/image" Target="../media/image7.png"/><Relationship Id="rId14" Type="http://schemas.openxmlformats.org/officeDocument/2006/relationships/image" Target="../media/image12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>
            <a:alpha val="100000"/>
          </a:srgb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2"/>
          <p:cNvPicPr>
            <a:picLocks noChangeAspect="1"/>
          </p:cNvPicPr>
          <p:nvPr/>
        </p:nvPicPr>
        <p:blipFill>
          <a:blip r:embed="rId3"/>
          <a:srcRect/>
          <a:stretch>
            <a:fillRect/>
          </a:stretch>
        </p:blipFill>
        <p:spPr>
          <a:xfrm>
            <a:off x="0" y="1574800"/>
            <a:ext cx="1587500" cy="6997700"/>
          </a:xfrm>
          <a:prstGeom prst="rect">
            <a:avLst/>
          </a:prstGeom>
          <a:noFill/>
          <a:ln w="25400" cap="flat" cmpd="sng">
            <a:noFill/>
            <a:prstDash val="solid"/>
            <a:round/>
          </a:ln>
        </p:spPr>
      </p:pic>
      <p:pic>
        <p:nvPicPr>
          <p:cNvPr id="3" name="Picture 3"/>
          <p:cNvPicPr>
            <a:picLocks noChangeAspect="1"/>
          </p:cNvPicPr>
          <p:nvPr/>
        </p:nvPicPr>
        <p:blipFill>
          <a:blip r:embed="rId4"/>
          <a:srcRect/>
          <a:stretch>
            <a:fillRect/>
          </a:stretch>
        </p:blipFill>
        <p:spPr>
          <a:xfrm>
            <a:off x="876300" y="8293100"/>
            <a:ext cx="17411700" cy="1993900"/>
          </a:xfrm>
          <a:prstGeom prst="rect">
            <a:avLst/>
          </a:prstGeom>
          <a:noFill/>
          <a:ln w="25400" cap="flat" cmpd="sng">
            <a:noFill/>
            <a:prstDash val="solid"/>
            <a:round/>
          </a:ln>
        </p:spPr>
      </p:pic>
      <p:pic>
        <p:nvPicPr>
          <p:cNvPr id="4" name="Picture 4"/>
          <p:cNvPicPr>
            <a:picLocks noChangeAspect="1"/>
          </p:cNvPicPr>
          <p:nvPr/>
        </p:nvPicPr>
        <p:blipFill>
          <a:blip r:embed="rId5"/>
          <a:srcRect/>
          <a:stretch>
            <a:fillRect/>
          </a:stretch>
        </p:blipFill>
        <p:spPr>
          <a:xfrm>
            <a:off x="11391900" y="0"/>
            <a:ext cx="6896100" cy="9220200"/>
          </a:xfrm>
          <a:prstGeom prst="rect">
            <a:avLst/>
          </a:prstGeom>
          <a:noFill/>
          <a:ln w="25400" cap="flat" cmpd="sng">
            <a:noFill/>
            <a:prstDash val="solid"/>
            <a:round/>
          </a:ln>
        </p:spPr>
      </p:pic>
      <p:pic>
        <p:nvPicPr>
          <p:cNvPr id="5" name="Picture 5"/>
          <p:cNvPicPr>
            <a:picLocks noChangeAspect="1"/>
          </p:cNvPicPr>
          <p:nvPr/>
        </p:nvPicPr>
        <p:blipFill>
          <a:blip r:embed="rId6"/>
          <a:srcRect/>
          <a:stretch>
            <a:fillRect/>
          </a:stretch>
        </p:blipFill>
        <p:spPr>
          <a:xfrm>
            <a:off x="12522200" y="0"/>
            <a:ext cx="5765800" cy="8077200"/>
          </a:xfrm>
          <a:prstGeom prst="rect">
            <a:avLst/>
          </a:prstGeom>
          <a:noFill/>
          <a:ln w="25400" cap="flat" cmpd="sng">
            <a:noFill/>
            <a:prstDash val="solid"/>
            <a:round/>
          </a:ln>
        </p:spPr>
      </p:pic>
      <p:pic>
        <p:nvPicPr>
          <p:cNvPr id="6" name="Picture 6"/>
          <p:cNvPicPr>
            <a:picLocks noChangeAspect="1"/>
          </p:cNvPicPr>
          <p:nvPr/>
        </p:nvPicPr>
        <p:blipFill>
          <a:blip r:embed="rId7"/>
          <a:srcRect/>
          <a:stretch>
            <a:fillRect/>
          </a:stretch>
        </p:blipFill>
        <p:spPr>
          <a:xfrm>
            <a:off x="16471900" y="3657600"/>
            <a:ext cx="1816100" cy="5829300"/>
          </a:xfrm>
          <a:prstGeom prst="rect">
            <a:avLst/>
          </a:prstGeom>
          <a:noFill/>
          <a:ln w="25400" cap="flat" cmpd="sng">
            <a:noFill/>
            <a:prstDash val="solid"/>
            <a:round/>
          </a:ln>
        </p:spPr>
      </p:pic>
      <p:pic>
        <p:nvPicPr>
          <p:cNvPr id="7" name="Picture 7"/>
          <p:cNvPicPr>
            <a:picLocks noChangeAspect="1"/>
          </p:cNvPicPr>
          <p:nvPr/>
        </p:nvPicPr>
        <p:blipFill>
          <a:blip r:embed="rId8"/>
          <a:srcRect/>
          <a:stretch>
            <a:fillRect/>
          </a:stretch>
        </p:blipFill>
        <p:spPr>
          <a:xfrm>
            <a:off x="7899400" y="2654300"/>
            <a:ext cx="6502400" cy="6502400"/>
          </a:xfrm>
          <a:prstGeom prst="rect">
            <a:avLst/>
          </a:prstGeom>
          <a:noFill/>
          <a:ln w="25400" cap="flat" cmpd="sng">
            <a:noFill/>
            <a:prstDash val="solid"/>
            <a:round/>
          </a:ln>
        </p:spPr>
      </p:pic>
      <p:sp>
        <p:nvSpPr>
          <p:cNvPr id="8" name="AutoShape 8"/>
          <p:cNvSpPr/>
          <p:nvPr/>
        </p:nvSpPr>
        <p:spPr>
          <a:xfrm>
            <a:off x="1447800" y="3848100"/>
            <a:ext cx="9753600" cy="1384300"/>
          </a:xfrm>
          <a:prstGeom prst="rect">
            <a:avLst/>
          </a:prstGeom>
          <a:noFill/>
          <a:ln w="19050" cap="flat" cmpd="sng">
            <a:noFill/>
            <a:prstDash val="solid"/>
            <a:round/>
          </a:ln>
        </p:spPr>
        <p:txBody>
          <a:bodyPr vert="horz" wrap="square" lIns="0" tIns="0" rIns="0" bIns="0" rtlCol="0" anchor="t" anchorCtr="0"/>
          <a:lstStyle/>
          <a:p>
            <a:pPr indent="0" algn="l">
              <a:lnSpc>
                <a:spcPts val="10800"/>
              </a:lnSpc>
              <a:defRPr/>
            </a:pPr>
            <a:r>
              <a:rPr lang="en-US" sz="6000" b="0" i="0" u="none" strike="noStrike" dirty="0" err="1">
                <a:solidFill>
                  <a:srgbClr val="FFB458"/>
                </a:solidFill>
                <a:latin typeface="Noto Sans SC"/>
                <a:ea typeface="Noto Sans SC"/>
                <a:cs typeface="Noto Sans SC"/>
                <a:sym typeface="Noto Sans SC"/>
              </a:rPr>
              <a:t>智能家庭管家商业计划书</a:t>
            </a:r>
            <a:endParaRPr lang="en-US" sz="6000" dirty="0"/>
          </a:p>
        </p:txBody>
      </p:sp>
      <p:sp>
        <p:nvSpPr>
          <p:cNvPr id="12" name="Freeform 12"/>
          <p:cNvSpPr/>
          <p:nvPr/>
        </p:nvSpPr>
        <p:spPr>
          <a:xfrm>
            <a:off x="4432300" y="6985000"/>
            <a:ext cx="2225992" cy="832007"/>
          </a:xfrm>
          <a:custGeom>
            <a:avLst/>
            <a:gdLst/>
            <a:ahLst/>
            <a:cxnLst/>
            <a:rect l="l" t="t" r="r" b="b"/>
            <a:pathLst>
              <a:path w="2225992" h="832007">
                <a:moveTo>
                  <a:pt x="0" y="138684"/>
                </a:moveTo>
                <a:cubicBezTo>
                  <a:pt x="0" y="62103"/>
                  <a:pt x="62960" y="0"/>
                  <a:pt x="140589" y="0"/>
                </a:cubicBezTo>
                <a:lnTo>
                  <a:pt x="2085404" y="0"/>
                </a:lnTo>
                <a:cubicBezTo>
                  <a:pt x="2163032" y="0"/>
                  <a:pt x="2225992" y="62103"/>
                  <a:pt x="2225992" y="138684"/>
                </a:cubicBezTo>
                <a:lnTo>
                  <a:pt x="2225992" y="693325"/>
                </a:lnTo>
                <a:cubicBezTo>
                  <a:pt x="2225992" y="769904"/>
                  <a:pt x="2163032" y="832007"/>
                  <a:pt x="2085404" y="832007"/>
                </a:cubicBezTo>
                <a:lnTo>
                  <a:pt x="140589" y="832007"/>
                </a:lnTo>
                <a:cubicBezTo>
                  <a:pt x="62960" y="831912"/>
                  <a:pt x="0" y="769904"/>
                  <a:pt x="0" y="693325"/>
                </a:cubicBezTo>
                <a:close/>
              </a:path>
            </a:pathLst>
          </a:custGeom>
          <a:solidFill>
            <a:srgbClr val="FFFFFF">
              <a:alpha val="100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  <a:endParaRPr/>
          </a:p>
        </p:txBody>
      </p:sp>
      <p:pic>
        <p:nvPicPr>
          <p:cNvPr id="14" name="Picture 14"/>
          <p:cNvPicPr>
            <a:picLocks noChangeAspect="1"/>
          </p:cNvPicPr>
          <p:nvPr/>
        </p:nvPicPr>
        <p:blipFill>
          <a:blip r:embed="rId9"/>
          <a:srcRect/>
          <a:stretch>
            <a:fillRect/>
          </a:stretch>
        </p:blipFill>
        <p:spPr>
          <a:xfrm>
            <a:off x="1663700" y="8585200"/>
            <a:ext cx="533400" cy="533400"/>
          </a:xfrm>
          <a:prstGeom prst="rect">
            <a:avLst/>
          </a:prstGeom>
          <a:noFill/>
          <a:ln w="25400" cap="flat" cmpd="sng">
            <a:noFill/>
            <a:prstDash val="solid"/>
            <a:round/>
          </a:ln>
        </p:spPr>
      </p:pic>
      <p:sp>
        <p:nvSpPr>
          <p:cNvPr id="15" name="Freeform 15"/>
          <p:cNvSpPr/>
          <p:nvPr/>
        </p:nvSpPr>
        <p:spPr>
          <a:xfrm>
            <a:off x="2425700" y="8585200"/>
            <a:ext cx="548164" cy="548259"/>
          </a:xfrm>
          <a:custGeom>
            <a:avLst/>
            <a:gdLst/>
            <a:ahLst/>
            <a:cxnLst/>
            <a:rect l="l" t="t" r="r" b="b"/>
            <a:pathLst>
              <a:path w="548164" h="548259">
                <a:moveTo>
                  <a:pt x="0" y="274130"/>
                </a:moveTo>
                <a:cubicBezTo>
                  <a:pt x="0" y="122682"/>
                  <a:pt x="122682" y="0"/>
                  <a:pt x="274130" y="0"/>
                </a:cubicBezTo>
                <a:lnTo>
                  <a:pt x="274130" y="9525"/>
                </a:lnTo>
                <a:lnTo>
                  <a:pt x="274130" y="0"/>
                </a:lnTo>
                <a:cubicBezTo>
                  <a:pt x="425482" y="0"/>
                  <a:pt x="548164" y="122682"/>
                  <a:pt x="548164" y="274130"/>
                </a:cubicBezTo>
                <a:lnTo>
                  <a:pt x="538639" y="274130"/>
                </a:lnTo>
                <a:lnTo>
                  <a:pt x="548164" y="274130"/>
                </a:lnTo>
                <a:cubicBezTo>
                  <a:pt x="548164" y="425482"/>
                  <a:pt x="425482" y="548259"/>
                  <a:pt x="274034" y="548259"/>
                </a:cubicBezTo>
                <a:lnTo>
                  <a:pt x="274034" y="538734"/>
                </a:lnTo>
                <a:lnTo>
                  <a:pt x="274034" y="548259"/>
                </a:lnTo>
                <a:cubicBezTo>
                  <a:pt x="122682" y="548164"/>
                  <a:pt x="0" y="425482"/>
                  <a:pt x="0" y="274130"/>
                </a:cubicBezTo>
                <a:lnTo>
                  <a:pt x="9525" y="274130"/>
                </a:lnTo>
                <a:lnTo>
                  <a:pt x="19050" y="274130"/>
                </a:lnTo>
                <a:lnTo>
                  <a:pt x="9525" y="274130"/>
                </a:lnTo>
                <a:lnTo>
                  <a:pt x="0" y="274130"/>
                </a:lnTo>
                <a:moveTo>
                  <a:pt x="19050" y="274130"/>
                </a:moveTo>
                <a:cubicBezTo>
                  <a:pt x="19050" y="279368"/>
                  <a:pt x="14764" y="283654"/>
                  <a:pt x="9525" y="283654"/>
                </a:cubicBezTo>
                <a:cubicBezTo>
                  <a:pt x="4286" y="283654"/>
                  <a:pt x="0" y="279368"/>
                  <a:pt x="0" y="274130"/>
                </a:cubicBezTo>
                <a:cubicBezTo>
                  <a:pt x="0" y="268891"/>
                  <a:pt x="4286" y="264604"/>
                  <a:pt x="9525" y="264604"/>
                </a:cubicBezTo>
                <a:cubicBezTo>
                  <a:pt x="14764" y="264604"/>
                  <a:pt x="19050" y="268891"/>
                  <a:pt x="19050" y="274130"/>
                </a:cubicBezTo>
                <a:cubicBezTo>
                  <a:pt x="19050" y="414909"/>
                  <a:pt x="133255" y="529114"/>
                  <a:pt x="274130" y="529114"/>
                </a:cubicBezTo>
                <a:cubicBezTo>
                  <a:pt x="415004" y="529114"/>
                  <a:pt x="529114" y="414909"/>
                  <a:pt x="529114" y="274130"/>
                </a:cubicBezTo>
                <a:cubicBezTo>
                  <a:pt x="529114" y="133350"/>
                  <a:pt x="414909" y="19050"/>
                  <a:pt x="274130" y="19050"/>
                </a:cubicBezTo>
                <a:lnTo>
                  <a:pt x="274130" y="9525"/>
                </a:lnTo>
                <a:lnTo>
                  <a:pt x="274130" y="19050"/>
                </a:lnTo>
                <a:cubicBezTo>
                  <a:pt x="133255" y="19050"/>
                  <a:pt x="19050" y="133255"/>
                  <a:pt x="19050" y="274130"/>
                </a:cubicBezTo>
                <a:close/>
              </a:path>
            </a:pathLst>
          </a:custGeom>
          <a:solidFill>
            <a:srgbClr val="FF7A83">
              <a:alpha val="100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  <a:endParaRPr/>
          </a:p>
        </p:txBody>
      </p:sp>
      <p:sp>
        <p:nvSpPr>
          <p:cNvPr id="16" name="Freeform 16"/>
          <p:cNvSpPr/>
          <p:nvPr/>
        </p:nvSpPr>
        <p:spPr>
          <a:xfrm>
            <a:off x="3200400" y="8585200"/>
            <a:ext cx="548164" cy="548259"/>
          </a:xfrm>
          <a:custGeom>
            <a:avLst/>
            <a:gdLst/>
            <a:ahLst/>
            <a:cxnLst/>
            <a:rect l="l" t="t" r="r" b="b"/>
            <a:pathLst>
              <a:path w="548164" h="548259">
                <a:moveTo>
                  <a:pt x="0" y="274130"/>
                </a:moveTo>
                <a:cubicBezTo>
                  <a:pt x="0" y="122682"/>
                  <a:pt x="122682" y="0"/>
                  <a:pt x="274129" y="0"/>
                </a:cubicBezTo>
                <a:lnTo>
                  <a:pt x="274129" y="9525"/>
                </a:lnTo>
                <a:lnTo>
                  <a:pt x="274129" y="0"/>
                </a:lnTo>
                <a:cubicBezTo>
                  <a:pt x="425482" y="0"/>
                  <a:pt x="548164" y="122682"/>
                  <a:pt x="548164" y="274130"/>
                </a:cubicBezTo>
                <a:lnTo>
                  <a:pt x="538639" y="274130"/>
                </a:lnTo>
                <a:lnTo>
                  <a:pt x="548164" y="274130"/>
                </a:lnTo>
                <a:cubicBezTo>
                  <a:pt x="548164" y="425482"/>
                  <a:pt x="425482" y="548259"/>
                  <a:pt x="274034" y="548259"/>
                </a:cubicBezTo>
                <a:lnTo>
                  <a:pt x="274034" y="538734"/>
                </a:lnTo>
                <a:lnTo>
                  <a:pt x="274034" y="548259"/>
                </a:lnTo>
                <a:cubicBezTo>
                  <a:pt x="122682" y="548164"/>
                  <a:pt x="0" y="425482"/>
                  <a:pt x="0" y="274130"/>
                </a:cubicBezTo>
                <a:lnTo>
                  <a:pt x="9525" y="274130"/>
                </a:lnTo>
                <a:lnTo>
                  <a:pt x="19050" y="274130"/>
                </a:lnTo>
                <a:lnTo>
                  <a:pt x="9525" y="274130"/>
                </a:lnTo>
                <a:lnTo>
                  <a:pt x="0" y="274130"/>
                </a:lnTo>
                <a:moveTo>
                  <a:pt x="19050" y="274130"/>
                </a:moveTo>
                <a:cubicBezTo>
                  <a:pt x="19050" y="279368"/>
                  <a:pt x="14764" y="283654"/>
                  <a:pt x="9525" y="283654"/>
                </a:cubicBezTo>
                <a:cubicBezTo>
                  <a:pt x="4286" y="283654"/>
                  <a:pt x="0" y="279368"/>
                  <a:pt x="0" y="274130"/>
                </a:cubicBezTo>
                <a:cubicBezTo>
                  <a:pt x="0" y="268891"/>
                  <a:pt x="4286" y="264604"/>
                  <a:pt x="9525" y="264604"/>
                </a:cubicBezTo>
                <a:cubicBezTo>
                  <a:pt x="14764" y="264604"/>
                  <a:pt x="19050" y="268891"/>
                  <a:pt x="19050" y="274130"/>
                </a:cubicBezTo>
                <a:cubicBezTo>
                  <a:pt x="19050" y="414909"/>
                  <a:pt x="133255" y="529114"/>
                  <a:pt x="274129" y="529114"/>
                </a:cubicBezTo>
                <a:cubicBezTo>
                  <a:pt x="415004" y="529114"/>
                  <a:pt x="529114" y="414909"/>
                  <a:pt x="529114" y="274130"/>
                </a:cubicBezTo>
                <a:cubicBezTo>
                  <a:pt x="529114" y="133350"/>
                  <a:pt x="414909" y="19050"/>
                  <a:pt x="274129" y="19050"/>
                </a:cubicBezTo>
                <a:lnTo>
                  <a:pt x="274129" y="9525"/>
                </a:lnTo>
                <a:lnTo>
                  <a:pt x="274129" y="19050"/>
                </a:lnTo>
                <a:cubicBezTo>
                  <a:pt x="133255" y="19050"/>
                  <a:pt x="19050" y="133255"/>
                  <a:pt x="19050" y="274130"/>
                </a:cubicBezTo>
                <a:close/>
              </a:path>
            </a:pathLst>
          </a:custGeom>
          <a:solidFill>
            <a:srgbClr val="FF7A83">
              <a:alpha val="100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  <a:endParaRPr/>
          </a:p>
        </p:txBody>
      </p:sp>
      <p:sp>
        <p:nvSpPr>
          <p:cNvPr id="17" name="Freeform 17"/>
          <p:cNvSpPr/>
          <p:nvPr/>
        </p:nvSpPr>
        <p:spPr>
          <a:xfrm>
            <a:off x="3975100" y="8585200"/>
            <a:ext cx="548164" cy="548259"/>
          </a:xfrm>
          <a:custGeom>
            <a:avLst/>
            <a:gdLst/>
            <a:ahLst/>
            <a:cxnLst/>
            <a:rect l="l" t="t" r="r" b="b"/>
            <a:pathLst>
              <a:path w="548164" h="548259">
                <a:moveTo>
                  <a:pt x="0" y="274130"/>
                </a:moveTo>
                <a:cubicBezTo>
                  <a:pt x="0" y="122682"/>
                  <a:pt x="122682" y="0"/>
                  <a:pt x="274130" y="0"/>
                </a:cubicBezTo>
                <a:lnTo>
                  <a:pt x="274130" y="9525"/>
                </a:lnTo>
                <a:lnTo>
                  <a:pt x="274130" y="0"/>
                </a:lnTo>
                <a:cubicBezTo>
                  <a:pt x="425482" y="0"/>
                  <a:pt x="548164" y="122682"/>
                  <a:pt x="548164" y="274130"/>
                </a:cubicBezTo>
                <a:lnTo>
                  <a:pt x="538639" y="274130"/>
                </a:lnTo>
                <a:lnTo>
                  <a:pt x="548164" y="274130"/>
                </a:lnTo>
                <a:cubicBezTo>
                  <a:pt x="548164" y="425482"/>
                  <a:pt x="425482" y="548259"/>
                  <a:pt x="274034" y="548259"/>
                </a:cubicBezTo>
                <a:lnTo>
                  <a:pt x="274034" y="538734"/>
                </a:lnTo>
                <a:lnTo>
                  <a:pt x="274034" y="548259"/>
                </a:lnTo>
                <a:cubicBezTo>
                  <a:pt x="122682" y="548164"/>
                  <a:pt x="0" y="425482"/>
                  <a:pt x="0" y="274130"/>
                </a:cubicBezTo>
                <a:lnTo>
                  <a:pt x="9525" y="274130"/>
                </a:lnTo>
                <a:lnTo>
                  <a:pt x="19050" y="274130"/>
                </a:lnTo>
                <a:lnTo>
                  <a:pt x="9525" y="274130"/>
                </a:lnTo>
                <a:lnTo>
                  <a:pt x="0" y="274130"/>
                </a:lnTo>
                <a:moveTo>
                  <a:pt x="19050" y="274130"/>
                </a:moveTo>
                <a:cubicBezTo>
                  <a:pt x="19050" y="279368"/>
                  <a:pt x="14764" y="283654"/>
                  <a:pt x="9525" y="283654"/>
                </a:cubicBezTo>
                <a:cubicBezTo>
                  <a:pt x="4286" y="283654"/>
                  <a:pt x="0" y="279368"/>
                  <a:pt x="0" y="274130"/>
                </a:cubicBezTo>
                <a:cubicBezTo>
                  <a:pt x="0" y="268891"/>
                  <a:pt x="4286" y="264604"/>
                  <a:pt x="9525" y="264604"/>
                </a:cubicBezTo>
                <a:cubicBezTo>
                  <a:pt x="14764" y="264604"/>
                  <a:pt x="19050" y="268891"/>
                  <a:pt x="19050" y="274130"/>
                </a:cubicBezTo>
                <a:cubicBezTo>
                  <a:pt x="19050" y="414909"/>
                  <a:pt x="133255" y="529114"/>
                  <a:pt x="274130" y="529114"/>
                </a:cubicBezTo>
                <a:cubicBezTo>
                  <a:pt x="415004" y="529114"/>
                  <a:pt x="529114" y="414909"/>
                  <a:pt x="529114" y="274130"/>
                </a:cubicBezTo>
                <a:cubicBezTo>
                  <a:pt x="529114" y="133350"/>
                  <a:pt x="414909" y="19050"/>
                  <a:pt x="274130" y="19050"/>
                </a:cubicBezTo>
                <a:lnTo>
                  <a:pt x="274130" y="9525"/>
                </a:lnTo>
                <a:lnTo>
                  <a:pt x="274130" y="19050"/>
                </a:lnTo>
                <a:cubicBezTo>
                  <a:pt x="133255" y="19050"/>
                  <a:pt x="19050" y="133255"/>
                  <a:pt x="19050" y="274130"/>
                </a:cubicBezTo>
                <a:close/>
              </a:path>
            </a:pathLst>
          </a:custGeom>
          <a:solidFill>
            <a:srgbClr val="FF7A83">
              <a:alpha val="100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  <a:endParaRPr/>
          </a:p>
        </p:txBody>
      </p:sp>
      <p:sp>
        <p:nvSpPr>
          <p:cNvPr id="18" name="Freeform 18"/>
          <p:cNvSpPr/>
          <p:nvPr/>
        </p:nvSpPr>
        <p:spPr>
          <a:xfrm>
            <a:off x="673100" y="685800"/>
            <a:ext cx="453390" cy="453390"/>
          </a:xfrm>
          <a:custGeom>
            <a:avLst/>
            <a:gdLst/>
            <a:ahLst/>
            <a:cxnLst/>
            <a:rect l="l" t="t" r="r" b="b"/>
            <a:pathLst>
              <a:path w="453390" h="453390">
                <a:moveTo>
                  <a:pt x="0" y="226695"/>
                </a:moveTo>
                <a:cubicBezTo>
                  <a:pt x="0" y="101536"/>
                  <a:pt x="101536" y="0"/>
                  <a:pt x="226695" y="0"/>
                </a:cubicBezTo>
                <a:cubicBezTo>
                  <a:pt x="351854" y="0"/>
                  <a:pt x="453390" y="101536"/>
                  <a:pt x="453390" y="226695"/>
                </a:cubicBezTo>
                <a:cubicBezTo>
                  <a:pt x="453390" y="351854"/>
                  <a:pt x="351854" y="453390"/>
                  <a:pt x="226695" y="453390"/>
                </a:cubicBezTo>
                <a:cubicBezTo>
                  <a:pt x="101536" y="453390"/>
                  <a:pt x="0" y="351949"/>
                  <a:pt x="0" y="226695"/>
                </a:cubicBezTo>
                <a:close/>
              </a:path>
            </a:pathLst>
          </a:custGeom>
          <a:solidFill>
            <a:srgbClr val="FFFFFF">
              <a:alpha val="100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  <a:endParaRPr/>
          </a:p>
        </p:txBody>
      </p:sp>
      <p:pic>
        <p:nvPicPr>
          <p:cNvPr id="19" name="Picture 19"/>
          <p:cNvPicPr>
            <a:picLocks noChangeAspect="1"/>
          </p:cNvPicPr>
          <p:nvPr/>
        </p:nvPicPr>
        <p:blipFill>
          <a:blip r:embed="rId10"/>
          <a:srcRect/>
          <a:stretch>
            <a:fillRect/>
          </a:stretch>
        </p:blipFill>
        <p:spPr>
          <a:xfrm>
            <a:off x="10553700" y="-12700"/>
            <a:ext cx="7734300" cy="10020300"/>
          </a:xfrm>
          <a:prstGeom prst="rect">
            <a:avLst/>
          </a:prstGeom>
          <a:noFill/>
          <a:ln w="25400" cap="flat" cmpd="sng">
            <a:noFill/>
            <a:prstDash val="solid"/>
            <a:round/>
          </a:ln>
        </p:spPr>
      </p:pic>
      <p:sp>
        <p:nvSpPr>
          <p:cNvPr id="20" name="Freeform 20"/>
          <p:cNvSpPr/>
          <p:nvPr/>
        </p:nvSpPr>
        <p:spPr>
          <a:xfrm>
            <a:off x="11125200" y="6210300"/>
            <a:ext cx="597788" cy="597790"/>
          </a:xfrm>
          <a:custGeom>
            <a:avLst/>
            <a:gdLst/>
            <a:ahLst/>
            <a:cxnLst/>
            <a:rect l="l" t="t" r="r" b="b"/>
            <a:pathLst>
              <a:path w="597788" h="597790">
                <a:moveTo>
                  <a:pt x="0" y="298894"/>
                </a:moveTo>
                <a:cubicBezTo>
                  <a:pt x="0" y="133826"/>
                  <a:pt x="133826" y="0"/>
                  <a:pt x="298894" y="0"/>
                </a:cubicBezTo>
                <a:cubicBezTo>
                  <a:pt x="463961" y="0"/>
                  <a:pt x="597788" y="133826"/>
                  <a:pt x="597788" y="298894"/>
                </a:cubicBezTo>
                <a:cubicBezTo>
                  <a:pt x="597788" y="463964"/>
                  <a:pt x="463961" y="597790"/>
                  <a:pt x="298894" y="597790"/>
                </a:cubicBezTo>
                <a:cubicBezTo>
                  <a:pt x="133826" y="597790"/>
                  <a:pt x="0" y="463964"/>
                  <a:pt x="0" y="298894"/>
                </a:cubicBezTo>
                <a:close/>
              </a:path>
            </a:pathLst>
          </a:custGeom>
          <a:solidFill>
            <a:srgbClr val="F89469">
              <a:alpha val="100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  <a:endParaRPr/>
          </a:p>
        </p:txBody>
      </p:sp>
      <p:cxnSp>
        <p:nvCxnSpPr>
          <p:cNvPr id="21" name="Connector 21"/>
          <p:cNvCxnSpPr/>
          <p:nvPr/>
        </p:nvCxnSpPr>
        <p:spPr>
          <a:xfrm>
            <a:off x="14846300" y="3975100"/>
            <a:ext cx="3949720" cy="12700"/>
          </a:xfrm>
          <a:prstGeom prst="line">
            <a:avLst/>
          </a:prstGeom>
          <a:solidFill>
            <a:srgbClr val="DEE0E3">
              <a:alpha val="100000"/>
            </a:srgbClr>
          </a:solidFill>
          <a:ln w="12700" cap="rnd" cmpd="sng">
            <a:solidFill>
              <a:srgbClr val="FFFFFF">
                <a:alpha val="100000"/>
              </a:srgbClr>
            </a:solidFill>
            <a:prstDash val="solid"/>
            <a:miter lim="10000000"/>
            <a:headEnd type="none" w="sm" len="sm"/>
            <a:tailEnd type="none" w="sm" len="sm"/>
          </a:ln>
        </p:spPr>
      </p:cxnSp>
      <p:sp>
        <p:nvSpPr>
          <p:cNvPr id="22" name="Freeform 22"/>
          <p:cNvSpPr/>
          <p:nvPr/>
        </p:nvSpPr>
        <p:spPr>
          <a:xfrm rot="5400000">
            <a:off x="16738600" y="5930900"/>
            <a:ext cx="147638" cy="147733"/>
          </a:xfrm>
          <a:custGeom>
            <a:avLst/>
            <a:gdLst/>
            <a:ahLst/>
            <a:cxnLst/>
            <a:rect l="l" t="t" r="r" b="b"/>
            <a:pathLst>
              <a:path w="147638" h="147733">
                <a:moveTo>
                  <a:pt x="0" y="73819"/>
                </a:moveTo>
                <a:cubicBezTo>
                  <a:pt x="0" y="33052"/>
                  <a:pt x="33052" y="0"/>
                  <a:pt x="73819" y="0"/>
                </a:cubicBezTo>
                <a:lnTo>
                  <a:pt x="73819" y="9525"/>
                </a:lnTo>
                <a:lnTo>
                  <a:pt x="73819" y="0"/>
                </a:lnTo>
                <a:cubicBezTo>
                  <a:pt x="114586" y="0"/>
                  <a:pt x="147638" y="33052"/>
                  <a:pt x="147638" y="73819"/>
                </a:cubicBezTo>
                <a:cubicBezTo>
                  <a:pt x="147638" y="114586"/>
                  <a:pt x="114586" y="147638"/>
                  <a:pt x="73819" y="147638"/>
                </a:cubicBezTo>
                <a:lnTo>
                  <a:pt x="73819" y="138112"/>
                </a:lnTo>
                <a:lnTo>
                  <a:pt x="73819" y="147638"/>
                </a:lnTo>
                <a:cubicBezTo>
                  <a:pt x="33052" y="147733"/>
                  <a:pt x="0" y="114586"/>
                  <a:pt x="0" y="73819"/>
                </a:cubicBezTo>
                <a:lnTo>
                  <a:pt x="9525" y="73819"/>
                </a:lnTo>
                <a:lnTo>
                  <a:pt x="17812" y="78486"/>
                </a:lnTo>
                <a:cubicBezTo>
                  <a:pt x="15716" y="82296"/>
                  <a:pt x="11240" y="84106"/>
                  <a:pt x="7144" y="83058"/>
                </a:cubicBezTo>
                <a:cubicBezTo>
                  <a:pt x="3048" y="82010"/>
                  <a:pt x="0" y="78200"/>
                  <a:pt x="0" y="73819"/>
                </a:cubicBezTo>
                <a:moveTo>
                  <a:pt x="19050" y="73819"/>
                </a:moveTo>
                <a:lnTo>
                  <a:pt x="9525" y="73819"/>
                </a:lnTo>
                <a:lnTo>
                  <a:pt x="1238" y="69152"/>
                </a:lnTo>
                <a:cubicBezTo>
                  <a:pt x="3334" y="65342"/>
                  <a:pt x="7810" y="63532"/>
                  <a:pt x="11906" y="64580"/>
                </a:cubicBezTo>
                <a:cubicBezTo>
                  <a:pt x="16002" y="65627"/>
                  <a:pt x="19050" y="69532"/>
                  <a:pt x="19050" y="73819"/>
                </a:cubicBezTo>
                <a:cubicBezTo>
                  <a:pt x="19050" y="104108"/>
                  <a:pt x="43624" y="128588"/>
                  <a:pt x="73819" y="128588"/>
                </a:cubicBezTo>
                <a:cubicBezTo>
                  <a:pt x="104013" y="128588"/>
                  <a:pt x="128588" y="104013"/>
                  <a:pt x="128588" y="73819"/>
                </a:cubicBezTo>
                <a:lnTo>
                  <a:pt x="138112" y="73819"/>
                </a:lnTo>
                <a:lnTo>
                  <a:pt x="128588" y="73819"/>
                </a:lnTo>
                <a:cubicBezTo>
                  <a:pt x="128683" y="43624"/>
                  <a:pt x="104108" y="19050"/>
                  <a:pt x="73819" y="19050"/>
                </a:cubicBezTo>
                <a:lnTo>
                  <a:pt x="73819" y="9525"/>
                </a:lnTo>
                <a:lnTo>
                  <a:pt x="73819" y="19050"/>
                </a:lnTo>
                <a:cubicBezTo>
                  <a:pt x="43624" y="19050"/>
                  <a:pt x="19050" y="43624"/>
                  <a:pt x="19050" y="73819"/>
                </a:cubicBezTo>
                <a:close/>
              </a:path>
            </a:pathLst>
          </a:custGeom>
          <a:solidFill>
            <a:srgbClr val="FFFFFF">
              <a:alpha val="100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  <a:endParaRPr/>
          </a:p>
        </p:txBody>
      </p:sp>
      <p:sp>
        <p:nvSpPr>
          <p:cNvPr id="23" name="Freeform 23"/>
          <p:cNvSpPr/>
          <p:nvPr/>
        </p:nvSpPr>
        <p:spPr>
          <a:xfrm rot="5400000">
            <a:off x="16751300" y="6172200"/>
            <a:ext cx="128588" cy="128588"/>
          </a:xfrm>
          <a:custGeom>
            <a:avLst/>
            <a:gdLst/>
            <a:ahLst/>
            <a:cxnLst/>
            <a:rect l="l" t="t" r="r" b="b"/>
            <a:pathLst>
              <a:path w="128588" h="128588">
                <a:moveTo>
                  <a:pt x="0" y="64294"/>
                </a:moveTo>
                <a:cubicBezTo>
                  <a:pt x="0" y="28766"/>
                  <a:pt x="28766" y="0"/>
                  <a:pt x="64294" y="0"/>
                </a:cubicBezTo>
                <a:cubicBezTo>
                  <a:pt x="99822" y="0"/>
                  <a:pt x="128588" y="28766"/>
                  <a:pt x="128588" y="64294"/>
                </a:cubicBezTo>
                <a:cubicBezTo>
                  <a:pt x="128588" y="99822"/>
                  <a:pt x="99822" y="128588"/>
                  <a:pt x="64294" y="128588"/>
                </a:cubicBezTo>
                <a:cubicBezTo>
                  <a:pt x="28766" y="128588"/>
                  <a:pt x="0" y="99822"/>
                  <a:pt x="0" y="64294"/>
                </a:cubicBezTo>
                <a:close/>
              </a:path>
            </a:pathLst>
          </a:custGeom>
          <a:solidFill>
            <a:srgbClr val="FFFFFF">
              <a:alpha val="100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  <a:endParaRPr/>
          </a:p>
        </p:txBody>
      </p:sp>
      <p:sp>
        <p:nvSpPr>
          <p:cNvPr id="24" name="Freeform 24"/>
          <p:cNvSpPr/>
          <p:nvPr/>
        </p:nvSpPr>
        <p:spPr>
          <a:xfrm rot="5400000">
            <a:off x="16738600" y="6159500"/>
            <a:ext cx="147638" cy="147733"/>
          </a:xfrm>
          <a:custGeom>
            <a:avLst/>
            <a:gdLst/>
            <a:ahLst/>
            <a:cxnLst/>
            <a:rect l="l" t="t" r="r" b="b"/>
            <a:pathLst>
              <a:path w="147638" h="147733">
                <a:moveTo>
                  <a:pt x="0" y="73819"/>
                </a:moveTo>
                <a:cubicBezTo>
                  <a:pt x="0" y="33052"/>
                  <a:pt x="33052" y="0"/>
                  <a:pt x="73819" y="0"/>
                </a:cubicBezTo>
                <a:lnTo>
                  <a:pt x="73819" y="9525"/>
                </a:lnTo>
                <a:lnTo>
                  <a:pt x="73819" y="0"/>
                </a:lnTo>
                <a:cubicBezTo>
                  <a:pt x="114586" y="0"/>
                  <a:pt x="147638" y="33052"/>
                  <a:pt x="147638" y="73819"/>
                </a:cubicBezTo>
                <a:cubicBezTo>
                  <a:pt x="147638" y="114586"/>
                  <a:pt x="114586" y="147638"/>
                  <a:pt x="73819" y="147638"/>
                </a:cubicBezTo>
                <a:lnTo>
                  <a:pt x="73819" y="138112"/>
                </a:lnTo>
                <a:lnTo>
                  <a:pt x="73819" y="147638"/>
                </a:lnTo>
                <a:cubicBezTo>
                  <a:pt x="33052" y="147733"/>
                  <a:pt x="0" y="114586"/>
                  <a:pt x="0" y="73819"/>
                </a:cubicBezTo>
                <a:lnTo>
                  <a:pt x="9525" y="73819"/>
                </a:lnTo>
                <a:lnTo>
                  <a:pt x="17812" y="78486"/>
                </a:lnTo>
                <a:cubicBezTo>
                  <a:pt x="15716" y="82296"/>
                  <a:pt x="11240" y="84106"/>
                  <a:pt x="7144" y="83058"/>
                </a:cubicBezTo>
                <a:cubicBezTo>
                  <a:pt x="3048" y="82010"/>
                  <a:pt x="0" y="78200"/>
                  <a:pt x="0" y="73819"/>
                </a:cubicBezTo>
                <a:moveTo>
                  <a:pt x="19050" y="73819"/>
                </a:moveTo>
                <a:lnTo>
                  <a:pt x="9525" y="73819"/>
                </a:lnTo>
                <a:lnTo>
                  <a:pt x="1238" y="69152"/>
                </a:lnTo>
                <a:cubicBezTo>
                  <a:pt x="3334" y="65342"/>
                  <a:pt x="7810" y="63532"/>
                  <a:pt x="11906" y="64580"/>
                </a:cubicBezTo>
                <a:cubicBezTo>
                  <a:pt x="16002" y="65627"/>
                  <a:pt x="19050" y="69532"/>
                  <a:pt x="19050" y="73819"/>
                </a:cubicBezTo>
                <a:cubicBezTo>
                  <a:pt x="19050" y="104108"/>
                  <a:pt x="43624" y="128588"/>
                  <a:pt x="73819" y="128588"/>
                </a:cubicBezTo>
                <a:cubicBezTo>
                  <a:pt x="104013" y="128588"/>
                  <a:pt x="128588" y="104013"/>
                  <a:pt x="128588" y="73819"/>
                </a:cubicBezTo>
                <a:lnTo>
                  <a:pt x="138112" y="73819"/>
                </a:lnTo>
                <a:lnTo>
                  <a:pt x="128588" y="73819"/>
                </a:lnTo>
                <a:cubicBezTo>
                  <a:pt x="128683" y="43624"/>
                  <a:pt x="104108" y="19050"/>
                  <a:pt x="73819" y="19050"/>
                </a:cubicBezTo>
                <a:lnTo>
                  <a:pt x="73819" y="9525"/>
                </a:lnTo>
                <a:lnTo>
                  <a:pt x="73819" y="19050"/>
                </a:lnTo>
                <a:cubicBezTo>
                  <a:pt x="43624" y="19050"/>
                  <a:pt x="19050" y="43624"/>
                  <a:pt x="19050" y="73819"/>
                </a:cubicBezTo>
                <a:close/>
              </a:path>
            </a:pathLst>
          </a:custGeom>
          <a:solidFill>
            <a:srgbClr val="FFFFFF">
              <a:alpha val="100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  <a:endParaRPr/>
          </a:p>
        </p:txBody>
      </p:sp>
      <p:sp>
        <p:nvSpPr>
          <p:cNvPr id="25" name="Freeform 25"/>
          <p:cNvSpPr/>
          <p:nvPr/>
        </p:nvSpPr>
        <p:spPr>
          <a:xfrm rot="5400000">
            <a:off x="16738600" y="6388100"/>
            <a:ext cx="147638" cy="147733"/>
          </a:xfrm>
          <a:custGeom>
            <a:avLst/>
            <a:gdLst/>
            <a:ahLst/>
            <a:cxnLst/>
            <a:rect l="l" t="t" r="r" b="b"/>
            <a:pathLst>
              <a:path w="147638" h="147733">
                <a:moveTo>
                  <a:pt x="0" y="73819"/>
                </a:moveTo>
                <a:cubicBezTo>
                  <a:pt x="0" y="33052"/>
                  <a:pt x="33052" y="0"/>
                  <a:pt x="73819" y="0"/>
                </a:cubicBezTo>
                <a:lnTo>
                  <a:pt x="73819" y="9525"/>
                </a:lnTo>
                <a:lnTo>
                  <a:pt x="73819" y="0"/>
                </a:lnTo>
                <a:cubicBezTo>
                  <a:pt x="114586" y="0"/>
                  <a:pt x="147638" y="33052"/>
                  <a:pt x="147638" y="73819"/>
                </a:cubicBezTo>
                <a:cubicBezTo>
                  <a:pt x="147638" y="114586"/>
                  <a:pt x="114586" y="147638"/>
                  <a:pt x="73819" y="147638"/>
                </a:cubicBezTo>
                <a:lnTo>
                  <a:pt x="73819" y="138112"/>
                </a:lnTo>
                <a:lnTo>
                  <a:pt x="73819" y="147638"/>
                </a:lnTo>
                <a:cubicBezTo>
                  <a:pt x="33052" y="147733"/>
                  <a:pt x="0" y="114586"/>
                  <a:pt x="0" y="73819"/>
                </a:cubicBezTo>
                <a:lnTo>
                  <a:pt x="9525" y="73819"/>
                </a:lnTo>
                <a:lnTo>
                  <a:pt x="17812" y="78486"/>
                </a:lnTo>
                <a:cubicBezTo>
                  <a:pt x="15716" y="82296"/>
                  <a:pt x="11240" y="84106"/>
                  <a:pt x="7144" y="83058"/>
                </a:cubicBezTo>
                <a:cubicBezTo>
                  <a:pt x="3048" y="82010"/>
                  <a:pt x="0" y="78200"/>
                  <a:pt x="0" y="73819"/>
                </a:cubicBezTo>
                <a:moveTo>
                  <a:pt x="19050" y="73819"/>
                </a:moveTo>
                <a:lnTo>
                  <a:pt x="9525" y="73819"/>
                </a:lnTo>
                <a:lnTo>
                  <a:pt x="1238" y="69152"/>
                </a:lnTo>
                <a:cubicBezTo>
                  <a:pt x="3334" y="65342"/>
                  <a:pt x="7810" y="63532"/>
                  <a:pt x="11906" y="64580"/>
                </a:cubicBezTo>
                <a:cubicBezTo>
                  <a:pt x="16002" y="65627"/>
                  <a:pt x="19050" y="69532"/>
                  <a:pt x="19050" y="73819"/>
                </a:cubicBezTo>
                <a:cubicBezTo>
                  <a:pt x="19050" y="104108"/>
                  <a:pt x="43624" y="128588"/>
                  <a:pt x="73819" y="128588"/>
                </a:cubicBezTo>
                <a:cubicBezTo>
                  <a:pt x="104013" y="128588"/>
                  <a:pt x="128588" y="104013"/>
                  <a:pt x="128588" y="73819"/>
                </a:cubicBezTo>
                <a:lnTo>
                  <a:pt x="138112" y="73819"/>
                </a:lnTo>
                <a:lnTo>
                  <a:pt x="128588" y="73819"/>
                </a:lnTo>
                <a:cubicBezTo>
                  <a:pt x="128683" y="43624"/>
                  <a:pt x="104108" y="19050"/>
                  <a:pt x="73819" y="19050"/>
                </a:cubicBezTo>
                <a:lnTo>
                  <a:pt x="73819" y="9525"/>
                </a:lnTo>
                <a:lnTo>
                  <a:pt x="73819" y="19050"/>
                </a:lnTo>
                <a:cubicBezTo>
                  <a:pt x="43624" y="19050"/>
                  <a:pt x="19050" y="43624"/>
                  <a:pt x="19050" y="73819"/>
                </a:cubicBezTo>
                <a:close/>
              </a:path>
            </a:pathLst>
          </a:custGeom>
          <a:solidFill>
            <a:srgbClr val="FFFFFF">
              <a:alpha val="100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  <a:endParaRPr/>
          </a:p>
        </p:txBody>
      </p:sp>
      <p:pic>
        <p:nvPicPr>
          <p:cNvPr id="26" name="Picture 26"/>
          <p:cNvPicPr>
            <a:picLocks noChangeAspect="1"/>
          </p:cNvPicPr>
          <p:nvPr/>
        </p:nvPicPr>
        <p:blipFill>
          <a:blip r:embed="rId11"/>
          <a:srcRect/>
          <a:stretch>
            <a:fillRect/>
          </a:stretch>
        </p:blipFill>
        <p:spPr>
          <a:xfrm>
            <a:off x="1803400" y="8724900"/>
            <a:ext cx="241300" cy="254000"/>
          </a:xfrm>
          <a:prstGeom prst="rect">
            <a:avLst/>
          </a:prstGeom>
          <a:noFill/>
          <a:ln w="25400" cap="flat" cmpd="sng">
            <a:noFill/>
            <a:prstDash val="solid"/>
            <a:round/>
          </a:ln>
        </p:spPr>
      </p:pic>
      <p:pic>
        <p:nvPicPr>
          <p:cNvPr id="27" name="Picture 27"/>
          <p:cNvPicPr>
            <a:picLocks noChangeAspect="1"/>
          </p:cNvPicPr>
          <p:nvPr/>
        </p:nvPicPr>
        <p:blipFill>
          <a:blip r:embed="rId12"/>
          <a:srcRect/>
          <a:stretch>
            <a:fillRect/>
          </a:stretch>
        </p:blipFill>
        <p:spPr>
          <a:xfrm>
            <a:off x="3352800" y="8724900"/>
            <a:ext cx="228600" cy="254000"/>
          </a:xfrm>
          <a:prstGeom prst="rect">
            <a:avLst/>
          </a:prstGeom>
          <a:noFill/>
          <a:ln w="25400" cap="flat" cmpd="sng">
            <a:noFill/>
            <a:prstDash val="solid"/>
            <a:round/>
          </a:ln>
        </p:spPr>
      </p:pic>
      <p:pic>
        <p:nvPicPr>
          <p:cNvPr id="28" name="Picture 28"/>
          <p:cNvPicPr>
            <a:picLocks noChangeAspect="1"/>
          </p:cNvPicPr>
          <p:nvPr/>
        </p:nvPicPr>
        <p:blipFill>
          <a:blip r:embed="rId13"/>
          <a:srcRect/>
          <a:stretch>
            <a:fillRect/>
          </a:stretch>
        </p:blipFill>
        <p:spPr>
          <a:xfrm>
            <a:off x="4114800" y="8724900"/>
            <a:ext cx="266700" cy="254000"/>
          </a:xfrm>
          <a:prstGeom prst="rect">
            <a:avLst/>
          </a:prstGeom>
          <a:noFill/>
          <a:ln w="25400" cap="flat" cmpd="sng">
            <a:noFill/>
            <a:prstDash val="solid"/>
            <a:round/>
          </a:ln>
        </p:spPr>
      </p:pic>
      <p:pic>
        <p:nvPicPr>
          <p:cNvPr id="29" name="Picture 29"/>
          <p:cNvPicPr>
            <a:picLocks noChangeAspect="1"/>
          </p:cNvPicPr>
          <p:nvPr/>
        </p:nvPicPr>
        <p:blipFill>
          <a:blip r:embed="rId14"/>
          <a:srcRect/>
          <a:stretch>
            <a:fillRect/>
          </a:stretch>
        </p:blipFill>
        <p:spPr>
          <a:xfrm>
            <a:off x="2578100" y="8724900"/>
            <a:ext cx="241300" cy="254000"/>
          </a:xfrm>
          <a:prstGeom prst="rect">
            <a:avLst/>
          </a:prstGeom>
          <a:noFill/>
          <a:ln w="25400" cap="flat" cmpd="sng">
            <a:noFill/>
            <a:prstDash val="solid"/>
            <a:round/>
          </a:ln>
        </p:spPr>
      </p:pic>
      <p:sp>
        <p:nvSpPr>
          <p:cNvPr id="30" name="AutoShape 30"/>
          <p:cNvSpPr/>
          <p:nvPr/>
        </p:nvSpPr>
        <p:spPr>
          <a:xfrm>
            <a:off x="1447800" y="5321300"/>
            <a:ext cx="7632700" cy="1016000"/>
          </a:xfrm>
          <a:prstGeom prst="rect">
            <a:avLst/>
          </a:prstGeom>
          <a:noFill/>
          <a:ln w="19050" cap="flat" cmpd="sng">
            <a:noFill/>
            <a:prstDash val="solid"/>
            <a:round/>
          </a:ln>
        </p:spPr>
        <p:txBody>
          <a:bodyPr vert="horz" wrap="square" lIns="0" tIns="0" rIns="0" bIns="0" rtlCol="0" anchor="t" anchorCtr="0"/>
          <a:lstStyle/>
          <a:p>
            <a:pPr indent="0" algn="l">
              <a:lnSpc>
                <a:spcPts val="3600"/>
              </a:lnSpc>
              <a:defRPr/>
            </a:pPr>
            <a:r>
              <a:rPr lang="en-US" sz="2400" b="1" i="0" u="none" strike="noStrike" dirty="0" err="1">
                <a:solidFill>
                  <a:srgbClr val="FF7A83"/>
                </a:solidFill>
                <a:latin typeface="Noto Sans SC"/>
                <a:ea typeface="Noto Sans SC"/>
                <a:cs typeface="Noto Sans SC"/>
                <a:sym typeface="Noto Sans SC"/>
              </a:rPr>
              <a:t>家庭生命树</a:t>
            </a:r>
            <a:r>
              <a:rPr lang="en-US" altLang="zh-CN" sz="2400" b="1" dirty="0">
                <a:solidFill>
                  <a:srgbClr val="FF7A83"/>
                </a:solidFill>
                <a:latin typeface="Noto Sans SC"/>
                <a:ea typeface="Noto Sans SC"/>
                <a:cs typeface="Noto Sans SC"/>
                <a:sym typeface="Noto Sans SC"/>
              </a:rPr>
              <a:t>——</a:t>
            </a:r>
            <a:r>
              <a:rPr lang="zh-CN" altLang="en-US" sz="2400" b="1" dirty="0">
                <a:solidFill>
                  <a:srgbClr val="FF7A83"/>
                </a:solidFill>
                <a:latin typeface="Noto Sans SC"/>
                <a:ea typeface="Noto Sans SC"/>
                <a:cs typeface="Noto Sans SC"/>
                <a:sym typeface="Noto Sans SC"/>
              </a:rPr>
              <a:t>家庭数字孪生</a:t>
            </a:r>
            <a:endParaRPr lang="en-US" sz="1100" dirty="0"/>
          </a:p>
          <a:p>
            <a:pPr indent="0" algn="l">
              <a:lnSpc>
                <a:spcPts val="3200"/>
              </a:lnSpc>
            </a:pPr>
            <a:r>
              <a:rPr lang="en-US" sz="1800" b="0" i="0" u="none" strike="noStrike" dirty="0" err="1">
                <a:solidFill>
                  <a:srgbClr val="646A73"/>
                </a:solidFill>
                <a:latin typeface="Noto Sans SC"/>
                <a:ea typeface="Noto Sans SC"/>
                <a:cs typeface="Noto Sans SC"/>
                <a:sym typeface="Noto Sans SC"/>
              </a:rPr>
              <a:t>重新定义家庭生活方式</a:t>
            </a:r>
            <a:r>
              <a:rPr lang="en-US" sz="1800" b="0" i="0" u="none" strike="noStrike" dirty="0">
                <a:solidFill>
                  <a:srgbClr val="646A73"/>
                </a:solidFill>
                <a:latin typeface="Noto Sans SC"/>
                <a:ea typeface="Noto Sans SC"/>
                <a:cs typeface="Noto Sans SC"/>
                <a:sym typeface="Noto Sans SC"/>
              </a:rPr>
              <a:t> | REDEFINING FAMILY LIFESTYLE</a:t>
            </a:r>
          </a:p>
        </p:txBody>
      </p:sp>
      <p:sp>
        <p:nvSpPr>
          <p:cNvPr id="32" name="AutoShape 32"/>
          <p:cNvSpPr/>
          <p:nvPr/>
        </p:nvSpPr>
        <p:spPr>
          <a:xfrm>
            <a:off x="1536700" y="7200900"/>
            <a:ext cx="2705100" cy="355600"/>
          </a:xfrm>
          <a:prstGeom prst="rect">
            <a:avLst/>
          </a:prstGeom>
          <a:noFill/>
          <a:ln w="19050" cap="flat" cmpd="sng">
            <a:noFill/>
            <a:prstDash val="solid"/>
            <a:round/>
          </a:ln>
        </p:spPr>
        <p:txBody>
          <a:bodyPr vert="horz" wrap="square" lIns="0" tIns="0" rIns="0" bIns="0" rtlCol="0" anchor="t" anchorCtr="0"/>
          <a:lstStyle/>
          <a:p>
            <a:pPr indent="0" algn="ctr">
              <a:lnSpc>
                <a:spcPts val="2879"/>
              </a:lnSpc>
              <a:defRPr/>
            </a:pPr>
            <a:r>
              <a:rPr lang="en-US" sz="2000" b="1" i="0" u="none" strike="noStrike">
                <a:solidFill>
                  <a:srgbClr val="FFFFFF"/>
                </a:solidFill>
                <a:latin typeface="Noto Sans SC"/>
                <a:ea typeface="Noto Sans SC"/>
                <a:cs typeface="Noto Sans SC"/>
                <a:sym typeface="Noto Sans SC"/>
              </a:rPr>
              <a:t>汇报人：[您的姓名]</a:t>
            </a:r>
            <a:endParaRPr lang="en-US" sz="1100"/>
          </a:p>
        </p:txBody>
      </p:sp>
      <p:sp>
        <p:nvSpPr>
          <p:cNvPr id="33" name="AutoShape 33"/>
          <p:cNvSpPr/>
          <p:nvPr/>
        </p:nvSpPr>
        <p:spPr>
          <a:xfrm>
            <a:off x="4597400" y="7188200"/>
            <a:ext cx="2032000" cy="355600"/>
          </a:xfrm>
          <a:prstGeom prst="rect">
            <a:avLst/>
          </a:prstGeom>
          <a:noFill/>
          <a:ln w="19050" cap="flat" cmpd="sng">
            <a:noFill/>
            <a:prstDash val="solid"/>
            <a:round/>
          </a:ln>
        </p:spPr>
        <p:txBody>
          <a:bodyPr vert="horz" wrap="square" lIns="0" tIns="0" rIns="0" bIns="0" rtlCol="0" anchor="t" anchorCtr="0"/>
          <a:lstStyle/>
          <a:p>
            <a:pPr indent="0" algn="ctr">
              <a:lnSpc>
                <a:spcPts val="2879"/>
              </a:lnSpc>
              <a:defRPr/>
            </a:pPr>
            <a:r>
              <a:rPr lang="en-US" sz="2000" b="1" i="0" u="none" strike="noStrike">
                <a:solidFill>
                  <a:srgbClr val="FFFFFF"/>
                </a:solidFill>
                <a:latin typeface="Noto Sans SC"/>
                <a:ea typeface="Noto Sans SC"/>
                <a:cs typeface="Noto Sans SC"/>
                <a:sym typeface="Noto Sans SC"/>
              </a:rPr>
              <a:t>2026年4月</a:t>
            </a:r>
            <a:endParaRPr lang="en-US" sz="1100"/>
          </a:p>
        </p:txBody>
      </p:sp>
      <p:sp>
        <p:nvSpPr>
          <p:cNvPr id="34" name="AutoShape 34"/>
          <p:cNvSpPr/>
          <p:nvPr/>
        </p:nvSpPr>
        <p:spPr>
          <a:xfrm>
            <a:off x="1524000" y="3302000"/>
            <a:ext cx="6477000" cy="457200"/>
          </a:xfrm>
          <a:prstGeom prst="rect">
            <a:avLst/>
          </a:prstGeom>
          <a:noFill/>
          <a:ln w="19050" cap="flat" cmpd="sng">
            <a:noFill/>
            <a:prstDash val="solid"/>
            <a:round/>
          </a:ln>
        </p:spPr>
        <p:txBody>
          <a:bodyPr vert="horz" wrap="square" lIns="0" tIns="0" rIns="0" bIns="0" rtlCol="0" anchor="t" anchorCtr="0"/>
          <a:lstStyle/>
          <a:p>
            <a:pPr indent="0" algn="l">
              <a:lnSpc>
                <a:spcPts val="3240"/>
              </a:lnSpc>
              <a:defRPr/>
            </a:pPr>
            <a:r>
              <a:rPr lang="en-US" sz="2400" b="1" i="0" u="none" strike="noStrike">
                <a:solidFill>
                  <a:srgbClr val="ADB9CA"/>
                </a:solidFill>
                <a:latin typeface="Montserrat"/>
                <a:ea typeface="Montserrat"/>
                <a:cs typeface="Montserrat"/>
                <a:sym typeface="Montserrat"/>
              </a:rPr>
              <a:t>SMART HOME BUTLER PLAN</a:t>
            </a:r>
            <a:endParaRPr lang="en-US" sz="1100"/>
          </a:p>
        </p:txBody>
      </p:sp>
      <p:sp>
        <p:nvSpPr>
          <p:cNvPr id="35" name="AutoShape 35"/>
          <p:cNvSpPr/>
          <p:nvPr/>
        </p:nvSpPr>
        <p:spPr>
          <a:xfrm>
            <a:off x="13665200" y="1168400"/>
            <a:ext cx="3276600" cy="558800"/>
          </a:xfrm>
          <a:prstGeom prst="rect">
            <a:avLst/>
          </a:prstGeom>
          <a:noFill/>
          <a:ln w="19050" cap="flat" cmpd="sng">
            <a:noFill/>
            <a:prstDash val="solid"/>
            <a:round/>
          </a:ln>
        </p:spPr>
        <p:txBody>
          <a:bodyPr vert="horz" wrap="square" lIns="0" tIns="0" rIns="0" bIns="0" rtlCol="0" anchor="t" anchorCtr="0"/>
          <a:lstStyle/>
          <a:p>
            <a:pPr indent="0" algn="r">
              <a:lnSpc>
                <a:spcPts val="1889"/>
              </a:lnSpc>
              <a:defRPr/>
            </a:pPr>
            <a:r>
              <a:rPr lang="en-US" sz="1400" b="0" i="0" u="none" strike="noStrike">
                <a:solidFill>
                  <a:srgbClr val="FFFFFF"/>
                </a:solidFill>
                <a:latin typeface="Montserrat"/>
                <a:ea typeface="Montserrat"/>
                <a:cs typeface="Montserrat"/>
                <a:sym typeface="Montserrat"/>
              </a:rPr>
              <a:t>INTELLIGENT LIFE SOLUTION</a:t>
            </a:r>
            <a:endParaRPr lang="en-US" sz="1100"/>
          </a:p>
        </p:txBody>
      </p:sp>
      <p:sp>
        <p:nvSpPr>
          <p:cNvPr id="36" name="AutoShape 36"/>
          <p:cNvSpPr/>
          <p:nvPr/>
        </p:nvSpPr>
        <p:spPr>
          <a:xfrm>
            <a:off x="15354300" y="6705600"/>
            <a:ext cx="1587500" cy="812800"/>
          </a:xfrm>
          <a:prstGeom prst="rect">
            <a:avLst/>
          </a:prstGeom>
          <a:noFill/>
          <a:ln w="19050" cap="flat" cmpd="sng">
            <a:noFill/>
            <a:prstDash val="solid"/>
            <a:round/>
          </a:ln>
        </p:spPr>
        <p:txBody>
          <a:bodyPr vert="horz" wrap="square" lIns="0" tIns="0" rIns="0" bIns="0" rtlCol="0" anchor="t" anchorCtr="0"/>
          <a:lstStyle/>
          <a:p>
            <a:pPr indent="0" algn="r">
              <a:lnSpc>
                <a:spcPts val="1980"/>
              </a:lnSpc>
              <a:defRPr/>
            </a:pPr>
            <a:r>
              <a:rPr lang="en-US" sz="1600" b="0" i="0" u="none" strike="noStrike">
                <a:solidFill>
                  <a:srgbClr val="FFFFFF"/>
                </a:solidFill>
                <a:latin typeface="Montserrat"/>
                <a:ea typeface="Montserrat"/>
                <a:cs typeface="Montserrat"/>
                <a:sym typeface="Montserrat"/>
              </a:rPr>
              <a:t>SMART</a:t>
            </a:r>
            <a:endParaRPr lang="en-US" sz="1100"/>
          </a:p>
          <a:p>
            <a:pPr indent="0" algn="r">
              <a:lnSpc>
                <a:spcPts val="1980"/>
              </a:lnSpc>
            </a:pPr>
            <a:r>
              <a:rPr lang="en-US" sz="1600" b="0" i="0" u="none" strike="noStrike">
                <a:solidFill>
                  <a:srgbClr val="FFFFFF"/>
                </a:solidFill>
                <a:latin typeface="Montserrat"/>
                <a:ea typeface="Montserrat"/>
                <a:cs typeface="Montserrat"/>
                <a:sym typeface="Montserrat"/>
              </a:rPr>
              <a:t>AI DRIVEN</a:t>
            </a:r>
          </a:p>
          <a:p>
            <a:pPr indent="0" algn="r">
              <a:lnSpc>
                <a:spcPts val="1980"/>
              </a:lnSpc>
            </a:pPr>
            <a:r>
              <a:rPr lang="en-US" sz="1600" b="0" i="0" u="none" strike="noStrike">
                <a:solidFill>
                  <a:srgbClr val="FFFFFF"/>
                </a:solidFill>
                <a:latin typeface="Montserrat"/>
                <a:ea typeface="Montserrat"/>
                <a:cs typeface="Montserrat"/>
                <a:sym typeface="Montserrat"/>
              </a:rPr>
              <a:t>FUTURE</a:t>
            </a:r>
          </a:p>
        </p:txBody>
      </p:sp>
      <p:sp>
        <p:nvSpPr>
          <p:cNvPr id="37" name="AutoShape 37"/>
          <p:cNvSpPr/>
          <p:nvPr/>
        </p:nvSpPr>
        <p:spPr>
          <a:xfrm>
            <a:off x="15417800" y="9410700"/>
            <a:ext cx="2336800" cy="330200"/>
          </a:xfrm>
          <a:prstGeom prst="rect">
            <a:avLst/>
          </a:prstGeom>
          <a:noFill/>
          <a:ln w="19050" cap="flat" cmpd="sng">
            <a:noFill/>
            <a:prstDash val="solid"/>
            <a:round/>
          </a:ln>
        </p:spPr>
        <p:txBody>
          <a:bodyPr vert="horz" wrap="square" lIns="0" tIns="0" rIns="0" bIns="0" rtlCol="0" anchor="t" anchorCtr="0"/>
          <a:lstStyle/>
          <a:p>
            <a:pPr indent="0" algn="l">
              <a:lnSpc>
                <a:spcPts val="2160"/>
              </a:lnSpc>
              <a:defRPr/>
            </a:pPr>
            <a:r>
              <a:rPr lang="en-US" sz="1400" b="0" i="0" u="none" strike="noStrike">
                <a:solidFill>
                  <a:srgbClr val="E6E6E6"/>
                </a:solidFill>
                <a:latin typeface="Montserrat"/>
                <a:ea typeface="Montserrat"/>
                <a:cs typeface="Montserrat"/>
                <a:sym typeface="Montserrat"/>
              </a:rPr>
              <a:t>BUSINESS PROPOSAL</a:t>
            </a:r>
            <a:endParaRPr lang="en-US" sz="1100"/>
          </a:p>
        </p:txBody>
      </p:sp>
      <p:sp>
        <p:nvSpPr>
          <p:cNvPr id="38" name="AutoShape 38"/>
          <p:cNvSpPr/>
          <p:nvPr/>
        </p:nvSpPr>
        <p:spPr>
          <a:xfrm>
            <a:off x="15849600" y="825500"/>
            <a:ext cx="2349500" cy="241300"/>
          </a:xfrm>
          <a:prstGeom prst="rect">
            <a:avLst/>
          </a:prstGeom>
          <a:noFill/>
          <a:ln w="19050" cap="flat" cmpd="sng">
            <a:noFill/>
            <a:prstDash val="solid"/>
            <a:round/>
          </a:ln>
        </p:spPr>
        <p:txBody>
          <a:bodyPr vert="horz" wrap="square" lIns="0" tIns="0" rIns="0" bIns="0" rtlCol="0" anchor="t" anchorCtr="0"/>
          <a:lstStyle/>
          <a:p>
            <a:pPr indent="0" algn="l">
              <a:lnSpc>
                <a:spcPts val="1980"/>
              </a:lnSpc>
              <a:defRPr/>
            </a:pPr>
            <a:r>
              <a:rPr lang="en-US" sz="1400" b="0" i="0" u="none" strike="noStrike">
                <a:solidFill>
                  <a:srgbClr val="FFFFFF"/>
                </a:solidFill>
                <a:latin typeface="Noto Sans SC"/>
                <a:ea typeface="Noto Sans SC"/>
                <a:cs typeface="Noto Sans SC"/>
                <a:sym typeface="Noto Sans SC"/>
              </a:rPr>
              <a:t>PROJECT 2026</a:t>
            </a:r>
            <a:endParaRPr lang="en-US" sz="110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>
            <a:alpha val="100000"/>
          </a:srgb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2"/>
          <p:cNvPicPr>
            <a:picLocks noChangeAspect="1"/>
          </p:cNvPicPr>
          <p:nvPr/>
        </p:nvPicPr>
        <p:blipFill>
          <a:blip r:embed="rId3"/>
          <a:srcRect/>
          <a:stretch>
            <a:fillRect/>
          </a:stretch>
        </p:blipFill>
        <p:spPr>
          <a:xfrm>
            <a:off x="0" y="0"/>
            <a:ext cx="18288000" cy="10287000"/>
          </a:xfrm>
          <a:prstGeom prst="rect">
            <a:avLst/>
          </a:prstGeom>
          <a:noFill/>
          <a:ln w="25400" cap="flat" cmpd="sng">
            <a:noFill/>
            <a:prstDash val="solid"/>
            <a:round/>
          </a:ln>
        </p:spPr>
      </p:pic>
      <p:pic>
        <p:nvPicPr>
          <p:cNvPr id="3" name="Picture 3"/>
          <p:cNvPicPr>
            <a:picLocks noChangeAspect="1"/>
          </p:cNvPicPr>
          <p:nvPr/>
        </p:nvPicPr>
        <p:blipFill>
          <a:blip r:embed="rId4"/>
          <a:srcRect/>
          <a:stretch>
            <a:fillRect/>
          </a:stretch>
        </p:blipFill>
        <p:spPr>
          <a:xfrm>
            <a:off x="16357600" y="7226300"/>
            <a:ext cx="1943100" cy="3060700"/>
          </a:xfrm>
          <a:prstGeom prst="rect">
            <a:avLst/>
          </a:prstGeom>
          <a:noFill/>
          <a:ln w="25400" cap="flat" cmpd="sng">
            <a:noFill/>
            <a:prstDash val="solid"/>
            <a:round/>
          </a:ln>
        </p:spPr>
      </p:pic>
      <p:pic>
        <p:nvPicPr>
          <p:cNvPr id="4" name="Picture 4"/>
          <p:cNvPicPr>
            <a:picLocks noChangeAspect="1"/>
          </p:cNvPicPr>
          <p:nvPr/>
        </p:nvPicPr>
        <p:blipFill>
          <a:blip r:embed="rId5"/>
          <a:srcRect/>
          <a:stretch>
            <a:fillRect/>
          </a:stretch>
        </p:blipFill>
        <p:spPr>
          <a:xfrm>
            <a:off x="9626600" y="9639300"/>
            <a:ext cx="4813300" cy="647700"/>
          </a:xfrm>
          <a:prstGeom prst="rect">
            <a:avLst/>
          </a:prstGeom>
          <a:noFill/>
          <a:ln w="25400" cap="flat" cmpd="sng">
            <a:noFill/>
            <a:prstDash val="solid"/>
            <a:round/>
          </a:ln>
        </p:spPr>
      </p:pic>
      <p:pic>
        <p:nvPicPr>
          <p:cNvPr id="5" name="Picture 5"/>
          <p:cNvPicPr>
            <a:picLocks noChangeAspect="1"/>
          </p:cNvPicPr>
          <p:nvPr/>
        </p:nvPicPr>
        <p:blipFill>
          <a:blip r:embed="rId6"/>
          <a:srcRect/>
          <a:stretch>
            <a:fillRect/>
          </a:stretch>
        </p:blipFill>
        <p:spPr>
          <a:xfrm>
            <a:off x="1193800" y="1219200"/>
            <a:ext cx="15875000" cy="2247900"/>
          </a:xfrm>
          <a:prstGeom prst="rect">
            <a:avLst/>
          </a:prstGeom>
          <a:noFill/>
          <a:ln w="25400" cap="flat" cmpd="sng">
            <a:noFill/>
            <a:prstDash val="solid"/>
            <a:round/>
          </a:ln>
        </p:spPr>
      </p:pic>
      <p:sp>
        <p:nvSpPr>
          <p:cNvPr id="6" name="AutoShape 6"/>
          <p:cNvSpPr/>
          <p:nvPr/>
        </p:nvSpPr>
        <p:spPr>
          <a:xfrm>
            <a:off x="1892300" y="1714500"/>
            <a:ext cx="3213100" cy="1384300"/>
          </a:xfrm>
          <a:prstGeom prst="rect">
            <a:avLst/>
          </a:prstGeom>
          <a:noFill/>
          <a:ln w="19050" cap="flat" cmpd="sng">
            <a:noFill/>
            <a:prstDash val="solid"/>
            <a:round/>
          </a:ln>
        </p:spPr>
        <p:txBody>
          <a:bodyPr vert="horz" wrap="square" lIns="0" tIns="0" rIns="0" bIns="0" rtlCol="0" anchor="t" anchorCtr="0"/>
          <a:lstStyle/>
          <a:p>
            <a:pPr indent="0" algn="l">
              <a:lnSpc>
                <a:spcPts val="10800"/>
              </a:lnSpc>
              <a:defRPr/>
            </a:pPr>
            <a:r>
              <a:rPr lang="en-US" sz="9000" b="0" i="0" u="none" strike="noStrike">
                <a:solidFill>
                  <a:srgbClr val="FFFFFF"/>
                </a:solidFill>
                <a:latin typeface="Noto Sans SC"/>
                <a:ea typeface="Noto Sans SC"/>
                <a:cs typeface="Noto Sans SC"/>
                <a:sym typeface="Noto Sans SC"/>
              </a:rPr>
              <a:t>目录</a:t>
            </a:r>
            <a:endParaRPr lang="en-US" sz="1100"/>
          </a:p>
        </p:txBody>
      </p:sp>
      <p:sp>
        <p:nvSpPr>
          <p:cNvPr id="7" name="AutoShape 7"/>
          <p:cNvSpPr/>
          <p:nvPr/>
        </p:nvSpPr>
        <p:spPr>
          <a:xfrm>
            <a:off x="4445000" y="2578100"/>
            <a:ext cx="5613400" cy="457200"/>
          </a:xfrm>
          <a:prstGeom prst="rect">
            <a:avLst/>
          </a:prstGeom>
          <a:noFill/>
          <a:ln w="19050" cap="flat" cmpd="sng">
            <a:noFill/>
            <a:prstDash val="solid"/>
            <a:round/>
          </a:ln>
        </p:spPr>
        <p:txBody>
          <a:bodyPr vert="horz" wrap="square" lIns="0" tIns="0" rIns="0" bIns="0" rtlCol="0" anchor="t" anchorCtr="0"/>
          <a:lstStyle/>
          <a:p>
            <a:pPr indent="0" algn="just">
              <a:lnSpc>
                <a:spcPts val="3240"/>
              </a:lnSpc>
              <a:defRPr/>
            </a:pPr>
            <a:r>
              <a:rPr lang="en-US" sz="2700" b="0" i="0" u="none" strike="noStrike">
                <a:solidFill>
                  <a:srgbClr val="FFFFFF"/>
                </a:solidFill>
                <a:latin typeface="Montserrat"/>
                <a:ea typeface="Montserrat"/>
                <a:cs typeface="Montserrat"/>
                <a:sym typeface="Montserrat"/>
              </a:rPr>
              <a:t>CONTENTES</a:t>
            </a:r>
            <a:endParaRPr lang="en-US" sz="1100"/>
          </a:p>
        </p:txBody>
      </p:sp>
      <p:pic>
        <p:nvPicPr>
          <p:cNvPr id="8" name="Picture 8"/>
          <p:cNvPicPr>
            <a:picLocks noChangeAspect="1"/>
          </p:cNvPicPr>
          <p:nvPr/>
        </p:nvPicPr>
        <p:blipFill>
          <a:blip r:embed="rId7"/>
          <a:srcRect/>
          <a:stretch>
            <a:fillRect/>
          </a:stretch>
        </p:blipFill>
        <p:spPr>
          <a:xfrm>
            <a:off x="11328400" y="1778000"/>
            <a:ext cx="5740400" cy="1676400"/>
          </a:xfrm>
          <a:prstGeom prst="rect">
            <a:avLst/>
          </a:prstGeom>
          <a:noFill/>
          <a:ln w="25400" cap="flat" cmpd="sng">
            <a:noFill/>
            <a:prstDash val="solid"/>
            <a:round/>
          </a:ln>
        </p:spPr>
      </p:pic>
      <p:pic>
        <p:nvPicPr>
          <p:cNvPr id="9" name="Picture 9"/>
          <p:cNvPicPr>
            <a:picLocks noChangeAspect="1"/>
          </p:cNvPicPr>
          <p:nvPr/>
        </p:nvPicPr>
        <p:blipFill>
          <a:blip r:embed="rId8"/>
          <a:srcRect/>
          <a:stretch>
            <a:fillRect/>
          </a:stretch>
        </p:blipFill>
        <p:spPr>
          <a:xfrm>
            <a:off x="13131800" y="0"/>
            <a:ext cx="5156200" cy="6629400"/>
          </a:xfrm>
          <a:prstGeom prst="rect">
            <a:avLst/>
          </a:prstGeom>
          <a:noFill/>
          <a:ln w="25400" cap="flat" cmpd="sng">
            <a:noFill/>
            <a:prstDash val="solid"/>
            <a:round/>
          </a:ln>
        </p:spPr>
      </p:pic>
      <p:cxnSp>
        <p:nvCxnSpPr>
          <p:cNvPr id="10" name="Connector 10"/>
          <p:cNvCxnSpPr/>
          <p:nvPr/>
        </p:nvCxnSpPr>
        <p:spPr>
          <a:xfrm rot="5553">
            <a:off x="4508485" y="2266950"/>
            <a:ext cx="7861341" cy="12700"/>
          </a:xfrm>
          <a:prstGeom prst="line">
            <a:avLst/>
          </a:prstGeom>
          <a:solidFill>
            <a:srgbClr val="DEE0E3">
              <a:alpha val="100000"/>
            </a:srgbClr>
          </a:solidFill>
          <a:ln w="12700" cap="rnd" cmpd="sng">
            <a:solidFill>
              <a:srgbClr val="FFFFFF">
                <a:alpha val="100000"/>
              </a:srgbClr>
            </a:solidFill>
            <a:prstDash val="solid"/>
            <a:miter lim="10000000"/>
            <a:headEnd type="none" w="sm" len="sm"/>
            <a:tailEnd type="none" w="sm" len="sm"/>
          </a:ln>
        </p:spPr>
      </p:cxnSp>
      <p:sp>
        <p:nvSpPr>
          <p:cNvPr id="11" name="AutoShape 11"/>
          <p:cNvSpPr/>
          <p:nvPr/>
        </p:nvSpPr>
        <p:spPr>
          <a:xfrm>
            <a:off x="1511300" y="4927600"/>
            <a:ext cx="1104900" cy="508000"/>
          </a:xfrm>
          <a:prstGeom prst="rect">
            <a:avLst/>
          </a:prstGeom>
          <a:noFill/>
          <a:ln w="19050" cap="flat" cmpd="sng">
            <a:noFill/>
            <a:prstDash val="solid"/>
            <a:round/>
          </a:ln>
        </p:spPr>
        <p:txBody>
          <a:bodyPr vert="horz" wrap="square" lIns="0" tIns="0" rIns="0" bIns="0" rtlCol="0" anchor="t" anchorCtr="0"/>
          <a:lstStyle/>
          <a:p>
            <a:pPr indent="0" algn="ctr">
              <a:lnSpc>
                <a:spcPts val="3600"/>
              </a:lnSpc>
              <a:defRPr/>
            </a:pPr>
            <a:r>
              <a:rPr lang="en-US" sz="3000" b="1" i="0" u="none" strike="noStrike">
                <a:solidFill>
                  <a:srgbClr val="FFB364"/>
                </a:solidFill>
                <a:latin typeface="Montserrat Medium"/>
                <a:ea typeface="Montserrat Medium"/>
                <a:cs typeface="Montserrat Medium"/>
                <a:sym typeface="Montserrat Medium"/>
              </a:rPr>
              <a:t>01</a:t>
            </a:r>
            <a:endParaRPr lang="en-US" sz="1100"/>
          </a:p>
        </p:txBody>
      </p:sp>
      <p:sp>
        <p:nvSpPr>
          <p:cNvPr id="12" name="AutoShape 12"/>
          <p:cNvSpPr/>
          <p:nvPr/>
        </p:nvSpPr>
        <p:spPr>
          <a:xfrm>
            <a:off x="5410200" y="5080000"/>
            <a:ext cx="3048000" cy="762000"/>
          </a:xfrm>
          <a:prstGeom prst="rect">
            <a:avLst/>
          </a:prstGeom>
          <a:noFill/>
          <a:ln w="19050" cap="flat" cmpd="sng">
            <a:noFill/>
            <a:prstDash val="solid"/>
            <a:round/>
          </a:ln>
        </p:spPr>
        <p:txBody>
          <a:bodyPr vert="horz" wrap="square" lIns="0" tIns="0" rIns="0" bIns="0" rtlCol="0" anchor="t" anchorCtr="0"/>
          <a:lstStyle/>
          <a:p>
            <a:pPr indent="0" algn="l">
              <a:lnSpc>
                <a:spcPts val="2400"/>
              </a:lnSpc>
              <a:defRPr/>
            </a:pPr>
            <a:r>
              <a:rPr lang="en-US" sz="1400" b="0" i="0" u="none" strike="noStrike">
                <a:solidFill>
                  <a:srgbClr val="8497B0"/>
                </a:solidFill>
                <a:latin typeface="Noto Sans SC"/>
                <a:ea typeface="Noto Sans SC"/>
                <a:cs typeface="Noto Sans SC"/>
                <a:sym typeface="Noto Sans SC"/>
              </a:rPr>
              <a:t>市场规模、痛点与机会</a:t>
            </a:r>
            <a:endParaRPr lang="en-US" sz="1100"/>
          </a:p>
        </p:txBody>
      </p:sp>
      <p:sp>
        <p:nvSpPr>
          <p:cNvPr id="13" name="AutoShape 13"/>
          <p:cNvSpPr/>
          <p:nvPr/>
        </p:nvSpPr>
        <p:spPr>
          <a:xfrm>
            <a:off x="2692400" y="5283200"/>
            <a:ext cx="3708400" cy="546100"/>
          </a:xfrm>
          <a:prstGeom prst="rect">
            <a:avLst/>
          </a:prstGeom>
          <a:noFill/>
          <a:ln w="19050" cap="flat" cmpd="sng">
            <a:noFill/>
            <a:prstDash val="solid"/>
            <a:round/>
          </a:ln>
        </p:spPr>
        <p:txBody>
          <a:bodyPr vert="horz" wrap="square" lIns="0" tIns="0" rIns="0" bIns="0" rtlCol="0" anchor="t" anchorCtr="0"/>
          <a:lstStyle/>
          <a:p>
            <a:pPr indent="0" algn="l">
              <a:lnSpc>
                <a:spcPts val="4320"/>
              </a:lnSpc>
              <a:defRPr/>
            </a:pPr>
            <a:r>
              <a:rPr lang="en-US" sz="3600" b="0" i="0" u="none" strike="noStrike">
                <a:solidFill>
                  <a:srgbClr val="F89469"/>
                </a:solidFill>
                <a:latin typeface="Noto Sans SC"/>
                <a:ea typeface="Noto Sans SC"/>
                <a:cs typeface="Noto Sans SC"/>
                <a:sym typeface="Noto Sans SC"/>
              </a:rPr>
              <a:t>市场分析</a:t>
            </a:r>
            <a:endParaRPr lang="en-US" sz="1100"/>
          </a:p>
        </p:txBody>
      </p:sp>
      <p:sp>
        <p:nvSpPr>
          <p:cNvPr id="14" name="AutoShape 14"/>
          <p:cNvSpPr/>
          <p:nvPr/>
        </p:nvSpPr>
        <p:spPr>
          <a:xfrm>
            <a:off x="2806700" y="4940300"/>
            <a:ext cx="2755900" cy="254000"/>
          </a:xfrm>
          <a:prstGeom prst="rect">
            <a:avLst/>
          </a:prstGeom>
          <a:noFill/>
          <a:ln w="19050" cap="flat" cmpd="sng">
            <a:noFill/>
            <a:prstDash val="solid"/>
            <a:round/>
          </a:ln>
        </p:spPr>
        <p:txBody>
          <a:bodyPr vert="horz" wrap="square" lIns="0" tIns="0" rIns="0" bIns="0" rtlCol="0" anchor="t" anchorCtr="0"/>
          <a:lstStyle/>
          <a:p>
            <a:pPr indent="0" algn="l">
              <a:lnSpc>
                <a:spcPts val="1620"/>
              </a:lnSpc>
              <a:defRPr/>
            </a:pPr>
            <a:r>
              <a:rPr lang="en-US" sz="1400" b="0" i="0" u="none" strike="noStrike">
                <a:solidFill>
                  <a:srgbClr val="8497B0"/>
                </a:solidFill>
                <a:latin typeface="Montserrat"/>
                <a:ea typeface="Montserrat"/>
                <a:cs typeface="Montserrat"/>
                <a:sym typeface="Montserrat"/>
              </a:rPr>
              <a:t>Market Analysis</a:t>
            </a:r>
            <a:endParaRPr lang="en-US" sz="1100"/>
          </a:p>
        </p:txBody>
      </p:sp>
      <p:cxnSp>
        <p:nvCxnSpPr>
          <p:cNvPr id="15" name="Connector 15"/>
          <p:cNvCxnSpPr/>
          <p:nvPr/>
        </p:nvCxnSpPr>
        <p:spPr>
          <a:xfrm rot="5400004">
            <a:off x="2057357" y="5461042"/>
            <a:ext cx="952585" cy="12700"/>
          </a:xfrm>
          <a:prstGeom prst="line">
            <a:avLst/>
          </a:prstGeom>
          <a:solidFill>
            <a:srgbClr val="DEE0E3">
              <a:alpha val="100000"/>
            </a:srgbClr>
          </a:solidFill>
          <a:ln w="12700" cap="rnd" cmpd="sng">
            <a:solidFill>
              <a:srgbClr val="FF7A83">
                <a:alpha val="100000"/>
              </a:srgbClr>
            </a:solidFill>
            <a:prstDash val="solid"/>
            <a:miter lim="10000000"/>
            <a:headEnd type="none" w="sm" len="sm"/>
            <a:tailEnd type="none" w="sm" len="sm"/>
          </a:ln>
        </p:spPr>
      </p:cxnSp>
      <p:sp>
        <p:nvSpPr>
          <p:cNvPr id="16" name="AutoShape 16"/>
          <p:cNvSpPr/>
          <p:nvPr/>
        </p:nvSpPr>
        <p:spPr>
          <a:xfrm>
            <a:off x="1511300" y="7086600"/>
            <a:ext cx="1104900" cy="508000"/>
          </a:xfrm>
          <a:prstGeom prst="rect">
            <a:avLst/>
          </a:prstGeom>
          <a:noFill/>
          <a:ln w="19050" cap="flat" cmpd="sng">
            <a:noFill/>
            <a:prstDash val="solid"/>
            <a:round/>
          </a:ln>
        </p:spPr>
        <p:txBody>
          <a:bodyPr vert="horz" wrap="square" lIns="0" tIns="0" rIns="0" bIns="0" rtlCol="0" anchor="t" anchorCtr="0"/>
          <a:lstStyle/>
          <a:p>
            <a:pPr indent="0" algn="ctr">
              <a:lnSpc>
                <a:spcPts val="3600"/>
              </a:lnSpc>
              <a:defRPr/>
            </a:pPr>
            <a:r>
              <a:rPr lang="en-US" sz="3000" b="1" i="0" u="none" strike="noStrike">
                <a:solidFill>
                  <a:srgbClr val="FFB364"/>
                </a:solidFill>
                <a:latin typeface="Montserrat Medium"/>
                <a:ea typeface="Montserrat Medium"/>
                <a:cs typeface="Montserrat Medium"/>
                <a:sym typeface="Montserrat Medium"/>
              </a:rPr>
              <a:t>03</a:t>
            </a:r>
            <a:endParaRPr lang="en-US" sz="1100"/>
          </a:p>
        </p:txBody>
      </p:sp>
      <p:sp>
        <p:nvSpPr>
          <p:cNvPr id="17" name="AutoShape 17"/>
          <p:cNvSpPr/>
          <p:nvPr/>
        </p:nvSpPr>
        <p:spPr>
          <a:xfrm>
            <a:off x="5410200" y="7239000"/>
            <a:ext cx="3048000" cy="762000"/>
          </a:xfrm>
          <a:prstGeom prst="rect">
            <a:avLst/>
          </a:prstGeom>
          <a:noFill/>
          <a:ln w="19050" cap="flat" cmpd="sng">
            <a:noFill/>
            <a:prstDash val="solid"/>
            <a:round/>
          </a:ln>
        </p:spPr>
        <p:txBody>
          <a:bodyPr vert="horz" wrap="square" lIns="0" tIns="0" rIns="0" bIns="0" rtlCol="0" anchor="t" anchorCtr="0"/>
          <a:lstStyle/>
          <a:p>
            <a:pPr indent="0" algn="l">
              <a:lnSpc>
                <a:spcPts val="2400"/>
              </a:lnSpc>
              <a:defRPr/>
            </a:pPr>
            <a:r>
              <a:rPr lang="en-US" sz="1400" b="0" i="0" u="none" strike="noStrike">
                <a:solidFill>
                  <a:srgbClr val="8497B0"/>
                </a:solidFill>
                <a:latin typeface="Noto Sans SC"/>
                <a:ea typeface="Noto Sans SC"/>
                <a:cs typeface="Noto Sans SC"/>
                <a:sym typeface="Noto Sans SC"/>
              </a:rPr>
              <a:t>收入来源、目标用户与市场策略</a:t>
            </a:r>
            <a:endParaRPr lang="en-US" sz="1100"/>
          </a:p>
        </p:txBody>
      </p:sp>
      <p:sp>
        <p:nvSpPr>
          <p:cNvPr id="18" name="AutoShape 18"/>
          <p:cNvSpPr/>
          <p:nvPr/>
        </p:nvSpPr>
        <p:spPr>
          <a:xfrm>
            <a:off x="2692400" y="7442200"/>
            <a:ext cx="3708400" cy="546100"/>
          </a:xfrm>
          <a:prstGeom prst="rect">
            <a:avLst/>
          </a:prstGeom>
          <a:noFill/>
          <a:ln w="19050" cap="flat" cmpd="sng">
            <a:noFill/>
            <a:prstDash val="solid"/>
            <a:round/>
          </a:ln>
        </p:spPr>
        <p:txBody>
          <a:bodyPr vert="horz" wrap="square" lIns="0" tIns="0" rIns="0" bIns="0" rtlCol="0" anchor="t" anchorCtr="0"/>
          <a:lstStyle/>
          <a:p>
            <a:pPr indent="0" algn="l">
              <a:lnSpc>
                <a:spcPts val="4320"/>
              </a:lnSpc>
              <a:defRPr/>
            </a:pPr>
            <a:r>
              <a:rPr lang="en-US" sz="3600" b="0" i="0" u="none" strike="noStrike">
                <a:solidFill>
                  <a:srgbClr val="F89469"/>
                </a:solidFill>
                <a:latin typeface="Noto Sans SC"/>
                <a:ea typeface="Noto Sans SC"/>
                <a:cs typeface="Noto Sans SC"/>
                <a:sym typeface="Noto Sans SC"/>
              </a:rPr>
              <a:t>商业模式</a:t>
            </a:r>
            <a:endParaRPr lang="en-US" sz="1100"/>
          </a:p>
        </p:txBody>
      </p:sp>
      <p:sp>
        <p:nvSpPr>
          <p:cNvPr id="19" name="AutoShape 19"/>
          <p:cNvSpPr/>
          <p:nvPr/>
        </p:nvSpPr>
        <p:spPr>
          <a:xfrm>
            <a:off x="2806700" y="7099300"/>
            <a:ext cx="2755900" cy="254000"/>
          </a:xfrm>
          <a:prstGeom prst="rect">
            <a:avLst/>
          </a:prstGeom>
          <a:noFill/>
          <a:ln w="19050" cap="flat" cmpd="sng">
            <a:noFill/>
            <a:prstDash val="solid"/>
            <a:round/>
          </a:ln>
        </p:spPr>
        <p:txBody>
          <a:bodyPr vert="horz" wrap="square" lIns="0" tIns="0" rIns="0" bIns="0" rtlCol="0" anchor="t" anchorCtr="0"/>
          <a:lstStyle/>
          <a:p>
            <a:pPr indent="0" algn="l">
              <a:lnSpc>
                <a:spcPts val="1620"/>
              </a:lnSpc>
              <a:defRPr/>
            </a:pPr>
            <a:r>
              <a:rPr lang="en-US" sz="1400" b="0" i="0" u="none" strike="noStrike">
                <a:solidFill>
                  <a:srgbClr val="8497B0"/>
                </a:solidFill>
                <a:latin typeface="Montserrat"/>
                <a:ea typeface="Montserrat"/>
                <a:cs typeface="Montserrat"/>
                <a:sym typeface="Montserrat"/>
              </a:rPr>
              <a:t>Business Model</a:t>
            </a:r>
            <a:endParaRPr lang="en-US" sz="1100"/>
          </a:p>
        </p:txBody>
      </p:sp>
      <p:cxnSp>
        <p:nvCxnSpPr>
          <p:cNvPr id="20" name="Connector 20"/>
          <p:cNvCxnSpPr/>
          <p:nvPr/>
        </p:nvCxnSpPr>
        <p:spPr>
          <a:xfrm rot="5400004">
            <a:off x="2063707" y="7613693"/>
            <a:ext cx="939886" cy="12700"/>
          </a:xfrm>
          <a:prstGeom prst="line">
            <a:avLst/>
          </a:prstGeom>
          <a:solidFill>
            <a:srgbClr val="DEE0E3">
              <a:alpha val="100000"/>
            </a:srgbClr>
          </a:solidFill>
          <a:ln w="12700" cap="rnd" cmpd="sng">
            <a:solidFill>
              <a:srgbClr val="FF7A83">
                <a:alpha val="100000"/>
              </a:srgbClr>
            </a:solidFill>
            <a:prstDash val="solid"/>
            <a:miter lim="10000000"/>
            <a:headEnd type="none" w="sm" len="sm"/>
            <a:tailEnd type="none" w="sm" len="sm"/>
          </a:ln>
        </p:spPr>
      </p:cxnSp>
      <p:sp>
        <p:nvSpPr>
          <p:cNvPr id="21" name="AutoShape 21"/>
          <p:cNvSpPr/>
          <p:nvPr/>
        </p:nvSpPr>
        <p:spPr>
          <a:xfrm>
            <a:off x="9499600" y="4927600"/>
            <a:ext cx="1104900" cy="508000"/>
          </a:xfrm>
          <a:prstGeom prst="rect">
            <a:avLst/>
          </a:prstGeom>
          <a:noFill/>
          <a:ln w="19050" cap="flat" cmpd="sng">
            <a:noFill/>
            <a:prstDash val="solid"/>
            <a:round/>
          </a:ln>
        </p:spPr>
        <p:txBody>
          <a:bodyPr vert="horz" wrap="square" lIns="0" tIns="0" rIns="0" bIns="0" rtlCol="0" anchor="t" anchorCtr="0"/>
          <a:lstStyle/>
          <a:p>
            <a:pPr indent="0" algn="ctr">
              <a:lnSpc>
                <a:spcPts val="3600"/>
              </a:lnSpc>
              <a:defRPr/>
            </a:pPr>
            <a:r>
              <a:rPr lang="en-US" sz="3000" b="1" i="0" u="none" strike="noStrike">
                <a:solidFill>
                  <a:srgbClr val="FFB364"/>
                </a:solidFill>
                <a:latin typeface="Montserrat Medium"/>
                <a:ea typeface="Montserrat Medium"/>
                <a:cs typeface="Montserrat Medium"/>
                <a:sym typeface="Montserrat Medium"/>
              </a:rPr>
              <a:t>02</a:t>
            </a:r>
            <a:endParaRPr lang="en-US" sz="1100"/>
          </a:p>
        </p:txBody>
      </p:sp>
      <p:sp>
        <p:nvSpPr>
          <p:cNvPr id="22" name="AutoShape 22"/>
          <p:cNvSpPr/>
          <p:nvPr/>
        </p:nvSpPr>
        <p:spPr>
          <a:xfrm>
            <a:off x="13398500" y="5080000"/>
            <a:ext cx="2794000" cy="889000"/>
          </a:xfrm>
          <a:prstGeom prst="rect">
            <a:avLst/>
          </a:prstGeom>
          <a:noFill/>
          <a:ln w="19050" cap="flat" cmpd="sng">
            <a:noFill/>
            <a:prstDash val="solid"/>
            <a:round/>
          </a:ln>
        </p:spPr>
        <p:txBody>
          <a:bodyPr vert="horz" wrap="square" lIns="0" tIns="0" rIns="0" bIns="0" rtlCol="0" anchor="t" anchorCtr="0"/>
          <a:lstStyle/>
          <a:p>
            <a:pPr indent="0" algn="l">
              <a:lnSpc>
                <a:spcPts val="2400"/>
              </a:lnSpc>
              <a:defRPr/>
            </a:pPr>
            <a:r>
              <a:rPr lang="en-US" sz="1400" b="0" i="0" u="none" strike="noStrike">
                <a:solidFill>
                  <a:srgbClr val="8497B0"/>
                </a:solidFill>
                <a:latin typeface="Noto Sans SC"/>
                <a:ea typeface="Noto Sans SC"/>
                <a:cs typeface="Noto Sans SC"/>
                <a:sym typeface="Noto Sans SC"/>
              </a:rPr>
              <a:t>产品定位、核心功能与技术优势</a:t>
            </a:r>
            <a:endParaRPr lang="en-US" sz="1100"/>
          </a:p>
        </p:txBody>
      </p:sp>
      <p:sp>
        <p:nvSpPr>
          <p:cNvPr id="23" name="AutoShape 23"/>
          <p:cNvSpPr/>
          <p:nvPr/>
        </p:nvSpPr>
        <p:spPr>
          <a:xfrm>
            <a:off x="10680700" y="5283200"/>
            <a:ext cx="3708400" cy="546100"/>
          </a:xfrm>
          <a:prstGeom prst="rect">
            <a:avLst/>
          </a:prstGeom>
          <a:noFill/>
          <a:ln w="19050" cap="flat" cmpd="sng">
            <a:noFill/>
            <a:prstDash val="solid"/>
            <a:round/>
          </a:ln>
        </p:spPr>
        <p:txBody>
          <a:bodyPr vert="horz" wrap="square" lIns="0" tIns="0" rIns="0" bIns="0" rtlCol="0" anchor="t" anchorCtr="0"/>
          <a:lstStyle/>
          <a:p>
            <a:pPr indent="0" algn="l">
              <a:lnSpc>
                <a:spcPts val="4320"/>
              </a:lnSpc>
              <a:defRPr/>
            </a:pPr>
            <a:r>
              <a:rPr lang="en-US" sz="3600" b="0" i="0" u="none" strike="noStrike">
                <a:solidFill>
                  <a:srgbClr val="F89469"/>
                </a:solidFill>
                <a:latin typeface="Noto Sans SC"/>
                <a:ea typeface="Noto Sans SC"/>
                <a:cs typeface="Noto Sans SC"/>
                <a:sym typeface="Noto Sans SC"/>
              </a:rPr>
              <a:t>产品介绍</a:t>
            </a:r>
            <a:endParaRPr lang="en-US" sz="1100"/>
          </a:p>
        </p:txBody>
      </p:sp>
      <p:sp>
        <p:nvSpPr>
          <p:cNvPr id="24" name="AutoShape 24"/>
          <p:cNvSpPr/>
          <p:nvPr/>
        </p:nvSpPr>
        <p:spPr>
          <a:xfrm>
            <a:off x="10795000" y="4940300"/>
            <a:ext cx="2755900" cy="254000"/>
          </a:xfrm>
          <a:prstGeom prst="rect">
            <a:avLst/>
          </a:prstGeom>
          <a:noFill/>
          <a:ln w="19050" cap="flat" cmpd="sng">
            <a:noFill/>
            <a:prstDash val="solid"/>
            <a:round/>
          </a:ln>
        </p:spPr>
        <p:txBody>
          <a:bodyPr vert="horz" wrap="square" lIns="0" tIns="0" rIns="0" bIns="0" rtlCol="0" anchor="t" anchorCtr="0"/>
          <a:lstStyle/>
          <a:p>
            <a:pPr indent="0" algn="l">
              <a:lnSpc>
                <a:spcPts val="1620"/>
              </a:lnSpc>
              <a:defRPr/>
            </a:pPr>
            <a:r>
              <a:rPr lang="en-US" sz="1400" b="0" i="0" u="none" strike="noStrike">
                <a:solidFill>
                  <a:srgbClr val="8497B0"/>
                </a:solidFill>
                <a:latin typeface="Montserrat"/>
                <a:ea typeface="Montserrat"/>
                <a:cs typeface="Montserrat"/>
                <a:sym typeface="Montserrat"/>
              </a:rPr>
              <a:t>Product Introduction</a:t>
            </a:r>
            <a:endParaRPr lang="en-US" sz="1100"/>
          </a:p>
        </p:txBody>
      </p:sp>
      <p:cxnSp>
        <p:nvCxnSpPr>
          <p:cNvPr id="25" name="Connector 25"/>
          <p:cNvCxnSpPr/>
          <p:nvPr/>
        </p:nvCxnSpPr>
        <p:spPr>
          <a:xfrm rot="5400004">
            <a:off x="10045657" y="5461042"/>
            <a:ext cx="952585" cy="12700"/>
          </a:xfrm>
          <a:prstGeom prst="line">
            <a:avLst/>
          </a:prstGeom>
          <a:solidFill>
            <a:srgbClr val="DEE0E3">
              <a:alpha val="100000"/>
            </a:srgbClr>
          </a:solidFill>
          <a:ln w="12700" cap="rnd" cmpd="sng">
            <a:solidFill>
              <a:srgbClr val="FF7A83">
                <a:alpha val="100000"/>
              </a:srgbClr>
            </a:solidFill>
            <a:prstDash val="solid"/>
            <a:miter lim="10000000"/>
            <a:headEnd type="none" w="sm" len="sm"/>
            <a:tailEnd type="none" w="sm" len="sm"/>
          </a:ln>
        </p:spPr>
      </p:cxnSp>
      <p:sp>
        <p:nvSpPr>
          <p:cNvPr id="26" name="AutoShape 26"/>
          <p:cNvSpPr/>
          <p:nvPr/>
        </p:nvSpPr>
        <p:spPr>
          <a:xfrm>
            <a:off x="9499600" y="7086600"/>
            <a:ext cx="1104900" cy="508000"/>
          </a:xfrm>
          <a:prstGeom prst="rect">
            <a:avLst/>
          </a:prstGeom>
          <a:noFill/>
          <a:ln w="19050" cap="flat" cmpd="sng">
            <a:noFill/>
            <a:prstDash val="solid"/>
            <a:round/>
          </a:ln>
        </p:spPr>
        <p:txBody>
          <a:bodyPr vert="horz" wrap="square" lIns="0" tIns="0" rIns="0" bIns="0" rtlCol="0" anchor="t" anchorCtr="0"/>
          <a:lstStyle/>
          <a:p>
            <a:pPr indent="0" algn="ctr">
              <a:lnSpc>
                <a:spcPts val="3600"/>
              </a:lnSpc>
              <a:defRPr/>
            </a:pPr>
            <a:r>
              <a:rPr lang="en-US" sz="3000" b="1" i="0" u="none" strike="noStrike">
                <a:solidFill>
                  <a:srgbClr val="FFB364"/>
                </a:solidFill>
                <a:latin typeface="Montserrat Medium"/>
                <a:ea typeface="Montserrat Medium"/>
                <a:cs typeface="Montserrat Medium"/>
                <a:sym typeface="Montserrat Medium"/>
              </a:rPr>
              <a:t>04</a:t>
            </a:r>
            <a:endParaRPr lang="en-US" sz="1100"/>
          </a:p>
        </p:txBody>
      </p:sp>
      <p:sp>
        <p:nvSpPr>
          <p:cNvPr id="27" name="AutoShape 27"/>
          <p:cNvSpPr/>
          <p:nvPr/>
        </p:nvSpPr>
        <p:spPr>
          <a:xfrm>
            <a:off x="13398500" y="7239000"/>
            <a:ext cx="2794000" cy="889000"/>
          </a:xfrm>
          <a:prstGeom prst="rect">
            <a:avLst/>
          </a:prstGeom>
          <a:noFill/>
          <a:ln w="19050" cap="flat" cmpd="sng">
            <a:noFill/>
            <a:prstDash val="solid"/>
            <a:round/>
          </a:ln>
        </p:spPr>
        <p:txBody>
          <a:bodyPr vert="horz" wrap="square" lIns="0" tIns="0" rIns="0" bIns="0" rtlCol="0" anchor="t" anchorCtr="0"/>
          <a:lstStyle/>
          <a:p>
            <a:pPr indent="0" algn="l">
              <a:lnSpc>
                <a:spcPts val="2400"/>
              </a:lnSpc>
              <a:defRPr/>
            </a:pPr>
            <a:r>
              <a:rPr lang="en-US" sz="1400" b="0" i="0" u="none" strike="noStrike" dirty="0" err="1">
                <a:solidFill>
                  <a:srgbClr val="8497B0"/>
                </a:solidFill>
                <a:latin typeface="Noto Sans SC"/>
                <a:ea typeface="Noto Sans SC"/>
                <a:cs typeface="Noto Sans SC"/>
                <a:sym typeface="Noto Sans SC"/>
              </a:rPr>
              <a:t>产品路线图、融资需求</a:t>
            </a:r>
            <a:r>
              <a:rPr lang="zh-CN" altLang="en-US" sz="1400" b="0" i="0" u="none" strike="noStrike" dirty="0">
                <a:solidFill>
                  <a:srgbClr val="8497B0"/>
                </a:solidFill>
                <a:latin typeface="Noto Sans SC"/>
                <a:ea typeface="Noto Sans SC"/>
                <a:cs typeface="Noto Sans SC"/>
                <a:sym typeface="Noto Sans SC"/>
              </a:rPr>
              <a:t>、团队介绍</a:t>
            </a:r>
            <a:endParaRPr lang="en-US" sz="1100" dirty="0"/>
          </a:p>
        </p:txBody>
      </p:sp>
      <p:sp>
        <p:nvSpPr>
          <p:cNvPr id="28" name="AutoShape 28"/>
          <p:cNvSpPr/>
          <p:nvPr/>
        </p:nvSpPr>
        <p:spPr>
          <a:xfrm>
            <a:off x="10680700" y="7442200"/>
            <a:ext cx="3708400" cy="546100"/>
          </a:xfrm>
          <a:prstGeom prst="rect">
            <a:avLst/>
          </a:prstGeom>
          <a:noFill/>
          <a:ln w="19050" cap="flat" cmpd="sng">
            <a:noFill/>
            <a:prstDash val="solid"/>
            <a:round/>
          </a:ln>
        </p:spPr>
        <p:txBody>
          <a:bodyPr vert="horz" wrap="square" lIns="0" tIns="0" rIns="0" bIns="0" rtlCol="0" anchor="t" anchorCtr="0"/>
          <a:lstStyle/>
          <a:p>
            <a:pPr indent="0" algn="l">
              <a:lnSpc>
                <a:spcPts val="4320"/>
              </a:lnSpc>
              <a:defRPr/>
            </a:pPr>
            <a:r>
              <a:rPr lang="en-US" sz="3600" b="0" i="0" u="none" strike="noStrike">
                <a:solidFill>
                  <a:srgbClr val="F89469"/>
                </a:solidFill>
                <a:latin typeface="Noto Sans SC"/>
                <a:ea typeface="Noto Sans SC"/>
                <a:cs typeface="Noto Sans SC"/>
                <a:sym typeface="Noto Sans SC"/>
              </a:rPr>
              <a:t>发展规划</a:t>
            </a:r>
            <a:endParaRPr lang="en-US" sz="1100"/>
          </a:p>
        </p:txBody>
      </p:sp>
      <p:sp>
        <p:nvSpPr>
          <p:cNvPr id="29" name="AutoShape 29"/>
          <p:cNvSpPr/>
          <p:nvPr/>
        </p:nvSpPr>
        <p:spPr>
          <a:xfrm>
            <a:off x="10795000" y="7099300"/>
            <a:ext cx="2755900" cy="254000"/>
          </a:xfrm>
          <a:prstGeom prst="rect">
            <a:avLst/>
          </a:prstGeom>
          <a:noFill/>
          <a:ln w="19050" cap="flat" cmpd="sng">
            <a:noFill/>
            <a:prstDash val="solid"/>
            <a:round/>
          </a:ln>
        </p:spPr>
        <p:txBody>
          <a:bodyPr vert="horz" wrap="square" lIns="0" tIns="0" rIns="0" bIns="0" rtlCol="0" anchor="t" anchorCtr="0"/>
          <a:lstStyle/>
          <a:p>
            <a:pPr indent="0" algn="l">
              <a:lnSpc>
                <a:spcPts val="1620"/>
              </a:lnSpc>
              <a:defRPr/>
            </a:pPr>
            <a:r>
              <a:rPr lang="en-US" sz="1400" b="0" i="0" u="none" strike="noStrike">
                <a:solidFill>
                  <a:srgbClr val="8497B0"/>
                </a:solidFill>
                <a:latin typeface="Montserrat"/>
                <a:ea typeface="Montserrat"/>
                <a:cs typeface="Montserrat"/>
                <a:sym typeface="Montserrat"/>
              </a:rPr>
              <a:t>Development Plan</a:t>
            </a:r>
            <a:endParaRPr lang="en-US" sz="1100"/>
          </a:p>
        </p:txBody>
      </p:sp>
      <p:cxnSp>
        <p:nvCxnSpPr>
          <p:cNvPr id="30" name="Connector 30"/>
          <p:cNvCxnSpPr/>
          <p:nvPr/>
        </p:nvCxnSpPr>
        <p:spPr>
          <a:xfrm rot="5400004">
            <a:off x="10052007" y="7613693"/>
            <a:ext cx="939886" cy="12700"/>
          </a:xfrm>
          <a:prstGeom prst="line">
            <a:avLst/>
          </a:prstGeom>
          <a:solidFill>
            <a:srgbClr val="DEE0E3">
              <a:alpha val="100000"/>
            </a:srgbClr>
          </a:solidFill>
          <a:ln w="12700" cap="rnd" cmpd="sng">
            <a:solidFill>
              <a:srgbClr val="FF7A83">
                <a:alpha val="100000"/>
              </a:srgbClr>
            </a:solidFill>
            <a:prstDash val="solid"/>
            <a:miter lim="10000000"/>
            <a:headEnd type="none" w="sm" len="sm"/>
            <a:tailEnd type="none" w="sm" len="sm"/>
          </a:ln>
        </p:spPr>
      </p:cxnSp>
      <p:pic>
        <p:nvPicPr>
          <p:cNvPr id="31" name="Picture 31"/>
          <p:cNvPicPr>
            <a:picLocks noChangeAspect="1"/>
          </p:cNvPicPr>
          <p:nvPr/>
        </p:nvPicPr>
        <p:blipFill>
          <a:blip r:embed="rId9"/>
          <a:srcRect/>
          <a:stretch>
            <a:fillRect/>
          </a:stretch>
        </p:blipFill>
        <p:spPr>
          <a:xfrm>
            <a:off x="13754100" y="8826500"/>
            <a:ext cx="4533900" cy="1460500"/>
          </a:xfrm>
          <a:prstGeom prst="rect">
            <a:avLst/>
          </a:prstGeom>
          <a:noFill/>
          <a:ln w="25400" cap="flat" cmpd="sng">
            <a:noFill/>
            <a:prstDash val="solid"/>
            <a:round/>
          </a:ln>
        </p:spPr>
      </p:pic>
      <p:pic>
        <p:nvPicPr>
          <p:cNvPr id="32" name="Picture 32"/>
          <p:cNvPicPr>
            <a:picLocks noChangeAspect="1"/>
          </p:cNvPicPr>
          <p:nvPr/>
        </p:nvPicPr>
        <p:blipFill>
          <a:blip r:embed="rId10"/>
          <a:srcRect/>
          <a:stretch>
            <a:fillRect/>
          </a:stretch>
        </p:blipFill>
        <p:spPr>
          <a:xfrm>
            <a:off x="0" y="9004300"/>
            <a:ext cx="1587500" cy="1282700"/>
          </a:xfrm>
          <a:prstGeom prst="rect">
            <a:avLst/>
          </a:prstGeom>
          <a:noFill/>
          <a:ln w="25400" cap="flat" cmpd="sng">
            <a:noFill/>
            <a:prstDash val="solid"/>
            <a:round/>
          </a:ln>
        </p:spPr>
      </p:pic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>
            <a:alpha val="100000"/>
          </a:srgb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2"/>
          <p:cNvPicPr>
            <a:picLocks noChangeAspect="1"/>
          </p:cNvPicPr>
          <p:nvPr/>
        </p:nvPicPr>
        <p:blipFill>
          <a:blip r:embed="rId3"/>
          <a:srcRect/>
          <a:stretch>
            <a:fillRect/>
          </a:stretch>
        </p:blipFill>
        <p:spPr>
          <a:xfrm>
            <a:off x="10020300" y="-12700"/>
            <a:ext cx="8280400" cy="9372600"/>
          </a:xfrm>
          <a:prstGeom prst="rect">
            <a:avLst/>
          </a:prstGeom>
          <a:noFill/>
          <a:ln w="25400" cap="flat" cmpd="sng">
            <a:noFill/>
            <a:prstDash val="solid"/>
            <a:round/>
          </a:ln>
        </p:spPr>
      </p:pic>
      <p:pic>
        <p:nvPicPr>
          <p:cNvPr id="3" name="Picture 3"/>
          <p:cNvPicPr>
            <a:picLocks noChangeAspect="1"/>
          </p:cNvPicPr>
          <p:nvPr/>
        </p:nvPicPr>
        <p:blipFill>
          <a:blip r:embed="rId4"/>
          <a:srcRect/>
          <a:stretch>
            <a:fillRect/>
          </a:stretch>
        </p:blipFill>
        <p:spPr>
          <a:xfrm>
            <a:off x="11201400" y="0"/>
            <a:ext cx="7086600" cy="8318500"/>
          </a:xfrm>
          <a:prstGeom prst="rect">
            <a:avLst/>
          </a:prstGeom>
          <a:noFill/>
          <a:ln w="25400" cap="flat" cmpd="sng">
            <a:noFill/>
            <a:prstDash val="solid"/>
            <a:round/>
          </a:ln>
        </p:spPr>
      </p:pic>
      <p:sp>
        <p:nvSpPr>
          <p:cNvPr id="4" name="AutoShape 4"/>
          <p:cNvSpPr/>
          <p:nvPr/>
        </p:nvSpPr>
        <p:spPr>
          <a:xfrm>
            <a:off x="1447800" y="3784600"/>
            <a:ext cx="10782300" cy="1384300"/>
          </a:xfrm>
          <a:prstGeom prst="rect">
            <a:avLst/>
          </a:prstGeom>
          <a:noFill/>
          <a:ln w="19050" cap="flat" cmpd="sng">
            <a:noFill/>
            <a:prstDash val="solid"/>
            <a:round/>
          </a:ln>
        </p:spPr>
        <p:txBody>
          <a:bodyPr vert="horz" wrap="square" lIns="0" tIns="0" rIns="0" bIns="0" rtlCol="0" anchor="t" anchorCtr="0"/>
          <a:lstStyle/>
          <a:p>
            <a:pPr indent="0" algn="l">
              <a:lnSpc>
                <a:spcPts val="10800"/>
              </a:lnSpc>
              <a:defRPr/>
            </a:pPr>
            <a:r>
              <a:rPr lang="en-US" sz="9000" b="0" i="0" u="none" strike="noStrike">
                <a:solidFill>
                  <a:srgbClr val="FFB458"/>
                </a:solidFill>
                <a:latin typeface="Noto Sans SC"/>
                <a:ea typeface="Noto Sans SC"/>
                <a:cs typeface="Noto Sans SC"/>
                <a:sym typeface="Noto Sans SC"/>
              </a:rPr>
              <a:t>市场分析</a:t>
            </a:r>
            <a:endParaRPr lang="en-US" sz="1100"/>
          </a:p>
        </p:txBody>
      </p:sp>
      <p:pic>
        <p:nvPicPr>
          <p:cNvPr id="5" name="Picture 5"/>
          <p:cNvPicPr>
            <a:picLocks noChangeAspect="1"/>
          </p:cNvPicPr>
          <p:nvPr/>
        </p:nvPicPr>
        <p:blipFill>
          <a:blip r:embed="rId5"/>
          <a:srcRect/>
          <a:stretch>
            <a:fillRect/>
          </a:stretch>
        </p:blipFill>
        <p:spPr>
          <a:xfrm>
            <a:off x="0" y="1574800"/>
            <a:ext cx="1587500" cy="6997700"/>
          </a:xfrm>
          <a:prstGeom prst="rect">
            <a:avLst/>
          </a:prstGeom>
          <a:noFill/>
          <a:ln w="25400" cap="flat" cmpd="sng">
            <a:noFill/>
            <a:prstDash val="solid"/>
            <a:round/>
          </a:ln>
        </p:spPr>
      </p:pic>
      <p:sp>
        <p:nvSpPr>
          <p:cNvPr id="6" name="AutoShape 6"/>
          <p:cNvSpPr/>
          <p:nvPr/>
        </p:nvSpPr>
        <p:spPr>
          <a:xfrm>
            <a:off x="1447800" y="5257800"/>
            <a:ext cx="8496300" cy="1612900"/>
          </a:xfrm>
          <a:prstGeom prst="rect">
            <a:avLst/>
          </a:prstGeom>
          <a:noFill/>
          <a:ln w="19050" cap="flat" cmpd="sng">
            <a:noFill/>
            <a:prstDash val="solid"/>
            <a:round/>
          </a:ln>
        </p:spPr>
        <p:txBody>
          <a:bodyPr vert="horz" wrap="square" lIns="0" tIns="0" rIns="0" bIns="0" rtlCol="0" anchor="t" anchorCtr="0"/>
          <a:lstStyle/>
          <a:p>
            <a:pPr indent="0" algn="l">
              <a:lnSpc>
                <a:spcPts val="3276"/>
              </a:lnSpc>
              <a:defRPr/>
            </a:pPr>
            <a:r>
              <a:rPr lang="en-US" sz="2100" b="0" i="0" u="none" strike="noStrike">
                <a:solidFill>
                  <a:srgbClr val="ADB9CA"/>
                </a:solidFill>
                <a:latin typeface="Noto Sans SC"/>
                <a:ea typeface="Noto Sans SC"/>
                <a:cs typeface="Noto Sans SC"/>
                <a:sym typeface="Noto Sans SC"/>
              </a:rPr>
              <a:t>智能家居市场正处于高速增长的黄金时期，但仍存在诸多未被满足的需求，这为我们的产品提供了巨大的市场机会。</a:t>
            </a:r>
            <a:endParaRPr lang="en-US" sz="1100"/>
          </a:p>
        </p:txBody>
      </p:sp>
      <p:pic>
        <p:nvPicPr>
          <p:cNvPr id="7" name="Picture 7"/>
          <p:cNvPicPr>
            <a:picLocks noChangeAspect="1"/>
          </p:cNvPicPr>
          <p:nvPr/>
        </p:nvPicPr>
        <p:blipFill>
          <a:blip r:embed="rId6"/>
          <a:srcRect/>
          <a:stretch>
            <a:fillRect/>
          </a:stretch>
        </p:blipFill>
        <p:spPr>
          <a:xfrm>
            <a:off x="12395200" y="0"/>
            <a:ext cx="5892800" cy="7302500"/>
          </a:xfrm>
          <a:prstGeom prst="rect">
            <a:avLst/>
          </a:prstGeom>
          <a:noFill/>
          <a:ln w="25400" cap="flat" cmpd="sng">
            <a:noFill/>
            <a:prstDash val="solid"/>
            <a:round/>
          </a:ln>
        </p:spPr>
      </p:pic>
      <p:pic>
        <p:nvPicPr>
          <p:cNvPr id="11" name="Picture 11"/>
          <p:cNvPicPr>
            <a:picLocks noChangeAspect="1"/>
          </p:cNvPicPr>
          <p:nvPr/>
        </p:nvPicPr>
        <p:blipFill>
          <a:blip r:embed="rId7"/>
          <a:srcRect/>
          <a:stretch>
            <a:fillRect/>
          </a:stretch>
        </p:blipFill>
        <p:spPr>
          <a:xfrm>
            <a:off x="1587500" y="8585200"/>
            <a:ext cx="533400" cy="533400"/>
          </a:xfrm>
          <a:prstGeom prst="rect">
            <a:avLst/>
          </a:prstGeom>
          <a:noFill/>
          <a:ln w="25400" cap="flat" cmpd="sng">
            <a:noFill/>
            <a:prstDash val="solid"/>
            <a:round/>
          </a:ln>
        </p:spPr>
      </p:pic>
      <p:sp>
        <p:nvSpPr>
          <p:cNvPr id="12" name="Freeform 12"/>
          <p:cNvSpPr/>
          <p:nvPr/>
        </p:nvSpPr>
        <p:spPr>
          <a:xfrm>
            <a:off x="2349500" y="8585200"/>
            <a:ext cx="548164" cy="548259"/>
          </a:xfrm>
          <a:custGeom>
            <a:avLst/>
            <a:gdLst/>
            <a:ahLst/>
            <a:cxnLst/>
            <a:rect l="l" t="t" r="r" b="b"/>
            <a:pathLst>
              <a:path w="548164" h="548259">
                <a:moveTo>
                  <a:pt x="0" y="274130"/>
                </a:moveTo>
                <a:cubicBezTo>
                  <a:pt x="0" y="122682"/>
                  <a:pt x="122682" y="0"/>
                  <a:pt x="274130" y="0"/>
                </a:cubicBezTo>
                <a:lnTo>
                  <a:pt x="274130" y="9525"/>
                </a:lnTo>
                <a:lnTo>
                  <a:pt x="274130" y="0"/>
                </a:lnTo>
                <a:cubicBezTo>
                  <a:pt x="425482" y="0"/>
                  <a:pt x="548164" y="122682"/>
                  <a:pt x="548164" y="274130"/>
                </a:cubicBezTo>
                <a:lnTo>
                  <a:pt x="538639" y="274130"/>
                </a:lnTo>
                <a:lnTo>
                  <a:pt x="548164" y="274130"/>
                </a:lnTo>
                <a:cubicBezTo>
                  <a:pt x="548164" y="425482"/>
                  <a:pt x="425482" y="548259"/>
                  <a:pt x="274034" y="548259"/>
                </a:cubicBezTo>
                <a:lnTo>
                  <a:pt x="274034" y="538734"/>
                </a:lnTo>
                <a:lnTo>
                  <a:pt x="274034" y="548259"/>
                </a:lnTo>
                <a:cubicBezTo>
                  <a:pt x="122682" y="548164"/>
                  <a:pt x="0" y="425482"/>
                  <a:pt x="0" y="274130"/>
                </a:cubicBezTo>
                <a:lnTo>
                  <a:pt x="9525" y="274130"/>
                </a:lnTo>
                <a:lnTo>
                  <a:pt x="19050" y="274130"/>
                </a:lnTo>
                <a:lnTo>
                  <a:pt x="9525" y="274130"/>
                </a:lnTo>
                <a:lnTo>
                  <a:pt x="0" y="274130"/>
                </a:lnTo>
                <a:moveTo>
                  <a:pt x="19050" y="274130"/>
                </a:moveTo>
                <a:cubicBezTo>
                  <a:pt x="19050" y="279368"/>
                  <a:pt x="14764" y="283654"/>
                  <a:pt x="9525" y="283654"/>
                </a:cubicBezTo>
                <a:cubicBezTo>
                  <a:pt x="4286" y="283654"/>
                  <a:pt x="0" y="279368"/>
                  <a:pt x="0" y="274130"/>
                </a:cubicBezTo>
                <a:cubicBezTo>
                  <a:pt x="0" y="268891"/>
                  <a:pt x="4286" y="264604"/>
                  <a:pt x="9525" y="264604"/>
                </a:cubicBezTo>
                <a:cubicBezTo>
                  <a:pt x="14764" y="264604"/>
                  <a:pt x="19050" y="268891"/>
                  <a:pt x="19050" y="274130"/>
                </a:cubicBezTo>
                <a:cubicBezTo>
                  <a:pt x="19050" y="414909"/>
                  <a:pt x="133255" y="529114"/>
                  <a:pt x="274130" y="529114"/>
                </a:cubicBezTo>
                <a:cubicBezTo>
                  <a:pt x="415004" y="529114"/>
                  <a:pt x="529114" y="414909"/>
                  <a:pt x="529114" y="274130"/>
                </a:cubicBezTo>
                <a:cubicBezTo>
                  <a:pt x="529114" y="133350"/>
                  <a:pt x="414909" y="19050"/>
                  <a:pt x="274130" y="19050"/>
                </a:cubicBezTo>
                <a:lnTo>
                  <a:pt x="274130" y="9525"/>
                </a:lnTo>
                <a:lnTo>
                  <a:pt x="274130" y="19050"/>
                </a:lnTo>
                <a:cubicBezTo>
                  <a:pt x="133255" y="19050"/>
                  <a:pt x="19050" y="133255"/>
                  <a:pt x="19050" y="274130"/>
                </a:cubicBezTo>
                <a:close/>
              </a:path>
            </a:pathLst>
          </a:custGeom>
          <a:solidFill>
            <a:srgbClr val="FF7A83">
              <a:alpha val="100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  <a:endParaRPr/>
          </a:p>
        </p:txBody>
      </p:sp>
      <p:sp>
        <p:nvSpPr>
          <p:cNvPr id="13" name="Freeform 13"/>
          <p:cNvSpPr/>
          <p:nvPr/>
        </p:nvSpPr>
        <p:spPr>
          <a:xfrm>
            <a:off x="3124200" y="8585200"/>
            <a:ext cx="548164" cy="548259"/>
          </a:xfrm>
          <a:custGeom>
            <a:avLst/>
            <a:gdLst/>
            <a:ahLst/>
            <a:cxnLst/>
            <a:rect l="l" t="t" r="r" b="b"/>
            <a:pathLst>
              <a:path w="548164" h="548259">
                <a:moveTo>
                  <a:pt x="0" y="274130"/>
                </a:moveTo>
                <a:cubicBezTo>
                  <a:pt x="0" y="122682"/>
                  <a:pt x="122682" y="0"/>
                  <a:pt x="274129" y="0"/>
                </a:cubicBezTo>
                <a:lnTo>
                  <a:pt x="274129" y="9525"/>
                </a:lnTo>
                <a:lnTo>
                  <a:pt x="274129" y="0"/>
                </a:lnTo>
                <a:cubicBezTo>
                  <a:pt x="425482" y="0"/>
                  <a:pt x="548164" y="122682"/>
                  <a:pt x="548164" y="274130"/>
                </a:cubicBezTo>
                <a:lnTo>
                  <a:pt x="538639" y="274130"/>
                </a:lnTo>
                <a:lnTo>
                  <a:pt x="548164" y="274130"/>
                </a:lnTo>
                <a:cubicBezTo>
                  <a:pt x="548164" y="425482"/>
                  <a:pt x="425482" y="548259"/>
                  <a:pt x="274034" y="548259"/>
                </a:cubicBezTo>
                <a:lnTo>
                  <a:pt x="274034" y="538734"/>
                </a:lnTo>
                <a:lnTo>
                  <a:pt x="274034" y="548259"/>
                </a:lnTo>
                <a:cubicBezTo>
                  <a:pt x="122682" y="548164"/>
                  <a:pt x="0" y="425482"/>
                  <a:pt x="0" y="274130"/>
                </a:cubicBezTo>
                <a:lnTo>
                  <a:pt x="9525" y="274130"/>
                </a:lnTo>
                <a:lnTo>
                  <a:pt x="19050" y="274130"/>
                </a:lnTo>
                <a:lnTo>
                  <a:pt x="9525" y="274130"/>
                </a:lnTo>
                <a:lnTo>
                  <a:pt x="0" y="274130"/>
                </a:lnTo>
                <a:moveTo>
                  <a:pt x="19050" y="274130"/>
                </a:moveTo>
                <a:cubicBezTo>
                  <a:pt x="19050" y="279368"/>
                  <a:pt x="14764" y="283654"/>
                  <a:pt x="9525" y="283654"/>
                </a:cubicBezTo>
                <a:cubicBezTo>
                  <a:pt x="4286" y="283654"/>
                  <a:pt x="0" y="279368"/>
                  <a:pt x="0" y="274130"/>
                </a:cubicBezTo>
                <a:cubicBezTo>
                  <a:pt x="0" y="268891"/>
                  <a:pt x="4286" y="264604"/>
                  <a:pt x="9525" y="264604"/>
                </a:cubicBezTo>
                <a:cubicBezTo>
                  <a:pt x="14764" y="264604"/>
                  <a:pt x="19050" y="268891"/>
                  <a:pt x="19050" y="274130"/>
                </a:cubicBezTo>
                <a:cubicBezTo>
                  <a:pt x="19050" y="414909"/>
                  <a:pt x="133255" y="529114"/>
                  <a:pt x="274129" y="529114"/>
                </a:cubicBezTo>
                <a:cubicBezTo>
                  <a:pt x="415004" y="529114"/>
                  <a:pt x="529114" y="414909"/>
                  <a:pt x="529114" y="274130"/>
                </a:cubicBezTo>
                <a:cubicBezTo>
                  <a:pt x="529114" y="133350"/>
                  <a:pt x="414909" y="19050"/>
                  <a:pt x="274129" y="19050"/>
                </a:cubicBezTo>
                <a:lnTo>
                  <a:pt x="274129" y="9525"/>
                </a:lnTo>
                <a:lnTo>
                  <a:pt x="274129" y="19050"/>
                </a:lnTo>
                <a:cubicBezTo>
                  <a:pt x="133255" y="19050"/>
                  <a:pt x="19050" y="133255"/>
                  <a:pt x="19050" y="274130"/>
                </a:cubicBezTo>
                <a:close/>
              </a:path>
            </a:pathLst>
          </a:custGeom>
          <a:solidFill>
            <a:srgbClr val="FF7A83">
              <a:alpha val="100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  <a:endParaRPr/>
          </a:p>
        </p:txBody>
      </p:sp>
      <p:sp>
        <p:nvSpPr>
          <p:cNvPr id="14" name="Freeform 14"/>
          <p:cNvSpPr/>
          <p:nvPr/>
        </p:nvSpPr>
        <p:spPr>
          <a:xfrm>
            <a:off x="3898900" y="8585200"/>
            <a:ext cx="548164" cy="548259"/>
          </a:xfrm>
          <a:custGeom>
            <a:avLst/>
            <a:gdLst/>
            <a:ahLst/>
            <a:cxnLst/>
            <a:rect l="l" t="t" r="r" b="b"/>
            <a:pathLst>
              <a:path w="548164" h="548259">
                <a:moveTo>
                  <a:pt x="0" y="274130"/>
                </a:moveTo>
                <a:cubicBezTo>
                  <a:pt x="0" y="122682"/>
                  <a:pt x="122682" y="0"/>
                  <a:pt x="274129" y="0"/>
                </a:cubicBezTo>
                <a:lnTo>
                  <a:pt x="274129" y="9525"/>
                </a:lnTo>
                <a:lnTo>
                  <a:pt x="274129" y="0"/>
                </a:lnTo>
                <a:cubicBezTo>
                  <a:pt x="425482" y="0"/>
                  <a:pt x="548164" y="122682"/>
                  <a:pt x="548164" y="274130"/>
                </a:cubicBezTo>
                <a:lnTo>
                  <a:pt x="538639" y="274130"/>
                </a:lnTo>
                <a:lnTo>
                  <a:pt x="548164" y="274130"/>
                </a:lnTo>
                <a:cubicBezTo>
                  <a:pt x="548164" y="425482"/>
                  <a:pt x="425482" y="548259"/>
                  <a:pt x="274034" y="548259"/>
                </a:cubicBezTo>
                <a:lnTo>
                  <a:pt x="274034" y="538734"/>
                </a:lnTo>
                <a:lnTo>
                  <a:pt x="274034" y="548259"/>
                </a:lnTo>
                <a:cubicBezTo>
                  <a:pt x="122682" y="548164"/>
                  <a:pt x="0" y="425482"/>
                  <a:pt x="0" y="274130"/>
                </a:cubicBezTo>
                <a:lnTo>
                  <a:pt x="9525" y="274130"/>
                </a:lnTo>
                <a:lnTo>
                  <a:pt x="19050" y="274130"/>
                </a:lnTo>
                <a:lnTo>
                  <a:pt x="9525" y="274130"/>
                </a:lnTo>
                <a:lnTo>
                  <a:pt x="0" y="274130"/>
                </a:lnTo>
                <a:moveTo>
                  <a:pt x="19050" y="274130"/>
                </a:moveTo>
                <a:cubicBezTo>
                  <a:pt x="19050" y="279368"/>
                  <a:pt x="14764" y="283654"/>
                  <a:pt x="9525" y="283654"/>
                </a:cubicBezTo>
                <a:cubicBezTo>
                  <a:pt x="4286" y="283654"/>
                  <a:pt x="0" y="279368"/>
                  <a:pt x="0" y="274130"/>
                </a:cubicBezTo>
                <a:cubicBezTo>
                  <a:pt x="0" y="268891"/>
                  <a:pt x="4286" y="264604"/>
                  <a:pt x="9525" y="264604"/>
                </a:cubicBezTo>
                <a:cubicBezTo>
                  <a:pt x="14764" y="264604"/>
                  <a:pt x="19050" y="268891"/>
                  <a:pt x="19050" y="274130"/>
                </a:cubicBezTo>
                <a:cubicBezTo>
                  <a:pt x="19050" y="414909"/>
                  <a:pt x="133255" y="529114"/>
                  <a:pt x="274129" y="529114"/>
                </a:cubicBezTo>
                <a:cubicBezTo>
                  <a:pt x="415004" y="529114"/>
                  <a:pt x="529114" y="414909"/>
                  <a:pt x="529114" y="274130"/>
                </a:cubicBezTo>
                <a:cubicBezTo>
                  <a:pt x="529114" y="133350"/>
                  <a:pt x="414909" y="19050"/>
                  <a:pt x="274129" y="19050"/>
                </a:cubicBezTo>
                <a:lnTo>
                  <a:pt x="274129" y="9525"/>
                </a:lnTo>
                <a:lnTo>
                  <a:pt x="274129" y="19050"/>
                </a:lnTo>
                <a:cubicBezTo>
                  <a:pt x="133255" y="19050"/>
                  <a:pt x="19050" y="133255"/>
                  <a:pt x="19050" y="274130"/>
                </a:cubicBezTo>
                <a:close/>
              </a:path>
            </a:pathLst>
          </a:custGeom>
          <a:solidFill>
            <a:srgbClr val="FF7A83">
              <a:alpha val="100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  <a:endParaRPr/>
          </a:p>
        </p:txBody>
      </p:sp>
      <p:sp>
        <p:nvSpPr>
          <p:cNvPr id="15" name="Freeform 15"/>
          <p:cNvSpPr/>
          <p:nvPr/>
        </p:nvSpPr>
        <p:spPr>
          <a:xfrm>
            <a:off x="12077700" y="7505700"/>
            <a:ext cx="597788" cy="597790"/>
          </a:xfrm>
          <a:custGeom>
            <a:avLst/>
            <a:gdLst/>
            <a:ahLst/>
            <a:cxnLst/>
            <a:rect l="l" t="t" r="r" b="b"/>
            <a:pathLst>
              <a:path w="597788" h="597790">
                <a:moveTo>
                  <a:pt x="0" y="298894"/>
                </a:moveTo>
                <a:cubicBezTo>
                  <a:pt x="0" y="133826"/>
                  <a:pt x="133826" y="0"/>
                  <a:pt x="298894" y="0"/>
                </a:cubicBezTo>
                <a:cubicBezTo>
                  <a:pt x="463961" y="0"/>
                  <a:pt x="597788" y="133826"/>
                  <a:pt x="597788" y="298894"/>
                </a:cubicBezTo>
                <a:cubicBezTo>
                  <a:pt x="597788" y="463964"/>
                  <a:pt x="463961" y="597790"/>
                  <a:pt x="298894" y="597790"/>
                </a:cubicBezTo>
                <a:cubicBezTo>
                  <a:pt x="133826" y="597790"/>
                  <a:pt x="0" y="463964"/>
                  <a:pt x="0" y="298894"/>
                </a:cubicBezTo>
                <a:close/>
              </a:path>
            </a:pathLst>
          </a:custGeom>
          <a:solidFill>
            <a:srgbClr val="F89469">
              <a:alpha val="100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  <a:endParaRPr/>
          </a:p>
        </p:txBody>
      </p:sp>
      <p:sp>
        <p:nvSpPr>
          <p:cNvPr id="16" name="Freeform 16"/>
          <p:cNvSpPr/>
          <p:nvPr/>
        </p:nvSpPr>
        <p:spPr>
          <a:xfrm>
            <a:off x="673100" y="685800"/>
            <a:ext cx="453390" cy="453390"/>
          </a:xfrm>
          <a:custGeom>
            <a:avLst/>
            <a:gdLst/>
            <a:ahLst/>
            <a:cxnLst/>
            <a:rect l="l" t="t" r="r" b="b"/>
            <a:pathLst>
              <a:path w="453390" h="453390">
                <a:moveTo>
                  <a:pt x="0" y="226695"/>
                </a:moveTo>
                <a:cubicBezTo>
                  <a:pt x="0" y="101536"/>
                  <a:pt x="101536" y="0"/>
                  <a:pt x="226695" y="0"/>
                </a:cubicBezTo>
                <a:cubicBezTo>
                  <a:pt x="351854" y="0"/>
                  <a:pt x="453390" y="101536"/>
                  <a:pt x="453390" y="226695"/>
                </a:cubicBezTo>
                <a:cubicBezTo>
                  <a:pt x="453390" y="351854"/>
                  <a:pt x="351854" y="453390"/>
                  <a:pt x="226695" y="453390"/>
                </a:cubicBezTo>
                <a:cubicBezTo>
                  <a:pt x="101536" y="453390"/>
                  <a:pt x="0" y="351949"/>
                  <a:pt x="0" y="226695"/>
                </a:cubicBezTo>
                <a:close/>
              </a:path>
            </a:pathLst>
          </a:custGeom>
          <a:solidFill>
            <a:srgbClr val="FFFFFF">
              <a:alpha val="100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  <a:endParaRPr/>
          </a:p>
        </p:txBody>
      </p:sp>
      <p:sp>
        <p:nvSpPr>
          <p:cNvPr id="17" name="AutoShape 17"/>
          <p:cNvSpPr/>
          <p:nvPr/>
        </p:nvSpPr>
        <p:spPr>
          <a:xfrm>
            <a:off x="1524000" y="3238500"/>
            <a:ext cx="6477000" cy="457200"/>
          </a:xfrm>
          <a:prstGeom prst="rect">
            <a:avLst/>
          </a:prstGeom>
          <a:noFill/>
          <a:ln w="19050" cap="flat" cmpd="sng">
            <a:noFill/>
            <a:prstDash val="solid"/>
            <a:round/>
          </a:ln>
        </p:spPr>
        <p:txBody>
          <a:bodyPr vert="horz" wrap="square" lIns="0" tIns="0" rIns="0" bIns="0" rtlCol="0" anchor="t" anchorCtr="0"/>
          <a:lstStyle/>
          <a:p>
            <a:pPr indent="0" algn="l">
              <a:lnSpc>
                <a:spcPts val="3240"/>
              </a:lnSpc>
              <a:defRPr/>
            </a:pPr>
            <a:r>
              <a:rPr lang="en-US" sz="2700" b="0" i="0" u="none" strike="noStrike">
                <a:solidFill>
                  <a:srgbClr val="ADB9CA"/>
                </a:solidFill>
                <a:latin typeface="Montserrat"/>
                <a:ea typeface="Montserrat"/>
                <a:cs typeface="Montserrat"/>
                <a:sym typeface="Montserrat"/>
              </a:rPr>
              <a:t>Market Analysis</a:t>
            </a:r>
            <a:endParaRPr lang="en-US" sz="1100"/>
          </a:p>
        </p:txBody>
      </p:sp>
      <p:pic>
        <p:nvPicPr>
          <p:cNvPr id="20" name="Picture 20"/>
          <p:cNvPicPr>
            <a:picLocks noChangeAspect="1"/>
          </p:cNvPicPr>
          <p:nvPr/>
        </p:nvPicPr>
        <p:blipFill>
          <a:blip r:embed="rId8"/>
          <a:srcRect/>
          <a:stretch>
            <a:fillRect/>
          </a:stretch>
        </p:blipFill>
        <p:spPr>
          <a:xfrm>
            <a:off x="16433800" y="2679700"/>
            <a:ext cx="1854200" cy="6477000"/>
          </a:xfrm>
          <a:prstGeom prst="rect">
            <a:avLst/>
          </a:prstGeom>
          <a:noFill/>
          <a:ln w="25400" cap="flat" cmpd="sng">
            <a:noFill/>
            <a:prstDash val="solid"/>
            <a:round/>
          </a:ln>
        </p:spPr>
      </p:pic>
      <p:cxnSp>
        <p:nvCxnSpPr>
          <p:cNvPr id="21" name="Connector 21"/>
          <p:cNvCxnSpPr/>
          <p:nvPr/>
        </p:nvCxnSpPr>
        <p:spPr>
          <a:xfrm>
            <a:off x="4699000" y="8839200"/>
            <a:ext cx="1930442" cy="12700"/>
          </a:xfrm>
          <a:prstGeom prst="line">
            <a:avLst/>
          </a:prstGeom>
          <a:solidFill>
            <a:srgbClr val="DEE0E3">
              <a:alpha val="100000"/>
            </a:srgbClr>
          </a:solidFill>
          <a:ln w="12700" cap="rnd" cmpd="sng">
            <a:solidFill>
              <a:srgbClr val="F89469">
                <a:alpha val="100000"/>
              </a:srgbClr>
            </a:solidFill>
            <a:prstDash val="solid"/>
            <a:miter lim="10000000"/>
            <a:headEnd type="none" w="sm" len="sm"/>
            <a:tailEnd type="triangle" w="lg" len="med"/>
          </a:ln>
        </p:spPr>
      </p:cxnSp>
      <p:sp>
        <p:nvSpPr>
          <p:cNvPr id="22" name="AutoShape 22"/>
          <p:cNvSpPr/>
          <p:nvPr/>
        </p:nvSpPr>
        <p:spPr>
          <a:xfrm>
            <a:off x="13627100" y="3022600"/>
            <a:ext cx="4902200" cy="3873500"/>
          </a:xfrm>
          <a:prstGeom prst="rect">
            <a:avLst/>
          </a:prstGeom>
          <a:noFill/>
          <a:ln w="19050" cap="flat" cmpd="sng">
            <a:noFill/>
            <a:prstDash val="solid"/>
            <a:round/>
          </a:ln>
        </p:spPr>
        <p:txBody>
          <a:bodyPr vert="horz" wrap="square" lIns="0" tIns="0" rIns="0" bIns="0" rtlCol="0" anchor="t" anchorCtr="0"/>
          <a:lstStyle/>
          <a:p>
            <a:pPr indent="0" algn="l">
              <a:lnSpc>
                <a:spcPts val="29880"/>
              </a:lnSpc>
              <a:defRPr/>
            </a:pPr>
            <a:r>
              <a:rPr lang="en-US" sz="24900" b="0" i="0" u="none" strike="noStrike">
                <a:solidFill>
                  <a:srgbClr val="FFFFFF"/>
                </a:solidFill>
                <a:latin typeface="Montserrat"/>
                <a:ea typeface="Montserrat"/>
                <a:cs typeface="Montserrat"/>
                <a:sym typeface="Montserrat"/>
              </a:rPr>
              <a:t>01</a:t>
            </a:r>
            <a:endParaRPr lang="en-US" sz="1100"/>
          </a:p>
        </p:txBody>
      </p:sp>
      <p:cxnSp>
        <p:nvCxnSpPr>
          <p:cNvPr id="23" name="Connector 23"/>
          <p:cNvCxnSpPr/>
          <p:nvPr/>
        </p:nvCxnSpPr>
        <p:spPr>
          <a:xfrm rot="5391093">
            <a:off x="14795500" y="4438658"/>
            <a:ext cx="4902200" cy="12700"/>
          </a:xfrm>
          <a:prstGeom prst="line">
            <a:avLst/>
          </a:prstGeom>
          <a:solidFill>
            <a:srgbClr val="DEE0E3">
              <a:alpha val="100000"/>
            </a:srgbClr>
          </a:solidFill>
          <a:ln w="12700" cap="rnd" cmpd="sng">
            <a:solidFill>
              <a:srgbClr val="000000">
                <a:alpha val="100000"/>
              </a:srgbClr>
            </a:solidFill>
            <a:prstDash val="solid"/>
            <a:miter lim="10000000"/>
            <a:headEnd type="none" w="sm" len="sm"/>
            <a:tailEnd type="none" w="sm" len="sm"/>
          </a:ln>
        </p:spPr>
      </p:cxnSp>
      <p:pic>
        <p:nvPicPr>
          <p:cNvPr id="24" name="Picture 24"/>
          <p:cNvPicPr>
            <a:picLocks noChangeAspect="1"/>
          </p:cNvPicPr>
          <p:nvPr/>
        </p:nvPicPr>
        <p:blipFill>
          <a:blip r:embed="rId9"/>
          <a:srcRect/>
          <a:stretch>
            <a:fillRect/>
          </a:stretch>
        </p:blipFill>
        <p:spPr>
          <a:xfrm>
            <a:off x="2400300" y="8166100"/>
            <a:ext cx="15887700" cy="2120900"/>
          </a:xfrm>
          <a:prstGeom prst="rect">
            <a:avLst/>
          </a:prstGeom>
          <a:noFill/>
          <a:ln w="25400" cap="flat" cmpd="sng">
            <a:noFill/>
            <a:prstDash val="solid"/>
            <a:round/>
          </a:ln>
        </p:spPr>
      </p:pic>
      <p:pic>
        <p:nvPicPr>
          <p:cNvPr id="25" name="Picture 25"/>
          <p:cNvPicPr>
            <a:picLocks noChangeAspect="1"/>
          </p:cNvPicPr>
          <p:nvPr/>
        </p:nvPicPr>
        <p:blipFill>
          <a:blip r:embed="rId10"/>
          <a:srcRect/>
          <a:stretch>
            <a:fillRect/>
          </a:stretch>
        </p:blipFill>
        <p:spPr>
          <a:xfrm>
            <a:off x="1727200" y="8724900"/>
            <a:ext cx="241300" cy="254000"/>
          </a:xfrm>
          <a:prstGeom prst="rect">
            <a:avLst/>
          </a:prstGeom>
          <a:noFill/>
          <a:ln w="25400" cap="flat" cmpd="sng">
            <a:noFill/>
            <a:prstDash val="solid"/>
            <a:round/>
          </a:ln>
        </p:spPr>
      </p:pic>
      <p:pic>
        <p:nvPicPr>
          <p:cNvPr id="26" name="Picture 26"/>
          <p:cNvPicPr>
            <a:picLocks noChangeAspect="1"/>
          </p:cNvPicPr>
          <p:nvPr/>
        </p:nvPicPr>
        <p:blipFill>
          <a:blip r:embed="rId11"/>
          <a:srcRect/>
          <a:stretch>
            <a:fillRect/>
          </a:stretch>
        </p:blipFill>
        <p:spPr>
          <a:xfrm>
            <a:off x="3276600" y="8724900"/>
            <a:ext cx="228600" cy="254000"/>
          </a:xfrm>
          <a:prstGeom prst="rect">
            <a:avLst/>
          </a:prstGeom>
          <a:noFill/>
          <a:ln w="25400" cap="flat" cmpd="sng">
            <a:noFill/>
            <a:prstDash val="solid"/>
            <a:round/>
          </a:ln>
        </p:spPr>
      </p:pic>
      <p:pic>
        <p:nvPicPr>
          <p:cNvPr id="27" name="Picture 27"/>
          <p:cNvPicPr>
            <a:picLocks noChangeAspect="1"/>
          </p:cNvPicPr>
          <p:nvPr/>
        </p:nvPicPr>
        <p:blipFill>
          <a:blip r:embed="rId12"/>
          <a:srcRect/>
          <a:stretch>
            <a:fillRect/>
          </a:stretch>
        </p:blipFill>
        <p:spPr>
          <a:xfrm>
            <a:off x="4038600" y="8724900"/>
            <a:ext cx="266700" cy="254000"/>
          </a:xfrm>
          <a:prstGeom prst="rect">
            <a:avLst/>
          </a:prstGeom>
          <a:noFill/>
          <a:ln w="25400" cap="flat" cmpd="sng">
            <a:noFill/>
            <a:prstDash val="solid"/>
            <a:round/>
          </a:ln>
        </p:spPr>
      </p:pic>
      <p:pic>
        <p:nvPicPr>
          <p:cNvPr id="28" name="Picture 28"/>
          <p:cNvPicPr>
            <a:picLocks noChangeAspect="1"/>
          </p:cNvPicPr>
          <p:nvPr/>
        </p:nvPicPr>
        <p:blipFill>
          <a:blip r:embed="rId13"/>
          <a:srcRect/>
          <a:stretch>
            <a:fillRect/>
          </a:stretch>
        </p:blipFill>
        <p:spPr>
          <a:xfrm>
            <a:off x="2501900" y="8724900"/>
            <a:ext cx="241300" cy="254000"/>
          </a:xfrm>
          <a:prstGeom prst="rect">
            <a:avLst/>
          </a:prstGeom>
          <a:noFill/>
          <a:ln w="25400" cap="flat" cmpd="sng">
            <a:noFill/>
            <a:prstDash val="solid"/>
            <a:round/>
          </a:ln>
        </p:spPr>
      </p:pic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>
            <a:alpha val="100000"/>
          </a:srgb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AutoShape 2"/>
          <p:cNvSpPr/>
          <p:nvPr/>
        </p:nvSpPr>
        <p:spPr>
          <a:xfrm>
            <a:off x="622300" y="571500"/>
            <a:ext cx="7620000" cy="762000"/>
          </a:xfrm>
          <a:prstGeom prst="rect">
            <a:avLst/>
          </a:prstGeom>
          <a:noFill/>
          <a:ln w="1905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indent="0" algn="l">
              <a:lnSpc>
                <a:spcPct val="125000"/>
              </a:lnSpc>
              <a:defRPr/>
            </a:pPr>
            <a:r>
              <a:rPr lang="en-US" sz="4200" b="0" i="0" u="none" strike="noStrike">
                <a:solidFill>
                  <a:srgbClr val="FFB458"/>
                </a:solidFill>
                <a:latin typeface="Noto Sans SC"/>
                <a:ea typeface="Noto Sans SC"/>
                <a:cs typeface="Noto Sans SC"/>
                <a:sym typeface="Noto Sans SC"/>
              </a:rPr>
              <a:t>市场规模与增长潜力</a:t>
            </a:r>
            <a:endParaRPr lang="en-US" sz="1100"/>
          </a:p>
        </p:txBody>
      </p:sp>
      <p:cxnSp>
        <p:nvCxnSpPr>
          <p:cNvPr id="3" name="Connector 3"/>
          <p:cNvCxnSpPr/>
          <p:nvPr/>
        </p:nvCxnSpPr>
        <p:spPr>
          <a:xfrm rot="-3680">
            <a:off x="4406903" y="1073150"/>
            <a:ext cx="11861800" cy="12700"/>
          </a:xfrm>
          <a:prstGeom prst="line">
            <a:avLst/>
          </a:prstGeom>
          <a:solidFill>
            <a:srgbClr val="DEE0E3">
              <a:alpha val="100000"/>
            </a:srgbClr>
          </a:solidFill>
          <a:ln w="25400" cap="rnd" cmpd="sng">
            <a:solidFill>
              <a:srgbClr val="F89469">
                <a:alpha val="100000"/>
              </a:srgbClr>
            </a:solidFill>
            <a:prstDash val="solid"/>
            <a:round/>
            <a:headEnd type="none" w="lg" len="lg"/>
            <a:tailEnd type="none" w="lg" len="lg"/>
          </a:ln>
        </p:spPr>
      </p:cxnSp>
      <p:sp>
        <p:nvSpPr>
          <p:cNvPr id="4" name="AutoShape 4"/>
          <p:cNvSpPr/>
          <p:nvPr/>
        </p:nvSpPr>
        <p:spPr>
          <a:xfrm>
            <a:off x="16446500" y="546100"/>
            <a:ext cx="1104900" cy="762000"/>
          </a:xfrm>
          <a:prstGeom prst="rect">
            <a:avLst/>
          </a:prstGeom>
          <a:noFill/>
          <a:ln w="1905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indent="0" algn="ctr">
              <a:lnSpc>
                <a:spcPct val="125000"/>
              </a:lnSpc>
              <a:defRPr/>
            </a:pPr>
            <a:r>
              <a:rPr lang="en-US" sz="4500" b="0" i="0" u="none" strike="noStrike">
                <a:solidFill>
                  <a:srgbClr val="FFB364"/>
                </a:solidFill>
                <a:latin typeface="Montserrat"/>
                <a:ea typeface="Montserrat"/>
                <a:cs typeface="Montserrat"/>
                <a:sym typeface="Montserrat"/>
              </a:rPr>
              <a:t>01</a:t>
            </a:r>
            <a:endParaRPr lang="en-US" sz="1100"/>
          </a:p>
        </p:txBody>
      </p:sp>
      <p:sp>
        <p:nvSpPr>
          <p:cNvPr id="5" name="AutoShape 5"/>
          <p:cNvSpPr/>
          <p:nvPr/>
        </p:nvSpPr>
        <p:spPr>
          <a:xfrm>
            <a:off x="1739900" y="1943100"/>
            <a:ext cx="6146800" cy="7467600"/>
          </a:xfrm>
          <a:prstGeom prst="roundRect">
            <a:avLst>
              <a:gd name="adj" fmla="val 2066"/>
            </a:avLst>
          </a:prstGeom>
          <a:solidFill>
            <a:srgbClr val="FFF5F0">
              <a:alpha val="100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  <a:endParaRPr/>
          </a:p>
        </p:txBody>
      </p:sp>
      <p:sp>
        <p:nvSpPr>
          <p:cNvPr id="6" name="AutoShape 6"/>
          <p:cNvSpPr/>
          <p:nvPr/>
        </p:nvSpPr>
        <p:spPr>
          <a:xfrm>
            <a:off x="1892300" y="2095500"/>
            <a:ext cx="5842000" cy="7112000"/>
          </a:xfrm>
          <a:prstGeom prst="roundRect">
            <a:avLst>
              <a:gd name="adj" fmla="val 2173"/>
            </a:avLst>
          </a:prstGeom>
          <a:solidFill>
            <a:srgbClr val="FFFFFF">
              <a:alpha val="100000"/>
            </a:srgbClr>
          </a:solidFill>
          <a:ln w="25400" cap="flat" cmpd="sng">
            <a:noFill/>
            <a:prstDash val="solid"/>
            <a:round/>
          </a:ln>
          <a:effectLst>
            <a:outerShdw blurRad="127000" dist="50800" dir="2700000" algn="tl" rotWithShape="0">
              <a:srgbClr val="FF7A83">
                <a:alpha val="15000"/>
              </a:srgbClr>
            </a:outerShdw>
          </a:effectLst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  <a:endParaRPr/>
          </a:p>
        </p:txBody>
      </p:sp>
      <p:sp>
        <p:nvSpPr>
          <p:cNvPr id="7" name="AutoShape 7"/>
          <p:cNvSpPr/>
          <p:nvPr/>
        </p:nvSpPr>
        <p:spPr>
          <a:xfrm>
            <a:off x="2159000" y="2413000"/>
            <a:ext cx="5080000" cy="508000"/>
          </a:xfrm>
          <a:prstGeom prst="rect">
            <a:avLst/>
          </a:prstGeom>
          <a:noFill/>
          <a:ln w="1905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indent="0" algn="l">
              <a:lnSpc>
                <a:spcPct val="125000"/>
              </a:lnSpc>
              <a:defRPr/>
            </a:pPr>
            <a:r>
              <a:rPr lang="en-US" sz="2600" b="0" i="0" u="none" strike="noStrike">
                <a:solidFill>
                  <a:srgbClr val="FF7A83"/>
                </a:solidFill>
                <a:latin typeface="Noto Sans SC"/>
                <a:ea typeface="Noto Sans SC"/>
                <a:cs typeface="Noto Sans SC"/>
                <a:sym typeface="Noto Sans SC"/>
              </a:rPr>
              <a:t>全球智能家居市场规模 (亿美元)</a:t>
            </a:r>
            <a:endParaRPr lang="en-US" sz="1100"/>
          </a:p>
        </p:txBody>
      </p:sp>
      <p:sp>
        <p:nvSpPr>
          <p:cNvPr id="8" name="AutoShape 8"/>
          <p:cNvSpPr/>
          <p:nvPr/>
        </p:nvSpPr>
        <p:spPr>
          <a:xfrm>
            <a:off x="2159000" y="3175000"/>
            <a:ext cx="5207000" cy="1651000"/>
          </a:xfrm>
          <a:prstGeom prst="rect">
            <a:avLst/>
          </a:prstGeom>
          <a:noFill/>
          <a:ln w="19050" cap="flat" cmpd="sng">
            <a:noFill/>
            <a:prstDash val="solid"/>
            <a:round/>
          </a:ln>
        </p:spPr>
        <p:txBody>
          <a:bodyPr vert="horz" wrap="square" lIns="0" tIns="0" rIns="0" bIns="0" rtlCol="0" anchor="t" anchorCtr="0"/>
          <a:lstStyle/>
          <a:p>
            <a:pPr indent="0" algn="l">
              <a:lnSpc>
                <a:spcPct val="133333"/>
              </a:lnSpc>
              <a:defRPr/>
            </a:pPr>
            <a:r>
              <a:rPr lang="en-US" sz="1300" b="1" i="0" u="none" strike="noStrike">
                <a:solidFill>
                  <a:srgbClr val="FF7A83"/>
                </a:solidFill>
                <a:latin typeface="Noto Sans SC"/>
                <a:ea typeface="Noto Sans SC"/>
                <a:cs typeface="Noto Sans SC"/>
                <a:sym typeface="Noto Sans SC"/>
              </a:rPr>
              <a:t>● 2025年：</a:t>
            </a:r>
            <a:r>
              <a:rPr lang="en-US" sz="1300" b="0" i="0" u="none" strike="noStrike">
                <a:solidFill>
                  <a:srgbClr val="595959"/>
                </a:solidFill>
                <a:latin typeface="Noto Sans SC"/>
                <a:ea typeface="Noto Sans SC"/>
                <a:cs typeface="Noto Sans SC"/>
                <a:sym typeface="Noto Sans SC"/>
              </a:rPr>
              <a:t>预计达到 1500 亿美元，奠定增长基础</a:t>
            </a:r>
            <a:endParaRPr lang="en-US" sz="1100"/>
          </a:p>
          <a:p>
            <a:pPr indent="0" algn="l">
              <a:lnSpc>
                <a:spcPct val="133333"/>
              </a:lnSpc>
            </a:pPr>
            <a:r>
              <a:rPr lang="en-US" sz="1300" b="1" i="0" u="none" strike="noStrike">
                <a:solidFill>
                  <a:srgbClr val="FF7A83"/>
                </a:solidFill>
                <a:latin typeface="Noto Sans SC"/>
                <a:ea typeface="Noto Sans SC"/>
                <a:cs typeface="Noto Sans SC"/>
                <a:sym typeface="Noto Sans SC"/>
              </a:rPr>
              <a:t>● 2026年：</a:t>
            </a:r>
            <a:r>
              <a:rPr lang="en-US" sz="1300" b="0" i="0" u="none" strike="noStrike">
                <a:solidFill>
                  <a:srgbClr val="595959"/>
                </a:solidFill>
                <a:latin typeface="Noto Sans SC"/>
                <a:ea typeface="Noto Sans SC"/>
                <a:cs typeface="Noto Sans SC"/>
                <a:sym typeface="Noto Sans SC"/>
              </a:rPr>
              <a:t>快速攀升至 2000 亿美元，进入爆发期</a:t>
            </a:r>
          </a:p>
          <a:p>
            <a:pPr indent="0" algn="l">
              <a:lnSpc>
                <a:spcPct val="133333"/>
              </a:lnSpc>
            </a:pPr>
            <a:r>
              <a:rPr lang="en-US" sz="1300" b="1" i="0" u="none" strike="noStrike">
                <a:solidFill>
                  <a:srgbClr val="FF7A83"/>
                </a:solidFill>
                <a:latin typeface="Noto Sans SC"/>
                <a:ea typeface="Noto Sans SC"/>
                <a:cs typeface="Noto Sans SC"/>
                <a:sym typeface="Noto Sans SC"/>
              </a:rPr>
              <a:t>● 2030年：</a:t>
            </a:r>
            <a:r>
              <a:rPr lang="en-US" sz="1300" b="0" i="0" u="none" strike="noStrike">
                <a:solidFill>
                  <a:srgbClr val="595959"/>
                </a:solidFill>
                <a:latin typeface="Noto Sans SC"/>
                <a:ea typeface="Noto Sans SC"/>
                <a:cs typeface="Noto Sans SC"/>
                <a:sym typeface="Noto Sans SC"/>
              </a:rPr>
              <a:t>规模接近 5000 亿美元，市场趋于成熟</a:t>
            </a:r>
          </a:p>
        </p:txBody>
      </p:sp>
      <p:sp>
        <p:nvSpPr>
          <p:cNvPr id="9" name="AutoShape 9"/>
          <p:cNvSpPr/>
          <p:nvPr/>
        </p:nvSpPr>
        <p:spPr>
          <a:xfrm>
            <a:off x="2159000" y="5207000"/>
            <a:ext cx="5207000" cy="1778000"/>
          </a:xfrm>
          <a:prstGeom prst="roundRect">
            <a:avLst>
              <a:gd name="adj" fmla="val 10714"/>
            </a:avLst>
          </a:prstGeom>
          <a:solidFill>
            <a:srgbClr val="FFF0EB">
              <a:alpha val="100000"/>
            </a:srgbClr>
          </a:solidFill>
          <a:ln w="12700" cap="flat" cmpd="sng">
            <a:solidFill>
              <a:srgbClr val="FF7A83">
                <a:alpha val="30000"/>
              </a:srgbClr>
            </a:solidFill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  <a:endParaRPr/>
          </a:p>
        </p:txBody>
      </p:sp>
      <p:pic>
        <p:nvPicPr>
          <p:cNvPr id="10" name="Picture 10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2413000" y="5689600"/>
            <a:ext cx="812800" cy="812800"/>
          </a:xfrm>
          <a:prstGeom prst="rect">
            <a:avLst/>
          </a:prstGeom>
        </p:spPr>
      </p:pic>
      <p:sp>
        <p:nvSpPr>
          <p:cNvPr id="11" name="AutoShape 11"/>
          <p:cNvSpPr/>
          <p:nvPr/>
        </p:nvSpPr>
        <p:spPr>
          <a:xfrm>
            <a:off x="3429000" y="5461000"/>
            <a:ext cx="3556000" cy="1270000"/>
          </a:xfrm>
          <a:prstGeom prst="rect">
            <a:avLst/>
          </a:prstGeom>
          <a:noFill/>
          <a:ln w="1905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indent="0" algn="l">
              <a:lnSpc>
                <a:spcPct val="125000"/>
              </a:lnSpc>
              <a:defRPr/>
            </a:pPr>
            <a:r>
              <a:rPr lang="en-US" sz="1400" b="0" i="0" u="none" strike="noStrike">
                <a:solidFill>
                  <a:srgbClr val="8497B0"/>
                </a:solidFill>
                <a:latin typeface="Noto Sans SC"/>
                <a:ea typeface="Noto Sans SC"/>
                <a:cs typeface="Noto Sans SC"/>
                <a:sym typeface="Noto Sans SC"/>
              </a:rPr>
              <a:t>复合年增长率 (CAGR)</a:t>
            </a:r>
            <a:endParaRPr lang="en-US" sz="1100"/>
          </a:p>
          <a:p>
            <a:pPr indent="0" algn="l">
              <a:lnSpc>
                <a:spcPct val="125000"/>
              </a:lnSpc>
            </a:pPr>
            <a:r>
              <a:rPr lang="en-US" sz="4200" b="0" i="0" u="none" strike="noStrike">
                <a:solidFill>
                  <a:srgbClr val="FF7A83"/>
                </a:solidFill>
                <a:latin typeface="Noto Sans SC"/>
                <a:ea typeface="Noto Sans SC"/>
                <a:cs typeface="Noto Sans SC"/>
                <a:sym typeface="Noto Sans SC"/>
              </a:rPr>
              <a:t>22.8%</a:t>
            </a:r>
            <a:r>
              <a:rPr lang="en-US" sz="1200" b="0" i="0" u="none" strike="noStrike">
                <a:solidFill>
                  <a:srgbClr val="969696"/>
                </a:solidFill>
                <a:latin typeface="Noto Sans SC"/>
                <a:ea typeface="Noto Sans SC"/>
                <a:cs typeface="Noto Sans SC"/>
                <a:sym typeface="Noto Sans SC"/>
              </a:rPr>
              <a:t>/ 高速增长</a:t>
            </a:r>
          </a:p>
        </p:txBody>
      </p:sp>
      <p:sp>
        <p:nvSpPr>
          <p:cNvPr id="12" name="AutoShape 12"/>
          <p:cNvSpPr/>
          <p:nvPr/>
        </p:nvSpPr>
        <p:spPr>
          <a:xfrm>
            <a:off x="8331200" y="1943100"/>
            <a:ext cx="6146800" cy="7467600"/>
          </a:xfrm>
          <a:prstGeom prst="roundRect">
            <a:avLst>
              <a:gd name="adj" fmla="val 2066"/>
            </a:avLst>
          </a:prstGeom>
          <a:solidFill>
            <a:srgbClr val="FFF5F0">
              <a:alpha val="100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  <a:endParaRPr/>
          </a:p>
        </p:txBody>
      </p:sp>
      <p:sp>
        <p:nvSpPr>
          <p:cNvPr id="13" name="AutoShape 13"/>
          <p:cNvSpPr/>
          <p:nvPr/>
        </p:nvSpPr>
        <p:spPr>
          <a:xfrm>
            <a:off x="8483600" y="2095500"/>
            <a:ext cx="5842000" cy="7112000"/>
          </a:xfrm>
          <a:prstGeom prst="roundRect">
            <a:avLst>
              <a:gd name="adj" fmla="val 2173"/>
            </a:avLst>
          </a:prstGeom>
          <a:solidFill>
            <a:srgbClr val="FFFFFF">
              <a:alpha val="100000"/>
            </a:srgbClr>
          </a:solidFill>
          <a:ln w="25400" cap="flat" cmpd="sng">
            <a:noFill/>
            <a:prstDash val="solid"/>
            <a:round/>
          </a:ln>
          <a:effectLst>
            <a:outerShdw blurRad="127000" dist="50800" dir="2700000" algn="tl" rotWithShape="0">
              <a:srgbClr val="FF7A83">
                <a:alpha val="15000"/>
              </a:srgbClr>
            </a:outerShdw>
          </a:effectLst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  <a:endParaRPr/>
          </a:p>
        </p:txBody>
      </p:sp>
      <p:sp>
        <p:nvSpPr>
          <p:cNvPr id="14" name="AutoShape 14"/>
          <p:cNvSpPr/>
          <p:nvPr/>
        </p:nvSpPr>
        <p:spPr>
          <a:xfrm>
            <a:off x="8763000" y="2413000"/>
            <a:ext cx="5080000" cy="508000"/>
          </a:xfrm>
          <a:prstGeom prst="rect">
            <a:avLst/>
          </a:prstGeom>
          <a:noFill/>
          <a:ln w="1905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indent="0" algn="l">
              <a:lnSpc>
                <a:spcPct val="125000"/>
              </a:lnSpc>
              <a:defRPr/>
            </a:pPr>
            <a:r>
              <a:rPr lang="en-US" sz="2600" b="0" i="0" u="none" strike="noStrike">
                <a:solidFill>
                  <a:srgbClr val="FF7A83"/>
                </a:solidFill>
                <a:latin typeface="Noto Sans SC"/>
                <a:ea typeface="Noto Sans SC"/>
                <a:cs typeface="Noto Sans SC"/>
                <a:sym typeface="Noto Sans SC"/>
              </a:rPr>
              <a:t>自主家庭管理市场规模 (亿美元)</a:t>
            </a:r>
            <a:endParaRPr lang="en-US" sz="1100"/>
          </a:p>
        </p:txBody>
      </p:sp>
      <p:sp>
        <p:nvSpPr>
          <p:cNvPr id="15" name="AutoShape 15"/>
          <p:cNvSpPr/>
          <p:nvPr/>
        </p:nvSpPr>
        <p:spPr>
          <a:xfrm>
            <a:off x="8763000" y="3175000"/>
            <a:ext cx="5207000" cy="1651000"/>
          </a:xfrm>
          <a:prstGeom prst="rect">
            <a:avLst/>
          </a:prstGeom>
          <a:noFill/>
          <a:ln w="19050" cap="flat" cmpd="sng">
            <a:noFill/>
            <a:prstDash val="solid"/>
            <a:round/>
          </a:ln>
        </p:spPr>
        <p:txBody>
          <a:bodyPr vert="horz" wrap="square" lIns="0" tIns="0" rIns="0" bIns="0" rtlCol="0" anchor="t" anchorCtr="0"/>
          <a:lstStyle/>
          <a:p>
            <a:pPr indent="0" algn="l">
              <a:lnSpc>
                <a:spcPct val="133333"/>
              </a:lnSpc>
              <a:defRPr/>
            </a:pPr>
            <a:r>
              <a:rPr lang="en-US" sz="1300" b="1" i="0" u="none" strike="noStrike">
                <a:solidFill>
                  <a:srgbClr val="FF7A83"/>
                </a:solidFill>
                <a:latin typeface="Noto Sans SC"/>
                <a:ea typeface="Noto Sans SC"/>
                <a:cs typeface="Noto Sans SC"/>
                <a:sym typeface="Noto Sans SC"/>
              </a:rPr>
              <a:t>● 2026年：</a:t>
            </a:r>
            <a:r>
              <a:rPr lang="en-US" sz="1300" b="0" i="0" u="none" strike="noStrike">
                <a:solidFill>
                  <a:srgbClr val="595959"/>
                </a:solidFill>
                <a:latin typeface="Noto Sans SC"/>
                <a:ea typeface="Noto Sans SC"/>
                <a:cs typeface="Noto Sans SC"/>
                <a:sym typeface="Noto Sans SC"/>
              </a:rPr>
              <a:t>市场规模达 1285 亿美元，需求旺盛</a:t>
            </a:r>
            <a:endParaRPr lang="en-US" sz="1100"/>
          </a:p>
          <a:p>
            <a:pPr indent="0" algn="l">
              <a:lnSpc>
                <a:spcPct val="133333"/>
              </a:lnSpc>
            </a:pPr>
            <a:r>
              <a:rPr lang="en-US" sz="1300" b="1" i="0" u="none" strike="noStrike">
                <a:solidFill>
                  <a:srgbClr val="FF7A83"/>
                </a:solidFill>
                <a:latin typeface="Noto Sans SC"/>
                <a:ea typeface="Noto Sans SC"/>
                <a:cs typeface="Noto Sans SC"/>
                <a:sym typeface="Noto Sans SC"/>
              </a:rPr>
              <a:t>● 2034年：</a:t>
            </a:r>
            <a:r>
              <a:rPr lang="en-US" sz="1300" b="0" i="0" u="none" strike="noStrike">
                <a:solidFill>
                  <a:srgbClr val="595959"/>
                </a:solidFill>
                <a:latin typeface="Noto Sans SC"/>
                <a:ea typeface="Noto Sans SC"/>
                <a:cs typeface="Noto Sans SC"/>
                <a:sym typeface="Noto Sans SC"/>
              </a:rPr>
              <a:t>预计突破 2668 亿美元，潜力巨大</a:t>
            </a:r>
          </a:p>
          <a:p>
            <a:pPr indent="0" algn="l">
              <a:lnSpc>
                <a:spcPct val="133333"/>
              </a:lnSpc>
            </a:pPr>
            <a:r>
              <a:rPr lang="en-US" sz="1300" b="1" i="0" u="none" strike="noStrike">
                <a:solidFill>
                  <a:srgbClr val="FF7A83"/>
                </a:solidFill>
                <a:latin typeface="Noto Sans SC"/>
                <a:ea typeface="Noto Sans SC"/>
                <a:cs typeface="Noto Sans SC"/>
                <a:sym typeface="Noto Sans SC"/>
              </a:rPr>
              <a:t>● 市场特征：</a:t>
            </a:r>
            <a:r>
              <a:rPr lang="en-US" sz="1300" b="0" i="0" u="none" strike="noStrike">
                <a:solidFill>
                  <a:srgbClr val="595959"/>
                </a:solidFill>
                <a:latin typeface="Noto Sans SC"/>
                <a:ea typeface="Noto Sans SC"/>
                <a:cs typeface="Noto Sans SC"/>
                <a:sym typeface="Noto Sans SC"/>
              </a:rPr>
              <a:t>主动管理与自主决策方案成主流趋势</a:t>
            </a:r>
          </a:p>
        </p:txBody>
      </p:sp>
      <p:sp>
        <p:nvSpPr>
          <p:cNvPr id="16" name="AutoShape 16"/>
          <p:cNvSpPr/>
          <p:nvPr/>
        </p:nvSpPr>
        <p:spPr>
          <a:xfrm>
            <a:off x="8763000" y="5207000"/>
            <a:ext cx="5207000" cy="1778000"/>
          </a:xfrm>
          <a:prstGeom prst="roundRect">
            <a:avLst>
              <a:gd name="adj" fmla="val 10714"/>
            </a:avLst>
          </a:prstGeom>
          <a:solidFill>
            <a:srgbClr val="FFF0EB">
              <a:alpha val="100000"/>
            </a:srgbClr>
          </a:solidFill>
          <a:ln w="12700" cap="flat" cmpd="sng">
            <a:solidFill>
              <a:srgbClr val="FF7A83">
                <a:alpha val="30000"/>
              </a:srgbClr>
            </a:solidFill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  <a:endParaRPr/>
          </a:p>
        </p:txBody>
      </p:sp>
      <p:pic>
        <p:nvPicPr>
          <p:cNvPr id="17" name="Picture 17"/>
          <p:cNvPicPr>
            <a:picLocks noChangeAspect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p:blipFill>
        <p:spPr>
          <a:xfrm>
            <a:off x="9017000" y="5689600"/>
            <a:ext cx="812800" cy="812800"/>
          </a:xfrm>
          <a:prstGeom prst="rect">
            <a:avLst/>
          </a:prstGeom>
        </p:spPr>
      </p:pic>
      <p:sp>
        <p:nvSpPr>
          <p:cNvPr id="18" name="AutoShape 18"/>
          <p:cNvSpPr/>
          <p:nvPr/>
        </p:nvSpPr>
        <p:spPr>
          <a:xfrm>
            <a:off x="10033000" y="5461000"/>
            <a:ext cx="3556000" cy="1270000"/>
          </a:xfrm>
          <a:prstGeom prst="rect">
            <a:avLst/>
          </a:prstGeom>
          <a:noFill/>
          <a:ln w="1905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indent="0" algn="l">
              <a:lnSpc>
                <a:spcPct val="125000"/>
              </a:lnSpc>
              <a:defRPr/>
            </a:pPr>
            <a:r>
              <a:rPr lang="en-US" sz="1400" b="0" i="0" u="none" strike="noStrike">
                <a:solidFill>
                  <a:srgbClr val="8497B0"/>
                </a:solidFill>
                <a:latin typeface="Noto Sans SC"/>
                <a:ea typeface="Noto Sans SC"/>
                <a:cs typeface="Noto Sans SC"/>
                <a:sym typeface="Noto Sans SC"/>
              </a:rPr>
              <a:t>复合年增长率 (CAGR)</a:t>
            </a:r>
            <a:endParaRPr lang="en-US" sz="1100"/>
          </a:p>
          <a:p>
            <a:pPr indent="0" algn="l">
              <a:lnSpc>
                <a:spcPct val="125000"/>
              </a:lnSpc>
            </a:pPr>
            <a:r>
              <a:rPr lang="en-US" sz="4200" b="0" i="0" u="none" strike="noStrike">
                <a:solidFill>
                  <a:srgbClr val="FF7A83"/>
                </a:solidFill>
                <a:latin typeface="Noto Sans SC"/>
                <a:ea typeface="Noto Sans SC"/>
                <a:cs typeface="Noto Sans SC"/>
                <a:sym typeface="Noto Sans SC"/>
              </a:rPr>
              <a:t>9.5%</a:t>
            </a:r>
            <a:r>
              <a:rPr lang="en-US" sz="1200" b="0" i="0" u="none" strike="noStrike">
                <a:solidFill>
                  <a:srgbClr val="969696"/>
                </a:solidFill>
                <a:latin typeface="Noto Sans SC"/>
                <a:ea typeface="Noto Sans SC"/>
                <a:cs typeface="Noto Sans SC"/>
                <a:sym typeface="Noto Sans SC"/>
              </a:rPr>
              <a:t>/ 稳健增长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>
            <a:alpha val="100000"/>
          </a:srgb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2"/>
          <p:cNvPicPr>
            <a:picLocks noChangeAspect="1"/>
          </p:cNvPicPr>
          <p:nvPr/>
        </p:nvPicPr>
        <p:blipFill>
          <a:blip r:embed="rId3"/>
          <a:srcRect l="83" r="83"/>
          <a:stretch>
            <a:fillRect/>
          </a:stretch>
        </p:blipFill>
        <p:spPr>
          <a:xfrm>
            <a:off x="15798800" y="0"/>
            <a:ext cx="2489200" cy="2984500"/>
          </a:xfrm>
          <a:prstGeom prst="rect">
            <a:avLst/>
          </a:prstGeom>
          <a:noFill/>
          <a:ln w="25400" cap="flat" cmpd="sng">
            <a:noFill/>
            <a:prstDash val="solid"/>
            <a:round/>
          </a:ln>
        </p:spPr>
      </p:pic>
      <p:pic>
        <p:nvPicPr>
          <p:cNvPr id="3" name="Picture 3"/>
          <p:cNvPicPr>
            <a:picLocks noChangeAspect="1"/>
          </p:cNvPicPr>
          <p:nvPr/>
        </p:nvPicPr>
        <p:blipFill>
          <a:blip r:embed="rId4"/>
          <a:srcRect l="73" r="73"/>
          <a:stretch>
            <a:fillRect/>
          </a:stretch>
        </p:blipFill>
        <p:spPr>
          <a:xfrm>
            <a:off x="-330200" y="8597900"/>
            <a:ext cx="1816100" cy="2032000"/>
          </a:xfrm>
          <a:prstGeom prst="rect">
            <a:avLst/>
          </a:prstGeom>
          <a:noFill/>
          <a:ln w="25400" cap="flat" cmpd="sng">
            <a:noFill/>
            <a:prstDash val="solid"/>
            <a:round/>
          </a:ln>
        </p:spPr>
      </p:pic>
      <p:pic>
        <p:nvPicPr>
          <p:cNvPr id="4" name="Picture 4"/>
          <p:cNvPicPr>
            <a:picLocks noChangeAspect="1"/>
          </p:cNvPicPr>
          <p:nvPr/>
        </p:nvPicPr>
        <p:blipFill>
          <a:blip r:embed="rId5"/>
          <a:srcRect t="458" b="458"/>
          <a:stretch>
            <a:fillRect/>
          </a:stretch>
        </p:blipFill>
        <p:spPr>
          <a:xfrm>
            <a:off x="11061700" y="8432800"/>
            <a:ext cx="7226300" cy="1854200"/>
          </a:xfrm>
          <a:prstGeom prst="rect">
            <a:avLst/>
          </a:prstGeom>
          <a:noFill/>
          <a:ln w="25400" cap="flat" cmpd="sng">
            <a:noFill/>
            <a:prstDash val="solid"/>
            <a:round/>
          </a:ln>
        </p:spPr>
      </p:pic>
      <p:sp>
        <p:nvSpPr>
          <p:cNvPr id="5" name="AutoShape 5"/>
          <p:cNvSpPr/>
          <p:nvPr/>
        </p:nvSpPr>
        <p:spPr>
          <a:xfrm>
            <a:off x="622300" y="571500"/>
            <a:ext cx="7620000" cy="762000"/>
          </a:xfrm>
          <a:prstGeom prst="rect">
            <a:avLst/>
          </a:prstGeom>
          <a:noFill/>
          <a:ln w="1905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indent="0" algn="l">
              <a:lnSpc>
                <a:spcPct val="125000"/>
              </a:lnSpc>
              <a:defRPr/>
            </a:pPr>
            <a:r>
              <a:rPr lang="en-US" sz="4200" b="0" i="0" u="none" strike="noStrike">
                <a:solidFill>
                  <a:srgbClr val="FFB458"/>
                </a:solidFill>
                <a:latin typeface="Noto Sans SC"/>
                <a:ea typeface="Noto Sans SC"/>
                <a:cs typeface="Noto Sans SC"/>
                <a:sym typeface="Noto Sans SC"/>
              </a:rPr>
              <a:t>市场痛点与我们的机会</a:t>
            </a:r>
            <a:endParaRPr lang="en-US" sz="1100"/>
          </a:p>
        </p:txBody>
      </p:sp>
      <p:cxnSp>
        <p:nvCxnSpPr>
          <p:cNvPr id="6" name="Connector 6"/>
          <p:cNvCxnSpPr/>
          <p:nvPr/>
        </p:nvCxnSpPr>
        <p:spPr>
          <a:xfrm>
            <a:off x="4406900" y="889000"/>
            <a:ext cx="11861807" cy="12700"/>
          </a:xfrm>
          <a:prstGeom prst="line">
            <a:avLst/>
          </a:prstGeom>
          <a:solidFill>
            <a:srgbClr val="DEE0E3">
              <a:alpha val="100000"/>
            </a:srgbClr>
          </a:solidFill>
          <a:ln w="12700" cap="rnd" cmpd="sng">
            <a:solidFill>
              <a:srgbClr val="F89469">
                <a:alpha val="100000"/>
              </a:srgbClr>
            </a:solidFill>
            <a:prstDash val="solid"/>
            <a:round/>
            <a:headEnd type="none" w="med" len="med"/>
            <a:tailEnd type="none" w="med" len="med"/>
          </a:ln>
        </p:spPr>
      </p:cxnSp>
      <p:sp>
        <p:nvSpPr>
          <p:cNvPr id="7" name="AutoShape 7"/>
          <p:cNvSpPr/>
          <p:nvPr/>
        </p:nvSpPr>
        <p:spPr>
          <a:xfrm>
            <a:off x="16446500" y="546100"/>
            <a:ext cx="1104900" cy="736600"/>
          </a:xfrm>
          <a:prstGeom prst="rect">
            <a:avLst/>
          </a:prstGeom>
          <a:noFill/>
          <a:ln w="19050" cap="flat" cmpd="sng">
            <a:noFill/>
            <a:prstDash val="solid"/>
            <a:round/>
          </a:ln>
        </p:spPr>
        <p:txBody>
          <a:bodyPr vert="horz" wrap="square" lIns="0" tIns="0" rIns="0" bIns="0" rtlCol="0" anchor="t" anchorCtr="0"/>
          <a:lstStyle/>
          <a:p>
            <a:pPr indent="0" algn="ctr">
              <a:lnSpc>
                <a:spcPct val="125000"/>
              </a:lnSpc>
              <a:defRPr/>
            </a:pPr>
            <a:r>
              <a:rPr lang="en-US" sz="4500" b="0" i="0" u="none" strike="noStrike">
                <a:solidFill>
                  <a:srgbClr val="FFB364"/>
                </a:solidFill>
                <a:latin typeface="Montserrat"/>
                <a:ea typeface="Montserrat"/>
                <a:cs typeface="Montserrat"/>
                <a:sym typeface="Montserrat"/>
              </a:rPr>
              <a:t>02</a:t>
            </a:r>
            <a:endParaRPr lang="en-US" sz="1100"/>
          </a:p>
        </p:txBody>
      </p:sp>
      <p:sp>
        <p:nvSpPr>
          <p:cNvPr id="8" name="AutoShape 8"/>
          <p:cNvSpPr/>
          <p:nvPr/>
        </p:nvSpPr>
        <p:spPr>
          <a:xfrm>
            <a:off x="1676400" y="2755900"/>
            <a:ext cx="4279900" cy="3962400"/>
          </a:xfrm>
          <a:prstGeom prst="roundRect">
            <a:avLst>
              <a:gd name="adj" fmla="val 3205"/>
            </a:avLst>
          </a:prstGeom>
          <a:solidFill>
            <a:srgbClr val="FFFFFF">
              <a:alpha val="100000"/>
            </a:srgbClr>
          </a:solidFill>
          <a:ln w="25400" cap="flat" cmpd="sng">
            <a:noFill/>
            <a:prstDash val="solid"/>
            <a:round/>
          </a:ln>
          <a:effectLst>
            <a:outerShdw blurRad="190500" dist="50800" dir="2700000" algn="tl" rotWithShape="0">
              <a:srgbClr val="000000">
                <a:alpha val="8000"/>
              </a:srgbClr>
            </a:outerShdw>
          </a:effectLst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  <a:endParaRPr/>
          </a:p>
        </p:txBody>
      </p:sp>
      <p:sp>
        <p:nvSpPr>
          <p:cNvPr id="9" name="AutoShape 9"/>
          <p:cNvSpPr/>
          <p:nvPr/>
        </p:nvSpPr>
        <p:spPr>
          <a:xfrm>
            <a:off x="2921000" y="3429000"/>
            <a:ext cx="1778000" cy="1778000"/>
          </a:xfrm>
          <a:prstGeom prst="ellipse">
            <a:avLst/>
          </a:prstGeom>
          <a:solidFill>
            <a:srgbClr val="FFF1EB">
              <a:alpha val="100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  <a:endParaRPr/>
          </a:p>
        </p:txBody>
      </p:sp>
      <p:pic>
        <p:nvPicPr>
          <p:cNvPr id="10" name="Picture 10"/>
          <p:cNvPicPr>
            <a:picLocks noChangeAspect="1"/>
          </p:cNvPicPr>
          <p:nvPr/>
        </p:nvPicPr>
        <p:blipFill>
          <a:blip r:embed="rId6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7"/>
              </a:ext>
            </a:extLst>
          </a:blip>
          <a:stretch>
            <a:fillRect/>
          </a:stretch>
        </p:blipFill>
        <p:spPr>
          <a:xfrm>
            <a:off x="3302000" y="3810000"/>
            <a:ext cx="1016000" cy="1016000"/>
          </a:xfrm>
          <a:prstGeom prst="rect">
            <a:avLst/>
          </a:prstGeom>
        </p:spPr>
      </p:pic>
      <p:sp>
        <p:nvSpPr>
          <p:cNvPr id="11" name="AutoShape 11"/>
          <p:cNvSpPr/>
          <p:nvPr/>
        </p:nvSpPr>
        <p:spPr>
          <a:xfrm>
            <a:off x="1803400" y="5461000"/>
            <a:ext cx="4025900" cy="444500"/>
          </a:xfrm>
          <a:prstGeom prst="rect">
            <a:avLst/>
          </a:prstGeom>
          <a:noFill/>
          <a:ln w="1905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indent="0" algn="ctr">
              <a:lnSpc>
                <a:spcPct val="125000"/>
              </a:lnSpc>
              <a:defRPr/>
            </a:pPr>
            <a:r>
              <a:rPr lang="en-US" sz="2000" b="0" i="0" u="none" strike="noStrike">
                <a:solidFill>
                  <a:srgbClr val="EA580C"/>
                </a:solidFill>
                <a:latin typeface="Noto Sans SC"/>
                <a:ea typeface="Noto Sans SC"/>
                <a:cs typeface="Noto Sans SC"/>
                <a:sym typeface="Noto Sans SC"/>
              </a:rPr>
              <a:t>隐私安全危机</a:t>
            </a:r>
            <a:endParaRPr lang="en-US" sz="1100"/>
          </a:p>
        </p:txBody>
      </p:sp>
      <p:sp>
        <p:nvSpPr>
          <p:cNvPr id="12" name="AutoShape 12"/>
          <p:cNvSpPr/>
          <p:nvPr/>
        </p:nvSpPr>
        <p:spPr>
          <a:xfrm>
            <a:off x="1803400" y="6096000"/>
            <a:ext cx="4025900" cy="1270000"/>
          </a:xfrm>
          <a:prstGeom prst="roundRect">
            <a:avLst>
              <a:gd name="adj" fmla="val 5000"/>
            </a:avLst>
          </a:prstGeom>
          <a:solidFill>
            <a:srgbClr val="F9FAFB">
              <a:alpha val="100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  <a:endParaRPr/>
          </a:p>
        </p:txBody>
      </p:sp>
      <p:sp>
        <p:nvSpPr>
          <p:cNvPr id="13" name="AutoShape 13"/>
          <p:cNvSpPr/>
          <p:nvPr/>
        </p:nvSpPr>
        <p:spPr>
          <a:xfrm>
            <a:off x="1930400" y="6159500"/>
            <a:ext cx="3771900" cy="1143000"/>
          </a:xfrm>
          <a:prstGeom prst="rect">
            <a:avLst/>
          </a:prstGeom>
          <a:noFill/>
          <a:ln w="19050" cap="flat" cmpd="sng">
            <a:noFill/>
            <a:prstDash val="solid"/>
            <a:round/>
          </a:ln>
        </p:spPr>
        <p:txBody>
          <a:bodyPr vert="horz" wrap="square" lIns="0" tIns="0" rIns="0" bIns="0" rtlCol="0" anchor="t" anchorCtr="0"/>
          <a:lstStyle/>
          <a:p>
            <a:pPr indent="0" algn="l">
              <a:lnSpc>
                <a:spcPct val="116666"/>
              </a:lnSpc>
              <a:defRPr/>
            </a:pPr>
            <a:r>
              <a:rPr lang="en-US" sz="1200" b="1" i="0" u="none" strike="noStrike">
                <a:solidFill>
                  <a:srgbClr val="6B7280"/>
                </a:solidFill>
                <a:latin typeface="Noto Sans SC"/>
                <a:ea typeface="Noto Sans SC"/>
                <a:cs typeface="Noto Sans SC"/>
                <a:sym typeface="Noto Sans SC"/>
              </a:rPr>
              <a:t>[痛点]</a:t>
            </a:r>
            <a:r>
              <a:rPr lang="en-US" sz="1200" b="0" i="0" u="none" strike="noStrike">
                <a:solidFill>
                  <a:srgbClr val="4B5563"/>
                </a:solidFill>
                <a:latin typeface="Noto Sans SC"/>
                <a:ea typeface="Noto Sans SC"/>
                <a:cs typeface="Noto Sans SC"/>
                <a:sym typeface="Noto Sans SC"/>
              </a:rPr>
              <a:t>数据上传云端，存在泄露风险。</a:t>
            </a:r>
            <a:endParaRPr lang="en-US" sz="1100"/>
          </a:p>
          <a:p>
            <a:pPr indent="0" algn="l">
              <a:lnSpc>
                <a:spcPct val="116666"/>
              </a:lnSpc>
            </a:pPr>
            <a:r>
              <a:rPr lang="en-US" sz="1200" b="1" i="0" u="none" strike="noStrike">
                <a:solidFill>
                  <a:srgbClr val="EA580C"/>
                </a:solidFill>
                <a:latin typeface="Noto Sans SC"/>
                <a:ea typeface="Noto Sans SC"/>
                <a:cs typeface="Noto Sans SC"/>
                <a:sym typeface="Noto Sans SC"/>
              </a:rPr>
              <a:t>[机会]</a:t>
            </a:r>
            <a:r>
              <a:rPr lang="en-US" sz="1200" b="0" i="0" u="none" strike="noStrike">
                <a:solidFill>
                  <a:srgbClr val="4B5563"/>
                </a:solidFill>
                <a:latin typeface="Noto Sans SC"/>
                <a:ea typeface="Noto Sans SC"/>
                <a:cs typeface="Noto Sans SC"/>
                <a:sym typeface="Noto Sans SC"/>
              </a:rPr>
              <a:t>100%数据本地存储，彻底解决隐私顾虑。</a:t>
            </a:r>
          </a:p>
        </p:txBody>
      </p:sp>
      <p:sp>
        <p:nvSpPr>
          <p:cNvPr id="14" name="AutoShape 14"/>
          <p:cNvSpPr/>
          <p:nvPr/>
        </p:nvSpPr>
        <p:spPr>
          <a:xfrm>
            <a:off x="7023100" y="2755900"/>
            <a:ext cx="4279900" cy="3962400"/>
          </a:xfrm>
          <a:prstGeom prst="roundRect">
            <a:avLst>
              <a:gd name="adj" fmla="val 3205"/>
            </a:avLst>
          </a:prstGeom>
          <a:solidFill>
            <a:srgbClr val="FFFFFF">
              <a:alpha val="100000"/>
            </a:srgbClr>
          </a:solidFill>
          <a:ln w="25400" cap="flat" cmpd="sng">
            <a:noFill/>
            <a:prstDash val="solid"/>
            <a:round/>
          </a:ln>
          <a:effectLst>
            <a:outerShdw blurRad="190500" dist="50800" dir="2700000" algn="tl" rotWithShape="0">
              <a:srgbClr val="000000">
                <a:alpha val="8000"/>
              </a:srgbClr>
            </a:outerShdw>
          </a:effectLst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  <a:endParaRPr/>
          </a:p>
        </p:txBody>
      </p:sp>
      <p:sp>
        <p:nvSpPr>
          <p:cNvPr id="15" name="AutoShape 15"/>
          <p:cNvSpPr/>
          <p:nvPr/>
        </p:nvSpPr>
        <p:spPr>
          <a:xfrm>
            <a:off x="8267700" y="3429000"/>
            <a:ext cx="1778000" cy="1778000"/>
          </a:xfrm>
          <a:prstGeom prst="ellipse">
            <a:avLst/>
          </a:prstGeom>
          <a:solidFill>
            <a:srgbClr val="FFF1EB">
              <a:alpha val="100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  <a:endParaRPr/>
          </a:p>
        </p:txBody>
      </p:sp>
      <p:pic>
        <p:nvPicPr>
          <p:cNvPr id="16" name="Picture 16"/>
          <p:cNvPicPr>
            <a:picLocks noChangeAspect="1"/>
          </p:cNvPicPr>
          <p:nvPr/>
        </p:nvPicPr>
        <p:blipFill>
          <a:blip r:embed="rId8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9"/>
              </a:ext>
            </a:extLst>
          </a:blip>
          <a:stretch>
            <a:fillRect/>
          </a:stretch>
        </p:blipFill>
        <p:spPr>
          <a:xfrm>
            <a:off x="8648700" y="3810000"/>
            <a:ext cx="1016000" cy="1016000"/>
          </a:xfrm>
          <a:prstGeom prst="rect">
            <a:avLst/>
          </a:prstGeom>
        </p:spPr>
      </p:pic>
      <p:sp>
        <p:nvSpPr>
          <p:cNvPr id="17" name="AutoShape 17"/>
          <p:cNvSpPr/>
          <p:nvPr/>
        </p:nvSpPr>
        <p:spPr>
          <a:xfrm>
            <a:off x="7150100" y="5461000"/>
            <a:ext cx="4025900" cy="444500"/>
          </a:xfrm>
          <a:prstGeom prst="rect">
            <a:avLst/>
          </a:prstGeom>
          <a:noFill/>
          <a:ln w="1905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indent="0" algn="ctr">
              <a:lnSpc>
                <a:spcPct val="125000"/>
              </a:lnSpc>
              <a:defRPr/>
            </a:pPr>
            <a:r>
              <a:rPr lang="en-US" sz="2000" b="0" i="0" u="none" strike="noStrike">
                <a:solidFill>
                  <a:srgbClr val="EA580C"/>
                </a:solidFill>
                <a:latin typeface="Noto Sans SC"/>
                <a:ea typeface="Noto Sans SC"/>
                <a:cs typeface="Noto Sans SC"/>
                <a:sym typeface="Noto Sans SC"/>
              </a:rPr>
              <a:t>交互体验被动</a:t>
            </a:r>
            <a:endParaRPr lang="en-US" sz="1100"/>
          </a:p>
        </p:txBody>
      </p:sp>
      <p:sp>
        <p:nvSpPr>
          <p:cNvPr id="18" name="AutoShape 18"/>
          <p:cNvSpPr/>
          <p:nvPr/>
        </p:nvSpPr>
        <p:spPr>
          <a:xfrm>
            <a:off x="7150100" y="6096000"/>
            <a:ext cx="4025900" cy="1270000"/>
          </a:xfrm>
          <a:prstGeom prst="roundRect">
            <a:avLst>
              <a:gd name="adj" fmla="val 5000"/>
            </a:avLst>
          </a:prstGeom>
          <a:solidFill>
            <a:srgbClr val="F9FAFB">
              <a:alpha val="100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  <a:endParaRPr/>
          </a:p>
        </p:txBody>
      </p:sp>
      <p:sp>
        <p:nvSpPr>
          <p:cNvPr id="19" name="AutoShape 19"/>
          <p:cNvSpPr/>
          <p:nvPr/>
        </p:nvSpPr>
        <p:spPr>
          <a:xfrm>
            <a:off x="7277100" y="6159500"/>
            <a:ext cx="3771900" cy="1143000"/>
          </a:xfrm>
          <a:prstGeom prst="rect">
            <a:avLst/>
          </a:prstGeom>
          <a:noFill/>
          <a:ln w="19050" cap="flat" cmpd="sng">
            <a:noFill/>
            <a:prstDash val="solid"/>
            <a:round/>
          </a:ln>
        </p:spPr>
        <p:txBody>
          <a:bodyPr vert="horz" wrap="square" lIns="0" tIns="0" rIns="0" bIns="0" rtlCol="0" anchor="t" anchorCtr="0"/>
          <a:lstStyle/>
          <a:p>
            <a:pPr indent="0" algn="l">
              <a:lnSpc>
                <a:spcPct val="116666"/>
              </a:lnSpc>
              <a:defRPr/>
            </a:pPr>
            <a:r>
              <a:rPr lang="en-US" sz="1200" b="1" i="0" u="none" strike="noStrike">
                <a:solidFill>
                  <a:srgbClr val="6B7280"/>
                </a:solidFill>
                <a:latin typeface="Noto Sans SC"/>
                <a:ea typeface="Noto Sans SC"/>
                <a:cs typeface="Noto Sans SC"/>
                <a:sym typeface="Noto Sans SC"/>
              </a:rPr>
              <a:t>[痛点]</a:t>
            </a:r>
            <a:r>
              <a:rPr lang="en-US" sz="1200" b="0" i="0" u="none" strike="noStrike">
                <a:solidFill>
                  <a:srgbClr val="4B5563"/>
                </a:solidFill>
                <a:latin typeface="Noto Sans SC"/>
                <a:ea typeface="Noto Sans SC"/>
                <a:cs typeface="Noto Sans SC"/>
                <a:sym typeface="Noto Sans SC"/>
              </a:rPr>
              <a:t>设备需用户主动触发，缺乏真正智能。</a:t>
            </a:r>
            <a:endParaRPr lang="en-US" sz="1100"/>
          </a:p>
          <a:p>
            <a:pPr indent="0" algn="l">
              <a:lnSpc>
                <a:spcPct val="116666"/>
              </a:lnSpc>
            </a:pPr>
            <a:r>
              <a:rPr lang="en-US" sz="1200" b="1" i="0" u="none" strike="noStrike">
                <a:solidFill>
                  <a:srgbClr val="EA580C"/>
                </a:solidFill>
                <a:latin typeface="Noto Sans SC"/>
                <a:ea typeface="Noto Sans SC"/>
                <a:cs typeface="Noto Sans SC"/>
                <a:sym typeface="Noto Sans SC"/>
              </a:rPr>
              <a:t>[机会]</a:t>
            </a:r>
            <a:r>
              <a:rPr lang="en-US" sz="1200" b="0" i="0" u="none" strike="noStrike">
                <a:solidFill>
                  <a:srgbClr val="4B5563"/>
                </a:solidFill>
                <a:latin typeface="Noto Sans SC"/>
                <a:ea typeface="Noto Sans SC"/>
                <a:cs typeface="Noto Sans SC"/>
                <a:sym typeface="Noto Sans SC"/>
              </a:rPr>
              <a:t>AI Agent主动发起服务，实现革命性转变。</a:t>
            </a:r>
          </a:p>
        </p:txBody>
      </p:sp>
      <p:sp>
        <p:nvSpPr>
          <p:cNvPr id="20" name="AutoShape 20"/>
          <p:cNvSpPr/>
          <p:nvPr/>
        </p:nvSpPr>
        <p:spPr>
          <a:xfrm>
            <a:off x="12369800" y="2755900"/>
            <a:ext cx="4279900" cy="3962400"/>
          </a:xfrm>
          <a:prstGeom prst="roundRect">
            <a:avLst>
              <a:gd name="adj" fmla="val 3205"/>
            </a:avLst>
          </a:prstGeom>
          <a:solidFill>
            <a:srgbClr val="FFFFFF">
              <a:alpha val="100000"/>
            </a:srgbClr>
          </a:solidFill>
          <a:ln w="25400" cap="flat" cmpd="sng">
            <a:noFill/>
            <a:prstDash val="solid"/>
            <a:round/>
          </a:ln>
          <a:effectLst>
            <a:outerShdw blurRad="190500" dist="50800" dir="2700000" algn="tl" rotWithShape="0">
              <a:srgbClr val="000000">
                <a:alpha val="8000"/>
              </a:srgbClr>
            </a:outerShdw>
          </a:effectLst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  <a:endParaRPr/>
          </a:p>
        </p:txBody>
      </p:sp>
      <p:sp>
        <p:nvSpPr>
          <p:cNvPr id="21" name="AutoShape 21"/>
          <p:cNvSpPr/>
          <p:nvPr/>
        </p:nvSpPr>
        <p:spPr>
          <a:xfrm>
            <a:off x="13614400" y="3429000"/>
            <a:ext cx="1778000" cy="1778000"/>
          </a:xfrm>
          <a:prstGeom prst="ellipse">
            <a:avLst/>
          </a:prstGeom>
          <a:solidFill>
            <a:srgbClr val="FFF1EB">
              <a:alpha val="100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  <a:endParaRPr/>
          </a:p>
        </p:txBody>
      </p:sp>
      <p:pic>
        <p:nvPicPr>
          <p:cNvPr id="22" name="Picture 22"/>
          <p:cNvPicPr>
            <a:picLocks noChangeAspect="1"/>
          </p:cNvPicPr>
          <p:nvPr/>
        </p:nvPicPr>
        <p:blipFill>
          <a:blip r:embed="rId10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11"/>
              </a:ext>
            </a:extLst>
          </a:blip>
          <a:stretch>
            <a:fillRect/>
          </a:stretch>
        </p:blipFill>
        <p:spPr>
          <a:xfrm>
            <a:off x="13995400" y="3810000"/>
            <a:ext cx="1016000" cy="1016000"/>
          </a:xfrm>
          <a:prstGeom prst="rect">
            <a:avLst/>
          </a:prstGeom>
        </p:spPr>
      </p:pic>
      <p:sp>
        <p:nvSpPr>
          <p:cNvPr id="23" name="AutoShape 23"/>
          <p:cNvSpPr/>
          <p:nvPr/>
        </p:nvSpPr>
        <p:spPr>
          <a:xfrm>
            <a:off x="12496800" y="5461000"/>
            <a:ext cx="4025900" cy="444500"/>
          </a:xfrm>
          <a:prstGeom prst="rect">
            <a:avLst/>
          </a:prstGeom>
          <a:noFill/>
          <a:ln w="1905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indent="0" algn="ctr">
              <a:lnSpc>
                <a:spcPct val="125000"/>
              </a:lnSpc>
              <a:defRPr/>
            </a:pPr>
            <a:r>
              <a:rPr lang="en-US" sz="2000" b="0" i="0" u="none" strike="noStrike">
                <a:solidFill>
                  <a:srgbClr val="EA580C"/>
                </a:solidFill>
                <a:latin typeface="Noto Sans SC"/>
                <a:ea typeface="Noto Sans SC"/>
                <a:cs typeface="Noto Sans SC"/>
                <a:sym typeface="Noto Sans SC"/>
              </a:rPr>
              <a:t>用户体验割裂</a:t>
            </a:r>
            <a:endParaRPr lang="en-US" sz="1100"/>
          </a:p>
        </p:txBody>
      </p:sp>
      <p:sp>
        <p:nvSpPr>
          <p:cNvPr id="24" name="AutoShape 24"/>
          <p:cNvSpPr/>
          <p:nvPr/>
        </p:nvSpPr>
        <p:spPr>
          <a:xfrm>
            <a:off x="12496800" y="6096000"/>
            <a:ext cx="4025900" cy="1270000"/>
          </a:xfrm>
          <a:prstGeom prst="roundRect">
            <a:avLst>
              <a:gd name="adj" fmla="val 5000"/>
            </a:avLst>
          </a:prstGeom>
          <a:solidFill>
            <a:srgbClr val="F9FAFB">
              <a:alpha val="100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  <a:endParaRPr/>
          </a:p>
        </p:txBody>
      </p:sp>
      <p:sp>
        <p:nvSpPr>
          <p:cNvPr id="25" name="AutoShape 25"/>
          <p:cNvSpPr/>
          <p:nvPr/>
        </p:nvSpPr>
        <p:spPr>
          <a:xfrm>
            <a:off x="12623800" y="6159500"/>
            <a:ext cx="3771900" cy="1143000"/>
          </a:xfrm>
          <a:prstGeom prst="rect">
            <a:avLst/>
          </a:prstGeom>
          <a:noFill/>
          <a:ln w="19050" cap="flat" cmpd="sng">
            <a:noFill/>
            <a:prstDash val="solid"/>
            <a:round/>
          </a:ln>
        </p:spPr>
        <p:txBody>
          <a:bodyPr vert="horz" wrap="square" lIns="0" tIns="0" rIns="0" bIns="0" rtlCol="0" anchor="t" anchorCtr="0"/>
          <a:lstStyle/>
          <a:p>
            <a:pPr indent="0" algn="l">
              <a:lnSpc>
                <a:spcPct val="116666"/>
              </a:lnSpc>
              <a:defRPr/>
            </a:pPr>
            <a:r>
              <a:rPr lang="en-US" sz="1200" b="1" i="0" u="none" strike="noStrike">
                <a:solidFill>
                  <a:srgbClr val="6B7280"/>
                </a:solidFill>
                <a:latin typeface="Noto Sans SC"/>
                <a:ea typeface="Noto Sans SC"/>
                <a:cs typeface="Noto Sans SC"/>
                <a:sym typeface="Noto Sans SC"/>
              </a:rPr>
              <a:t>[痛点]</a:t>
            </a:r>
            <a:r>
              <a:rPr lang="en-US" sz="1200" b="0" i="0" u="none" strike="noStrike">
                <a:solidFill>
                  <a:srgbClr val="4B5563"/>
                </a:solidFill>
                <a:latin typeface="Noto Sans SC"/>
                <a:ea typeface="Noto Sans SC"/>
                <a:cs typeface="Noto Sans SC"/>
                <a:sym typeface="Noto Sans SC"/>
              </a:rPr>
              <a:t>产品功能单一，无法服务全家。</a:t>
            </a:r>
            <a:endParaRPr lang="en-US" sz="1100"/>
          </a:p>
          <a:p>
            <a:pPr indent="0" algn="l">
              <a:lnSpc>
                <a:spcPct val="116666"/>
              </a:lnSpc>
            </a:pPr>
            <a:r>
              <a:rPr lang="en-US" sz="1200" b="1" i="0" u="none" strike="noStrike">
                <a:solidFill>
                  <a:srgbClr val="EA580C"/>
                </a:solidFill>
                <a:latin typeface="Noto Sans SC"/>
                <a:ea typeface="Noto Sans SC"/>
                <a:cs typeface="Noto Sans SC"/>
                <a:sym typeface="Noto Sans SC"/>
              </a:rPr>
              <a:t>[机会]</a:t>
            </a:r>
            <a:r>
              <a:rPr lang="en-US" sz="1200" b="0" i="0" u="none" strike="noStrike">
                <a:solidFill>
                  <a:srgbClr val="4B5563"/>
                </a:solidFill>
                <a:latin typeface="Noto Sans SC"/>
                <a:ea typeface="Noto Sans SC"/>
                <a:cs typeface="Noto Sans SC"/>
                <a:sym typeface="Noto Sans SC"/>
              </a:rPr>
              <a:t>多人格功能支持，实现“一台设备，服务全家”。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>
            <a:alpha val="100000"/>
          </a:srgb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2"/>
          <p:cNvPicPr>
            <a:picLocks noChangeAspect="1"/>
          </p:cNvPicPr>
          <p:nvPr/>
        </p:nvPicPr>
        <p:blipFill>
          <a:blip r:embed="rId3"/>
          <a:srcRect t="458" b="458"/>
          <a:stretch>
            <a:fillRect/>
          </a:stretch>
        </p:blipFill>
        <p:spPr>
          <a:xfrm>
            <a:off x="11061700" y="8432800"/>
            <a:ext cx="7226300" cy="1854200"/>
          </a:xfrm>
          <a:prstGeom prst="rect">
            <a:avLst/>
          </a:prstGeom>
          <a:noFill/>
          <a:ln w="25400" cap="flat" cmpd="sng">
            <a:noFill/>
            <a:prstDash val="solid"/>
            <a:round/>
          </a:ln>
        </p:spPr>
      </p:pic>
      <p:pic>
        <p:nvPicPr>
          <p:cNvPr id="3" name="Picture 3"/>
          <p:cNvPicPr>
            <a:picLocks noChangeAspect="1"/>
          </p:cNvPicPr>
          <p:nvPr/>
        </p:nvPicPr>
        <p:blipFill>
          <a:blip r:embed="rId4"/>
          <a:srcRect t="228" b="228"/>
          <a:stretch>
            <a:fillRect/>
          </a:stretch>
        </p:blipFill>
        <p:spPr>
          <a:xfrm>
            <a:off x="977900" y="1689100"/>
            <a:ext cx="16484600" cy="3886200"/>
          </a:xfrm>
          <a:prstGeom prst="rect">
            <a:avLst/>
          </a:prstGeom>
          <a:noFill/>
          <a:ln w="25400" cap="flat" cmpd="sng">
            <a:noFill/>
            <a:prstDash val="solid"/>
            <a:round/>
          </a:ln>
        </p:spPr>
      </p:pic>
      <p:sp>
        <p:nvSpPr>
          <p:cNvPr id="4" name="AutoShape 4"/>
          <p:cNvSpPr/>
          <p:nvPr/>
        </p:nvSpPr>
        <p:spPr>
          <a:xfrm>
            <a:off x="622300" y="571500"/>
            <a:ext cx="7404100" cy="635000"/>
          </a:xfrm>
          <a:prstGeom prst="rect">
            <a:avLst/>
          </a:prstGeom>
          <a:noFill/>
          <a:ln w="1905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indent="0" algn="l">
              <a:lnSpc>
                <a:spcPct val="125000"/>
              </a:lnSpc>
              <a:defRPr/>
            </a:pPr>
            <a:r>
              <a:rPr lang="en-US" sz="4200" b="1" i="0" u="none" strike="noStrike">
                <a:solidFill>
                  <a:srgbClr val="FFB458"/>
                </a:solidFill>
                <a:latin typeface="Noto Sans SC"/>
                <a:ea typeface="Noto Sans SC"/>
                <a:cs typeface="Noto Sans SC"/>
                <a:sym typeface="Noto Sans SC"/>
              </a:rPr>
              <a:t>竞争格局分析</a:t>
            </a:r>
            <a:endParaRPr lang="en-US" sz="1100"/>
          </a:p>
        </p:txBody>
      </p:sp>
      <p:cxnSp>
        <p:nvCxnSpPr>
          <p:cNvPr id="5" name="Connector 5"/>
          <p:cNvCxnSpPr/>
          <p:nvPr/>
        </p:nvCxnSpPr>
        <p:spPr>
          <a:xfrm>
            <a:off x="4406900" y="889000"/>
            <a:ext cx="11861807" cy="12700"/>
          </a:xfrm>
          <a:prstGeom prst="line">
            <a:avLst/>
          </a:prstGeom>
          <a:solidFill>
            <a:srgbClr val="DEE0E3">
              <a:alpha val="100000"/>
            </a:srgbClr>
          </a:solidFill>
          <a:ln w="12700" cap="rnd" cmpd="sng">
            <a:solidFill>
              <a:srgbClr val="F89469">
                <a:alpha val="100000"/>
              </a:srgbClr>
            </a:solidFill>
            <a:prstDash val="solid"/>
            <a:round/>
            <a:headEnd type="none" w="med" len="med"/>
            <a:tailEnd type="none" w="med" len="med"/>
          </a:ln>
        </p:spPr>
      </p:cxnSp>
      <p:sp>
        <p:nvSpPr>
          <p:cNvPr id="6" name="AutoShape 6"/>
          <p:cNvSpPr/>
          <p:nvPr/>
        </p:nvSpPr>
        <p:spPr>
          <a:xfrm>
            <a:off x="16446500" y="546100"/>
            <a:ext cx="1104900" cy="736600"/>
          </a:xfrm>
          <a:prstGeom prst="rect">
            <a:avLst/>
          </a:prstGeom>
          <a:noFill/>
          <a:ln w="1905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indent="0" algn="ctr">
              <a:lnSpc>
                <a:spcPct val="125000"/>
              </a:lnSpc>
              <a:defRPr/>
            </a:pPr>
            <a:r>
              <a:rPr lang="en-US" sz="4500" b="0" i="0" u="none" strike="noStrike">
                <a:solidFill>
                  <a:srgbClr val="FFB364"/>
                </a:solidFill>
                <a:latin typeface="Montserrat"/>
                <a:ea typeface="Montserrat"/>
                <a:cs typeface="Montserrat"/>
                <a:sym typeface="Montserrat"/>
              </a:rPr>
              <a:t>02</a:t>
            </a:r>
            <a:endParaRPr lang="en-US" sz="1100"/>
          </a:p>
        </p:txBody>
      </p:sp>
      <p:pic>
        <p:nvPicPr>
          <p:cNvPr id="7" name="Picture 7"/>
          <p:cNvPicPr>
            <a:picLocks noChangeAspect="1"/>
          </p:cNvPicPr>
          <p:nvPr/>
        </p:nvPicPr>
        <p:blipFill>
          <a:blip r:embed="rId5"/>
          <a:srcRect t="162" b="162"/>
          <a:stretch>
            <a:fillRect/>
          </a:stretch>
        </p:blipFill>
        <p:spPr>
          <a:xfrm>
            <a:off x="1778000" y="4660900"/>
            <a:ext cx="14884400" cy="4699000"/>
          </a:xfrm>
          <a:prstGeom prst="rect">
            <a:avLst/>
          </a:prstGeom>
          <a:noFill/>
          <a:ln w="25400" cap="flat" cmpd="sng">
            <a:noFill/>
            <a:prstDash val="solid"/>
            <a:round/>
          </a:ln>
        </p:spPr>
      </p:pic>
      <p:sp>
        <p:nvSpPr>
          <p:cNvPr id="8" name="AutoShape 8"/>
          <p:cNvSpPr/>
          <p:nvPr/>
        </p:nvSpPr>
        <p:spPr>
          <a:xfrm>
            <a:off x="2540000" y="5143500"/>
            <a:ext cx="5715000" cy="508000"/>
          </a:xfrm>
          <a:prstGeom prst="rect">
            <a:avLst/>
          </a:prstGeom>
          <a:noFill/>
          <a:ln w="1905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indent="0" algn="l">
              <a:lnSpc>
                <a:spcPct val="125000"/>
              </a:lnSpc>
              <a:defRPr/>
            </a:pPr>
            <a:r>
              <a:rPr lang="en-US" sz="2600" b="1" i="0" u="none" strike="noStrike">
                <a:solidFill>
                  <a:srgbClr val="FFFFFF"/>
                </a:solidFill>
                <a:latin typeface="Noto Sans SC"/>
                <a:ea typeface="Noto Sans SC"/>
                <a:cs typeface="Noto Sans SC"/>
                <a:sym typeface="Noto Sans SC"/>
              </a:rPr>
              <a:t>传统智能家居（云端方案）</a:t>
            </a:r>
            <a:endParaRPr lang="en-US" sz="1100"/>
          </a:p>
        </p:txBody>
      </p:sp>
      <p:sp>
        <p:nvSpPr>
          <p:cNvPr id="9" name="AutoShape 9"/>
          <p:cNvSpPr/>
          <p:nvPr/>
        </p:nvSpPr>
        <p:spPr>
          <a:xfrm>
            <a:off x="2540000" y="5842000"/>
            <a:ext cx="5842000" cy="1143000"/>
          </a:xfrm>
          <a:prstGeom prst="rect">
            <a:avLst/>
          </a:prstGeom>
          <a:noFill/>
          <a:ln w="19050" cap="flat" cmpd="sng">
            <a:noFill/>
            <a:prstDash val="solid"/>
            <a:round/>
          </a:ln>
        </p:spPr>
        <p:txBody>
          <a:bodyPr vert="horz" wrap="square" lIns="0" tIns="0" rIns="0" bIns="0" rtlCol="0" anchor="t" anchorCtr="0"/>
          <a:lstStyle/>
          <a:p>
            <a:pPr indent="0" algn="l">
              <a:lnSpc>
                <a:spcPct val="108333"/>
              </a:lnSpc>
              <a:defRPr/>
            </a:pPr>
            <a:r>
              <a:rPr lang="en-US" sz="1200" b="0" i="0" u="none" strike="noStrike">
                <a:solidFill>
                  <a:srgbClr val="E5E7EB"/>
                </a:solidFill>
                <a:latin typeface="Noto Sans SC"/>
                <a:ea typeface="Noto Sans SC"/>
                <a:cs typeface="Noto Sans SC"/>
                <a:sym typeface="Noto Sans SC"/>
              </a:rPr>
              <a:t>• 隐私安全：数据上云，存在泄露与滥用风险</a:t>
            </a:r>
            <a:endParaRPr lang="en-US" sz="1100"/>
          </a:p>
          <a:p>
            <a:pPr indent="0" algn="l">
              <a:lnSpc>
                <a:spcPct val="108333"/>
              </a:lnSpc>
            </a:pPr>
            <a:r>
              <a:rPr lang="en-US" sz="1200" b="0" i="0" u="none" strike="noStrike">
                <a:solidFill>
                  <a:srgbClr val="E5E7EB"/>
                </a:solidFill>
                <a:latin typeface="Noto Sans SC"/>
                <a:ea typeface="Noto Sans SC"/>
                <a:cs typeface="Noto Sans SC"/>
                <a:sym typeface="Noto Sans SC"/>
              </a:rPr>
              <a:t>• 响应速度：依赖网络带宽，高峰期存在明显延迟</a:t>
            </a:r>
          </a:p>
          <a:p>
            <a:pPr indent="0" algn="l">
              <a:lnSpc>
                <a:spcPct val="108333"/>
              </a:lnSpc>
            </a:pPr>
            <a:r>
              <a:rPr lang="en-US" sz="1200" b="0" i="0" u="none" strike="noStrike">
                <a:solidFill>
                  <a:srgbClr val="E5E7EB"/>
                </a:solidFill>
                <a:latin typeface="Noto Sans SC"/>
                <a:ea typeface="Noto Sans SC"/>
                <a:cs typeface="Noto Sans SC"/>
                <a:sym typeface="Noto Sans SC"/>
              </a:rPr>
              <a:t>• 交互模式：被动响应指令，缺乏主动服务意识</a:t>
            </a:r>
          </a:p>
        </p:txBody>
      </p:sp>
      <p:cxnSp>
        <p:nvCxnSpPr>
          <p:cNvPr id="10" name="Connector 10"/>
          <p:cNvCxnSpPr/>
          <p:nvPr/>
        </p:nvCxnSpPr>
        <p:spPr>
          <a:xfrm rot="-7813">
            <a:off x="2540007" y="7105650"/>
            <a:ext cx="5588000" cy="12700"/>
          </a:xfrm>
          <a:prstGeom prst="line">
            <a:avLst/>
          </a:prstGeom>
          <a:solidFill>
            <a:srgbClr val="DEE0E3">
              <a:alpha val="100000"/>
            </a:srgbClr>
          </a:solidFill>
          <a:ln w="12700" cap="rnd" cmpd="sng">
            <a:solidFill>
              <a:srgbClr val="FFFFFF">
                <a:alpha val="50000"/>
              </a:srgbClr>
            </a:solidFill>
            <a:prstDash val="solid"/>
            <a:round/>
            <a:headEnd type="none" w="med" len="med"/>
            <a:tailEnd type="none" w="med" len="med"/>
          </a:ln>
        </p:spPr>
      </p:cxnSp>
      <p:sp>
        <p:nvSpPr>
          <p:cNvPr id="11" name="AutoShape 11"/>
          <p:cNvSpPr/>
          <p:nvPr/>
        </p:nvSpPr>
        <p:spPr>
          <a:xfrm>
            <a:off x="2540000" y="7366000"/>
            <a:ext cx="2286000" cy="381000"/>
          </a:xfrm>
          <a:prstGeom prst="rect">
            <a:avLst/>
          </a:prstGeom>
          <a:noFill/>
          <a:ln w="1905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indent="0" algn="l">
              <a:lnSpc>
                <a:spcPct val="125000"/>
              </a:lnSpc>
              <a:defRPr/>
            </a:pPr>
            <a:r>
              <a:rPr lang="en-US" sz="1800" b="1" i="0" u="none" strike="noStrike">
                <a:solidFill>
                  <a:schemeClr val="bg1"/>
                </a:solidFill>
                <a:latin typeface="Noto Sans SC"/>
                <a:ea typeface="Noto Sans SC"/>
                <a:cs typeface="Noto Sans SC"/>
                <a:sym typeface="Noto Sans SC"/>
              </a:rPr>
              <a:t>⚠️ 体验痛点：</a:t>
            </a:r>
            <a:r>
              <a:rPr lang="en-US" sz="1800" b="0" i="0" u="none" strike="noStrike">
                <a:solidFill>
                  <a:schemeClr val="bg1"/>
                </a:solidFill>
                <a:latin typeface="Noto Sans SC"/>
                <a:ea typeface="Noto Sans SC"/>
                <a:cs typeface="Noto Sans SC"/>
                <a:sym typeface="Noto Sans SC"/>
              </a:rPr>
              <a:t>千人一面，无个性化</a:t>
            </a:r>
            <a:endParaRPr lang="en-US" sz="1800">
              <a:solidFill>
                <a:schemeClr val="bg1"/>
              </a:solidFill>
            </a:endParaRPr>
          </a:p>
        </p:txBody>
      </p:sp>
      <p:sp>
        <p:nvSpPr>
          <p:cNvPr id="12" name="AutoShape 12"/>
          <p:cNvSpPr/>
          <p:nvPr/>
        </p:nvSpPr>
        <p:spPr>
          <a:xfrm>
            <a:off x="5080000" y="7366000"/>
            <a:ext cx="2286000" cy="381000"/>
          </a:xfrm>
          <a:prstGeom prst="rect">
            <a:avLst/>
          </a:prstGeom>
          <a:noFill/>
          <a:ln w="1905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indent="0" algn="l">
              <a:lnSpc>
                <a:spcPct val="125000"/>
              </a:lnSpc>
              <a:defRPr/>
            </a:pPr>
            <a:r>
              <a:rPr lang="en-US" sz="1800" b="1" i="0" u="none" strike="noStrike">
                <a:solidFill>
                  <a:schemeClr val="bg1"/>
                </a:solidFill>
                <a:latin typeface="Noto Sans SC"/>
                <a:ea typeface="Noto Sans SC"/>
                <a:cs typeface="Noto Sans SC"/>
                <a:sym typeface="Noto Sans SC"/>
              </a:rPr>
              <a:t>📡 核心限制：</a:t>
            </a:r>
            <a:r>
              <a:rPr lang="en-US" sz="1800" b="0" i="0" u="none" strike="noStrike">
                <a:solidFill>
                  <a:schemeClr val="bg1"/>
                </a:solidFill>
                <a:latin typeface="Noto Sans SC"/>
                <a:ea typeface="Noto Sans SC"/>
                <a:cs typeface="Noto Sans SC"/>
                <a:sym typeface="Noto Sans SC"/>
              </a:rPr>
              <a:t>断网即失效</a:t>
            </a:r>
            <a:endParaRPr lang="en-US" sz="1800">
              <a:solidFill>
                <a:schemeClr val="bg1"/>
              </a:solidFill>
            </a:endParaRPr>
          </a:p>
        </p:txBody>
      </p:sp>
      <p:sp>
        <p:nvSpPr>
          <p:cNvPr id="13" name="AutoShape 13"/>
          <p:cNvSpPr/>
          <p:nvPr/>
        </p:nvSpPr>
        <p:spPr>
          <a:xfrm>
            <a:off x="2540000" y="8128000"/>
            <a:ext cx="5588000" cy="508000"/>
          </a:xfrm>
          <a:prstGeom prst="roundRect">
            <a:avLst>
              <a:gd name="adj" fmla="val 25000"/>
            </a:avLst>
          </a:prstGeom>
          <a:solidFill>
            <a:srgbClr val="FFFFFF">
              <a:alpha val="15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  <a:endParaRPr/>
          </a:p>
        </p:txBody>
      </p:sp>
      <p:sp>
        <p:nvSpPr>
          <p:cNvPr id="14" name="AutoShape 14"/>
          <p:cNvSpPr/>
          <p:nvPr/>
        </p:nvSpPr>
        <p:spPr>
          <a:xfrm>
            <a:off x="2667000" y="8191500"/>
            <a:ext cx="5334000" cy="381000"/>
          </a:xfrm>
          <a:prstGeom prst="rect">
            <a:avLst/>
          </a:prstGeom>
          <a:noFill/>
          <a:ln w="1905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indent="0" algn="ctr">
              <a:lnSpc>
                <a:spcPct val="125000"/>
              </a:lnSpc>
              <a:defRPr/>
            </a:pPr>
            <a:r>
              <a:rPr lang="en-US" sz="1200" b="0" i="0" u="none" strike="noStrike">
                <a:solidFill>
                  <a:srgbClr val="E5E7EB"/>
                </a:solidFill>
                <a:latin typeface="Noto Sans SC"/>
                <a:ea typeface="Noto Sans SC"/>
                <a:cs typeface="Noto Sans SC"/>
                <a:sym typeface="Noto Sans SC"/>
              </a:rPr>
              <a:t>传统方案受限于云端架构，难以满足用户对安全与实时性的深层需求</a:t>
            </a:r>
            <a:endParaRPr lang="en-US" sz="1100"/>
          </a:p>
        </p:txBody>
      </p:sp>
      <p:cxnSp>
        <p:nvCxnSpPr>
          <p:cNvPr id="15" name="Connector 15"/>
          <p:cNvCxnSpPr/>
          <p:nvPr/>
        </p:nvCxnSpPr>
        <p:spPr>
          <a:xfrm rot="5387722">
            <a:off x="7366000" y="7105661"/>
            <a:ext cx="3556000" cy="12700"/>
          </a:xfrm>
          <a:prstGeom prst="line">
            <a:avLst/>
          </a:prstGeom>
          <a:solidFill>
            <a:srgbClr val="DEE0E3">
              <a:alpha val="100000"/>
            </a:srgbClr>
          </a:solidFill>
          <a:ln w="12700" cap="flat" cmpd="sng">
            <a:solidFill>
              <a:srgbClr val="FFFFFF">
                <a:alpha val="40000"/>
              </a:srgbClr>
            </a:solidFill>
            <a:prstDash val="dash"/>
            <a:round/>
            <a:headEnd type="none" w="med" len="med"/>
            <a:tailEnd type="none" w="med" len="med"/>
          </a:ln>
        </p:spPr>
      </p:cxnSp>
      <p:sp>
        <p:nvSpPr>
          <p:cNvPr id="16" name="AutoShape 16"/>
          <p:cNvSpPr/>
          <p:nvPr/>
        </p:nvSpPr>
        <p:spPr>
          <a:xfrm>
            <a:off x="9525000" y="5143500"/>
            <a:ext cx="5842000" cy="508000"/>
          </a:xfrm>
          <a:prstGeom prst="rect">
            <a:avLst/>
          </a:prstGeom>
          <a:noFill/>
          <a:ln w="1905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indent="0" algn="l">
              <a:lnSpc>
                <a:spcPct val="125000"/>
              </a:lnSpc>
              <a:defRPr/>
            </a:pPr>
            <a:r>
              <a:rPr lang="en-US" sz="2600" b="1" i="0" u="none" strike="noStrike">
                <a:solidFill>
                  <a:srgbClr val="FFB458"/>
                </a:solidFill>
                <a:latin typeface="Noto Sans SC"/>
                <a:ea typeface="Noto Sans SC"/>
                <a:cs typeface="Noto Sans SC"/>
                <a:sym typeface="Noto Sans SC"/>
              </a:rPr>
              <a:t>智能家庭管家（本地大模型）</a:t>
            </a:r>
            <a:endParaRPr lang="en-US" sz="1100"/>
          </a:p>
        </p:txBody>
      </p:sp>
      <p:sp>
        <p:nvSpPr>
          <p:cNvPr id="17" name="AutoShape 17"/>
          <p:cNvSpPr/>
          <p:nvPr/>
        </p:nvSpPr>
        <p:spPr>
          <a:xfrm>
            <a:off x="9525000" y="5842000"/>
            <a:ext cx="5842000" cy="1143000"/>
          </a:xfrm>
          <a:prstGeom prst="rect">
            <a:avLst/>
          </a:prstGeom>
          <a:noFill/>
          <a:ln w="19050" cap="flat" cmpd="sng">
            <a:noFill/>
            <a:prstDash val="solid"/>
            <a:round/>
          </a:ln>
        </p:spPr>
        <p:txBody>
          <a:bodyPr vert="horz" wrap="square" lIns="0" tIns="0" rIns="0" bIns="0" rtlCol="0" anchor="t" anchorCtr="0"/>
          <a:lstStyle/>
          <a:p>
            <a:pPr indent="0" algn="l">
              <a:lnSpc>
                <a:spcPct val="108333"/>
              </a:lnSpc>
              <a:defRPr/>
            </a:pPr>
            <a:r>
              <a:rPr lang="en-US" sz="1200" b="0" i="0" u="none" strike="noStrike">
                <a:solidFill>
                  <a:srgbClr val="FFFFFF"/>
                </a:solidFill>
                <a:latin typeface="Noto Sans SC"/>
                <a:ea typeface="Noto Sans SC"/>
                <a:cs typeface="Noto Sans SC"/>
                <a:sym typeface="Noto Sans SC"/>
              </a:rPr>
              <a:t>• 隐私安全：100%数据本地闭环存储，物理隔绝风险</a:t>
            </a:r>
            <a:endParaRPr lang="en-US" sz="1100"/>
          </a:p>
          <a:p>
            <a:pPr indent="0" algn="l">
              <a:lnSpc>
                <a:spcPct val="108333"/>
              </a:lnSpc>
            </a:pPr>
            <a:r>
              <a:rPr lang="en-US" sz="1200" b="0" i="0" u="none" strike="noStrike">
                <a:solidFill>
                  <a:srgbClr val="FFFFFF"/>
                </a:solidFill>
                <a:latin typeface="Noto Sans SC"/>
                <a:ea typeface="Noto Sans SC"/>
                <a:cs typeface="Noto Sans SC"/>
                <a:sym typeface="Noto Sans SC"/>
              </a:rPr>
              <a:t>• 响应速度：本地端侧计算，实现毫秒级指令响应</a:t>
            </a:r>
          </a:p>
          <a:p>
            <a:pPr indent="0" algn="l">
              <a:lnSpc>
                <a:spcPct val="108333"/>
              </a:lnSpc>
            </a:pPr>
            <a:r>
              <a:rPr lang="en-US" sz="1200" b="0" i="0" u="none" strike="noStrike">
                <a:solidFill>
                  <a:srgbClr val="FFFFFF"/>
                </a:solidFill>
                <a:latin typeface="Noto Sans SC"/>
                <a:ea typeface="Noto Sans SC"/>
                <a:cs typeface="Noto Sans SC"/>
                <a:sym typeface="Noto Sans SC"/>
              </a:rPr>
              <a:t>• 交互模式：AI Agent主动感知，自主决策提供服务</a:t>
            </a:r>
          </a:p>
        </p:txBody>
      </p:sp>
      <p:cxnSp>
        <p:nvCxnSpPr>
          <p:cNvPr id="18" name="Connector 18"/>
          <p:cNvCxnSpPr/>
          <p:nvPr/>
        </p:nvCxnSpPr>
        <p:spPr>
          <a:xfrm rot="-7639">
            <a:off x="9525007" y="7105650"/>
            <a:ext cx="5715000" cy="12700"/>
          </a:xfrm>
          <a:prstGeom prst="line">
            <a:avLst/>
          </a:prstGeom>
          <a:solidFill>
            <a:srgbClr val="DEE0E3">
              <a:alpha val="100000"/>
            </a:srgbClr>
          </a:solidFill>
          <a:ln w="12700" cap="rnd" cmpd="sng">
            <a:solidFill>
              <a:srgbClr val="FFFFFF">
                <a:alpha val="50000"/>
              </a:srgbClr>
            </a:solidFill>
            <a:prstDash val="solid"/>
            <a:round/>
            <a:headEnd type="none" w="med" len="med"/>
            <a:tailEnd type="none" w="med" len="med"/>
          </a:ln>
        </p:spPr>
      </p:cxnSp>
      <p:sp>
        <p:nvSpPr>
          <p:cNvPr id="19" name="AutoShape 19"/>
          <p:cNvSpPr/>
          <p:nvPr/>
        </p:nvSpPr>
        <p:spPr>
          <a:xfrm>
            <a:off x="9525000" y="7366000"/>
            <a:ext cx="2286000" cy="381000"/>
          </a:xfrm>
          <a:prstGeom prst="rect">
            <a:avLst/>
          </a:prstGeom>
          <a:noFill/>
          <a:ln w="1905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indent="0" algn="l">
              <a:lnSpc>
                <a:spcPct val="125000"/>
              </a:lnSpc>
              <a:defRPr/>
            </a:pPr>
            <a:r>
              <a:rPr lang="en-US" sz="1800" b="1" i="0" u="none" strike="noStrike">
                <a:solidFill>
                  <a:schemeClr val="bg1"/>
                </a:solidFill>
                <a:latin typeface="Noto Sans SC"/>
                <a:ea typeface="Noto Sans SC"/>
                <a:cs typeface="Noto Sans SC"/>
                <a:sym typeface="Noto Sans SC"/>
              </a:rPr>
              <a:t>👨‍👩‍👧 服务优势：</a:t>
            </a:r>
            <a:r>
              <a:rPr lang="en-US" sz="1800" b="0" i="0" u="none" strike="noStrike">
                <a:solidFill>
                  <a:schemeClr val="bg1"/>
                </a:solidFill>
                <a:latin typeface="Noto Sans SC"/>
                <a:ea typeface="Noto Sans SC"/>
                <a:cs typeface="Noto Sans SC"/>
                <a:sym typeface="Noto Sans SC"/>
              </a:rPr>
              <a:t>多人格适配全家</a:t>
            </a:r>
            <a:endParaRPr lang="en-US" sz="1800">
              <a:solidFill>
                <a:schemeClr val="bg1"/>
              </a:solidFill>
            </a:endParaRPr>
          </a:p>
        </p:txBody>
      </p:sp>
      <p:sp>
        <p:nvSpPr>
          <p:cNvPr id="20" name="AutoShape 20"/>
          <p:cNvSpPr/>
          <p:nvPr/>
        </p:nvSpPr>
        <p:spPr>
          <a:xfrm>
            <a:off x="11938000" y="7366000"/>
            <a:ext cx="2286000" cy="381000"/>
          </a:xfrm>
          <a:prstGeom prst="rect">
            <a:avLst/>
          </a:prstGeom>
          <a:noFill/>
          <a:ln w="1905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indent="0" algn="l">
              <a:lnSpc>
                <a:spcPct val="125000"/>
              </a:lnSpc>
              <a:defRPr/>
            </a:pPr>
            <a:r>
              <a:rPr lang="en-US" sz="1800" b="1" i="0" u="none" strike="noStrike">
                <a:solidFill>
                  <a:schemeClr val="bg1"/>
                </a:solidFill>
                <a:latin typeface="Noto Sans SC"/>
                <a:ea typeface="Noto Sans SC"/>
                <a:cs typeface="Noto Sans SC"/>
                <a:sym typeface="Noto Sans SC"/>
              </a:rPr>
              <a:t>🧠 核心壁垒：</a:t>
            </a:r>
            <a:r>
              <a:rPr lang="en-US" sz="1800" b="0" i="0" u="none" strike="noStrike">
                <a:solidFill>
                  <a:schemeClr val="bg1"/>
                </a:solidFill>
                <a:latin typeface="Noto Sans SC"/>
                <a:ea typeface="Noto Sans SC"/>
                <a:cs typeface="Noto Sans SC"/>
                <a:sym typeface="Noto Sans SC"/>
              </a:rPr>
              <a:t>端侧模型持续进化</a:t>
            </a:r>
            <a:endParaRPr lang="en-US" sz="1800">
              <a:solidFill>
                <a:schemeClr val="bg1"/>
              </a:solidFill>
            </a:endParaRPr>
          </a:p>
        </p:txBody>
      </p:sp>
      <p:sp>
        <p:nvSpPr>
          <p:cNvPr id="21" name="AutoShape 21"/>
          <p:cNvSpPr/>
          <p:nvPr/>
        </p:nvSpPr>
        <p:spPr>
          <a:xfrm>
            <a:off x="9525000" y="8128000"/>
            <a:ext cx="5588000" cy="508000"/>
          </a:xfrm>
          <a:prstGeom prst="roundRect">
            <a:avLst>
              <a:gd name="adj" fmla="val 25000"/>
            </a:avLst>
          </a:prstGeom>
          <a:solidFill>
            <a:srgbClr val="FFB458">
              <a:alpha val="25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  <a:endParaRPr/>
          </a:p>
        </p:txBody>
      </p:sp>
      <p:sp>
        <p:nvSpPr>
          <p:cNvPr id="22" name="AutoShape 22"/>
          <p:cNvSpPr/>
          <p:nvPr/>
        </p:nvSpPr>
        <p:spPr>
          <a:xfrm>
            <a:off x="9652000" y="8191500"/>
            <a:ext cx="5334000" cy="381000"/>
          </a:xfrm>
          <a:prstGeom prst="rect">
            <a:avLst/>
          </a:prstGeom>
          <a:noFill/>
          <a:ln w="1905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indent="0" algn="ctr">
              <a:lnSpc>
                <a:spcPct val="125000"/>
              </a:lnSpc>
              <a:defRPr/>
            </a:pPr>
            <a:r>
              <a:rPr lang="en-US" sz="1200" b="1" i="0" u="none" strike="noStrike">
                <a:solidFill>
                  <a:srgbClr val="FFFFFF"/>
                </a:solidFill>
                <a:latin typeface="Noto Sans SC"/>
                <a:ea typeface="Noto Sans SC"/>
                <a:cs typeface="Noto Sans SC"/>
                <a:sym typeface="Noto Sans SC"/>
              </a:rPr>
              <a:t>重构人机交互标准，打造安全、实时、主动的下一代智能家庭体验</a:t>
            </a:r>
            <a:endParaRPr lang="en-US" sz="1100"/>
          </a:p>
        </p:txBody>
      </p:sp>
      <p:pic>
        <p:nvPicPr>
          <p:cNvPr id="23" name="Picture 23"/>
          <p:cNvPicPr>
            <a:picLocks noChangeAspect="1"/>
          </p:cNvPicPr>
          <p:nvPr/>
        </p:nvPicPr>
        <p:blipFill>
          <a:blip r:embed="rId6"/>
          <a:srcRect l="14" r="14"/>
          <a:stretch>
            <a:fillRect/>
          </a:stretch>
        </p:blipFill>
        <p:spPr>
          <a:xfrm>
            <a:off x="-952500" y="7010400"/>
            <a:ext cx="4279900" cy="4508500"/>
          </a:xfrm>
          <a:prstGeom prst="rect">
            <a:avLst/>
          </a:prstGeom>
          <a:noFill/>
          <a:ln w="25400" cap="flat" cmpd="sng">
            <a:noFill/>
            <a:prstDash val="solid"/>
            <a:round/>
          </a:ln>
        </p:spPr>
      </p:pic>
      <p:pic>
        <p:nvPicPr>
          <p:cNvPr id="24" name="Picture 24"/>
          <p:cNvPicPr>
            <a:picLocks noChangeAspect="1"/>
          </p:cNvPicPr>
          <p:nvPr/>
        </p:nvPicPr>
        <p:blipFill>
          <a:blip r:embed="rId7"/>
          <a:srcRect l="84" r="84"/>
          <a:stretch>
            <a:fillRect/>
          </a:stretch>
        </p:blipFill>
        <p:spPr>
          <a:xfrm>
            <a:off x="14757400" y="4165600"/>
            <a:ext cx="2768600" cy="2603500"/>
          </a:xfrm>
          <a:prstGeom prst="rect">
            <a:avLst/>
          </a:prstGeom>
          <a:noFill/>
          <a:ln w="25400" cap="flat" cmpd="sng">
            <a:noFill/>
            <a:prstDash val="solid"/>
            <a:round/>
          </a:ln>
        </p:spPr>
      </p:pic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>
            <a:alpha val="100000"/>
          </a:srgb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2"/>
          <p:cNvPicPr>
            <a:picLocks noChangeAspect="1"/>
          </p:cNvPicPr>
          <p:nvPr/>
        </p:nvPicPr>
        <p:blipFill>
          <a:blip r:embed="rId3"/>
          <a:srcRect/>
          <a:stretch>
            <a:fillRect/>
          </a:stretch>
        </p:blipFill>
        <p:spPr>
          <a:xfrm>
            <a:off x="2400300" y="8166100"/>
            <a:ext cx="15887700" cy="2120900"/>
          </a:xfrm>
          <a:prstGeom prst="rect">
            <a:avLst/>
          </a:prstGeom>
          <a:noFill/>
          <a:ln w="25400" cap="flat" cmpd="sng">
            <a:noFill/>
            <a:prstDash val="solid"/>
            <a:round/>
          </a:ln>
        </p:spPr>
      </p:pic>
      <p:pic>
        <p:nvPicPr>
          <p:cNvPr id="3" name="Picture 3"/>
          <p:cNvPicPr>
            <a:picLocks noChangeAspect="1"/>
          </p:cNvPicPr>
          <p:nvPr/>
        </p:nvPicPr>
        <p:blipFill>
          <a:blip r:embed="rId4"/>
          <a:srcRect/>
          <a:stretch>
            <a:fillRect/>
          </a:stretch>
        </p:blipFill>
        <p:spPr>
          <a:xfrm>
            <a:off x="10020300" y="-12700"/>
            <a:ext cx="8280400" cy="9372600"/>
          </a:xfrm>
          <a:prstGeom prst="rect">
            <a:avLst/>
          </a:prstGeom>
          <a:noFill/>
          <a:ln w="25400" cap="flat" cmpd="sng">
            <a:noFill/>
            <a:prstDash val="solid"/>
            <a:round/>
          </a:ln>
        </p:spPr>
      </p:pic>
      <p:pic>
        <p:nvPicPr>
          <p:cNvPr id="4" name="Picture 4"/>
          <p:cNvPicPr>
            <a:picLocks noChangeAspect="1"/>
          </p:cNvPicPr>
          <p:nvPr/>
        </p:nvPicPr>
        <p:blipFill>
          <a:blip r:embed="rId5"/>
          <a:srcRect/>
          <a:stretch>
            <a:fillRect/>
          </a:stretch>
        </p:blipFill>
        <p:spPr>
          <a:xfrm>
            <a:off x="11201400" y="0"/>
            <a:ext cx="7086600" cy="8318500"/>
          </a:xfrm>
          <a:prstGeom prst="rect">
            <a:avLst/>
          </a:prstGeom>
          <a:noFill/>
          <a:ln w="25400" cap="flat" cmpd="sng">
            <a:noFill/>
            <a:prstDash val="solid"/>
            <a:round/>
          </a:ln>
        </p:spPr>
      </p:pic>
      <p:sp>
        <p:nvSpPr>
          <p:cNvPr id="5" name="AutoShape 5"/>
          <p:cNvSpPr/>
          <p:nvPr/>
        </p:nvSpPr>
        <p:spPr>
          <a:xfrm>
            <a:off x="1447800" y="3784600"/>
            <a:ext cx="10782300" cy="1384300"/>
          </a:xfrm>
          <a:prstGeom prst="rect">
            <a:avLst/>
          </a:prstGeom>
          <a:noFill/>
          <a:ln w="19050" cap="flat" cmpd="sng">
            <a:noFill/>
            <a:prstDash val="solid"/>
            <a:round/>
          </a:ln>
        </p:spPr>
        <p:txBody>
          <a:bodyPr vert="horz" wrap="square" lIns="0" tIns="0" rIns="0" bIns="0" rtlCol="0" anchor="t" anchorCtr="0"/>
          <a:lstStyle/>
          <a:p>
            <a:pPr indent="0" algn="l">
              <a:lnSpc>
                <a:spcPts val="10800"/>
              </a:lnSpc>
              <a:defRPr/>
            </a:pPr>
            <a:r>
              <a:rPr lang="en-US" sz="9000" b="0" i="0" u="none" strike="noStrike">
                <a:solidFill>
                  <a:srgbClr val="FFB458"/>
                </a:solidFill>
                <a:latin typeface="Noto Sans SC"/>
                <a:ea typeface="Noto Sans SC"/>
                <a:cs typeface="Noto Sans SC"/>
                <a:sym typeface="Noto Sans SC"/>
              </a:rPr>
              <a:t>产品介绍</a:t>
            </a:r>
            <a:endParaRPr lang="en-US" sz="1100"/>
          </a:p>
        </p:txBody>
      </p:sp>
      <p:pic>
        <p:nvPicPr>
          <p:cNvPr id="6" name="Picture 6"/>
          <p:cNvPicPr>
            <a:picLocks noChangeAspect="1"/>
          </p:cNvPicPr>
          <p:nvPr/>
        </p:nvPicPr>
        <p:blipFill>
          <a:blip r:embed="rId6"/>
          <a:srcRect/>
          <a:stretch>
            <a:fillRect/>
          </a:stretch>
        </p:blipFill>
        <p:spPr>
          <a:xfrm>
            <a:off x="0" y="1574800"/>
            <a:ext cx="1587500" cy="6997700"/>
          </a:xfrm>
          <a:prstGeom prst="rect">
            <a:avLst/>
          </a:prstGeom>
          <a:noFill/>
          <a:ln w="25400" cap="flat" cmpd="sng">
            <a:noFill/>
            <a:prstDash val="solid"/>
            <a:round/>
          </a:ln>
        </p:spPr>
      </p:pic>
      <p:sp>
        <p:nvSpPr>
          <p:cNvPr id="7" name="AutoShape 7"/>
          <p:cNvSpPr/>
          <p:nvPr/>
        </p:nvSpPr>
        <p:spPr>
          <a:xfrm>
            <a:off x="1447800" y="5257800"/>
            <a:ext cx="8496300" cy="1612900"/>
          </a:xfrm>
          <a:prstGeom prst="rect">
            <a:avLst/>
          </a:prstGeom>
          <a:noFill/>
          <a:ln w="19050" cap="flat" cmpd="sng">
            <a:noFill/>
            <a:prstDash val="solid"/>
            <a:round/>
          </a:ln>
        </p:spPr>
        <p:txBody>
          <a:bodyPr vert="horz" wrap="square" lIns="0" tIns="0" rIns="0" bIns="0" rtlCol="0" anchor="t" anchorCtr="0"/>
          <a:lstStyle/>
          <a:p>
            <a:pPr indent="0" algn="l">
              <a:lnSpc>
                <a:spcPts val="3276"/>
              </a:lnSpc>
              <a:defRPr/>
            </a:pPr>
            <a:r>
              <a:rPr lang="en-US" sz="2100" b="0" i="0" u="none" strike="noStrike">
                <a:solidFill>
                  <a:srgbClr val="ADB9CA"/>
                </a:solidFill>
                <a:latin typeface="Noto Sans SC"/>
                <a:ea typeface="Noto Sans SC"/>
                <a:cs typeface="Noto Sans SC"/>
                <a:sym typeface="Noto Sans SC"/>
              </a:rPr>
              <a:t>一款有灵魂、懂家庭、懂每个人的智能伙伴与生活助手。</a:t>
            </a:r>
            <a:endParaRPr lang="en-US" sz="1100"/>
          </a:p>
        </p:txBody>
      </p:sp>
      <p:pic>
        <p:nvPicPr>
          <p:cNvPr id="8" name="Picture 8"/>
          <p:cNvPicPr>
            <a:picLocks noChangeAspect="1"/>
          </p:cNvPicPr>
          <p:nvPr/>
        </p:nvPicPr>
        <p:blipFill>
          <a:blip r:embed="rId7"/>
          <a:srcRect/>
          <a:stretch>
            <a:fillRect/>
          </a:stretch>
        </p:blipFill>
        <p:spPr>
          <a:xfrm>
            <a:off x="12395200" y="0"/>
            <a:ext cx="5892800" cy="7302500"/>
          </a:xfrm>
          <a:prstGeom prst="rect">
            <a:avLst/>
          </a:prstGeom>
          <a:noFill/>
          <a:ln w="25400" cap="flat" cmpd="sng">
            <a:noFill/>
            <a:prstDash val="solid"/>
            <a:round/>
          </a:ln>
        </p:spPr>
      </p:pic>
      <p:pic>
        <p:nvPicPr>
          <p:cNvPr id="12" name="Picture 12"/>
          <p:cNvPicPr>
            <a:picLocks noChangeAspect="1"/>
          </p:cNvPicPr>
          <p:nvPr/>
        </p:nvPicPr>
        <p:blipFill>
          <a:blip r:embed="rId8"/>
          <a:srcRect/>
          <a:stretch>
            <a:fillRect/>
          </a:stretch>
        </p:blipFill>
        <p:spPr>
          <a:xfrm>
            <a:off x="1587500" y="8585200"/>
            <a:ext cx="533400" cy="533400"/>
          </a:xfrm>
          <a:prstGeom prst="rect">
            <a:avLst/>
          </a:prstGeom>
          <a:noFill/>
          <a:ln w="25400" cap="flat" cmpd="sng">
            <a:noFill/>
            <a:prstDash val="solid"/>
            <a:round/>
          </a:ln>
        </p:spPr>
      </p:pic>
      <p:sp>
        <p:nvSpPr>
          <p:cNvPr id="13" name="Freeform 13"/>
          <p:cNvSpPr/>
          <p:nvPr/>
        </p:nvSpPr>
        <p:spPr>
          <a:xfrm>
            <a:off x="2349500" y="8585200"/>
            <a:ext cx="548164" cy="548259"/>
          </a:xfrm>
          <a:custGeom>
            <a:avLst/>
            <a:gdLst/>
            <a:ahLst/>
            <a:cxnLst/>
            <a:rect l="l" t="t" r="r" b="b"/>
            <a:pathLst>
              <a:path w="548164" h="548259">
                <a:moveTo>
                  <a:pt x="0" y="274130"/>
                </a:moveTo>
                <a:cubicBezTo>
                  <a:pt x="0" y="122682"/>
                  <a:pt x="122682" y="0"/>
                  <a:pt x="274130" y="0"/>
                </a:cubicBezTo>
                <a:lnTo>
                  <a:pt x="274130" y="9525"/>
                </a:lnTo>
                <a:lnTo>
                  <a:pt x="274130" y="0"/>
                </a:lnTo>
                <a:cubicBezTo>
                  <a:pt x="425482" y="0"/>
                  <a:pt x="548164" y="122682"/>
                  <a:pt x="548164" y="274130"/>
                </a:cubicBezTo>
                <a:lnTo>
                  <a:pt x="538639" y="274130"/>
                </a:lnTo>
                <a:lnTo>
                  <a:pt x="548164" y="274130"/>
                </a:lnTo>
                <a:cubicBezTo>
                  <a:pt x="548164" y="425482"/>
                  <a:pt x="425482" y="548259"/>
                  <a:pt x="274034" y="548259"/>
                </a:cubicBezTo>
                <a:lnTo>
                  <a:pt x="274034" y="538734"/>
                </a:lnTo>
                <a:lnTo>
                  <a:pt x="274034" y="548259"/>
                </a:lnTo>
                <a:cubicBezTo>
                  <a:pt x="122682" y="548164"/>
                  <a:pt x="0" y="425482"/>
                  <a:pt x="0" y="274130"/>
                </a:cubicBezTo>
                <a:lnTo>
                  <a:pt x="9525" y="274130"/>
                </a:lnTo>
                <a:lnTo>
                  <a:pt x="19050" y="274130"/>
                </a:lnTo>
                <a:lnTo>
                  <a:pt x="9525" y="274130"/>
                </a:lnTo>
                <a:lnTo>
                  <a:pt x="0" y="274130"/>
                </a:lnTo>
                <a:moveTo>
                  <a:pt x="19050" y="274130"/>
                </a:moveTo>
                <a:cubicBezTo>
                  <a:pt x="19050" y="279368"/>
                  <a:pt x="14764" y="283654"/>
                  <a:pt x="9525" y="283654"/>
                </a:cubicBezTo>
                <a:cubicBezTo>
                  <a:pt x="4286" y="283654"/>
                  <a:pt x="0" y="279368"/>
                  <a:pt x="0" y="274130"/>
                </a:cubicBezTo>
                <a:cubicBezTo>
                  <a:pt x="0" y="268891"/>
                  <a:pt x="4286" y="264604"/>
                  <a:pt x="9525" y="264604"/>
                </a:cubicBezTo>
                <a:cubicBezTo>
                  <a:pt x="14764" y="264604"/>
                  <a:pt x="19050" y="268891"/>
                  <a:pt x="19050" y="274130"/>
                </a:cubicBezTo>
                <a:cubicBezTo>
                  <a:pt x="19050" y="414909"/>
                  <a:pt x="133255" y="529114"/>
                  <a:pt x="274130" y="529114"/>
                </a:cubicBezTo>
                <a:cubicBezTo>
                  <a:pt x="415004" y="529114"/>
                  <a:pt x="529114" y="414909"/>
                  <a:pt x="529114" y="274130"/>
                </a:cubicBezTo>
                <a:cubicBezTo>
                  <a:pt x="529114" y="133350"/>
                  <a:pt x="414909" y="19050"/>
                  <a:pt x="274130" y="19050"/>
                </a:cubicBezTo>
                <a:lnTo>
                  <a:pt x="274130" y="9525"/>
                </a:lnTo>
                <a:lnTo>
                  <a:pt x="274130" y="19050"/>
                </a:lnTo>
                <a:cubicBezTo>
                  <a:pt x="133255" y="19050"/>
                  <a:pt x="19050" y="133255"/>
                  <a:pt x="19050" y="274130"/>
                </a:cubicBezTo>
                <a:close/>
              </a:path>
            </a:pathLst>
          </a:custGeom>
          <a:solidFill>
            <a:srgbClr val="FF7A83">
              <a:alpha val="100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  <a:endParaRPr/>
          </a:p>
        </p:txBody>
      </p:sp>
      <p:sp>
        <p:nvSpPr>
          <p:cNvPr id="14" name="Freeform 14"/>
          <p:cNvSpPr/>
          <p:nvPr/>
        </p:nvSpPr>
        <p:spPr>
          <a:xfrm>
            <a:off x="3124200" y="8585200"/>
            <a:ext cx="548164" cy="548259"/>
          </a:xfrm>
          <a:custGeom>
            <a:avLst/>
            <a:gdLst/>
            <a:ahLst/>
            <a:cxnLst/>
            <a:rect l="l" t="t" r="r" b="b"/>
            <a:pathLst>
              <a:path w="548164" h="548259">
                <a:moveTo>
                  <a:pt x="0" y="274130"/>
                </a:moveTo>
                <a:cubicBezTo>
                  <a:pt x="0" y="122682"/>
                  <a:pt x="122682" y="0"/>
                  <a:pt x="274129" y="0"/>
                </a:cubicBezTo>
                <a:lnTo>
                  <a:pt x="274129" y="9525"/>
                </a:lnTo>
                <a:lnTo>
                  <a:pt x="274129" y="0"/>
                </a:lnTo>
                <a:cubicBezTo>
                  <a:pt x="425482" y="0"/>
                  <a:pt x="548164" y="122682"/>
                  <a:pt x="548164" y="274130"/>
                </a:cubicBezTo>
                <a:lnTo>
                  <a:pt x="538639" y="274130"/>
                </a:lnTo>
                <a:lnTo>
                  <a:pt x="548164" y="274130"/>
                </a:lnTo>
                <a:cubicBezTo>
                  <a:pt x="548164" y="425482"/>
                  <a:pt x="425482" y="548259"/>
                  <a:pt x="274034" y="548259"/>
                </a:cubicBezTo>
                <a:lnTo>
                  <a:pt x="274034" y="538734"/>
                </a:lnTo>
                <a:lnTo>
                  <a:pt x="274034" y="548259"/>
                </a:lnTo>
                <a:cubicBezTo>
                  <a:pt x="122682" y="548164"/>
                  <a:pt x="0" y="425482"/>
                  <a:pt x="0" y="274130"/>
                </a:cubicBezTo>
                <a:lnTo>
                  <a:pt x="9525" y="274130"/>
                </a:lnTo>
                <a:lnTo>
                  <a:pt x="19050" y="274130"/>
                </a:lnTo>
                <a:lnTo>
                  <a:pt x="9525" y="274130"/>
                </a:lnTo>
                <a:lnTo>
                  <a:pt x="0" y="274130"/>
                </a:lnTo>
                <a:moveTo>
                  <a:pt x="19050" y="274130"/>
                </a:moveTo>
                <a:cubicBezTo>
                  <a:pt x="19050" y="279368"/>
                  <a:pt x="14764" y="283654"/>
                  <a:pt x="9525" y="283654"/>
                </a:cubicBezTo>
                <a:cubicBezTo>
                  <a:pt x="4286" y="283654"/>
                  <a:pt x="0" y="279368"/>
                  <a:pt x="0" y="274130"/>
                </a:cubicBezTo>
                <a:cubicBezTo>
                  <a:pt x="0" y="268891"/>
                  <a:pt x="4286" y="264604"/>
                  <a:pt x="9525" y="264604"/>
                </a:cubicBezTo>
                <a:cubicBezTo>
                  <a:pt x="14764" y="264604"/>
                  <a:pt x="19050" y="268891"/>
                  <a:pt x="19050" y="274130"/>
                </a:cubicBezTo>
                <a:cubicBezTo>
                  <a:pt x="19050" y="414909"/>
                  <a:pt x="133255" y="529114"/>
                  <a:pt x="274129" y="529114"/>
                </a:cubicBezTo>
                <a:cubicBezTo>
                  <a:pt x="415004" y="529114"/>
                  <a:pt x="529114" y="414909"/>
                  <a:pt x="529114" y="274130"/>
                </a:cubicBezTo>
                <a:cubicBezTo>
                  <a:pt x="529114" y="133350"/>
                  <a:pt x="414909" y="19050"/>
                  <a:pt x="274129" y="19050"/>
                </a:cubicBezTo>
                <a:lnTo>
                  <a:pt x="274129" y="9525"/>
                </a:lnTo>
                <a:lnTo>
                  <a:pt x="274129" y="19050"/>
                </a:lnTo>
                <a:cubicBezTo>
                  <a:pt x="133255" y="19050"/>
                  <a:pt x="19050" y="133255"/>
                  <a:pt x="19050" y="274130"/>
                </a:cubicBezTo>
                <a:close/>
              </a:path>
            </a:pathLst>
          </a:custGeom>
          <a:solidFill>
            <a:srgbClr val="FF7A83">
              <a:alpha val="100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  <a:endParaRPr/>
          </a:p>
        </p:txBody>
      </p:sp>
      <p:sp>
        <p:nvSpPr>
          <p:cNvPr id="15" name="Freeform 15"/>
          <p:cNvSpPr/>
          <p:nvPr/>
        </p:nvSpPr>
        <p:spPr>
          <a:xfrm>
            <a:off x="3898900" y="8585200"/>
            <a:ext cx="548164" cy="548259"/>
          </a:xfrm>
          <a:custGeom>
            <a:avLst/>
            <a:gdLst/>
            <a:ahLst/>
            <a:cxnLst/>
            <a:rect l="l" t="t" r="r" b="b"/>
            <a:pathLst>
              <a:path w="548164" h="548259">
                <a:moveTo>
                  <a:pt x="0" y="274130"/>
                </a:moveTo>
                <a:cubicBezTo>
                  <a:pt x="0" y="122682"/>
                  <a:pt x="122682" y="0"/>
                  <a:pt x="274129" y="0"/>
                </a:cubicBezTo>
                <a:lnTo>
                  <a:pt x="274129" y="9525"/>
                </a:lnTo>
                <a:lnTo>
                  <a:pt x="274129" y="0"/>
                </a:lnTo>
                <a:cubicBezTo>
                  <a:pt x="425482" y="0"/>
                  <a:pt x="548164" y="122682"/>
                  <a:pt x="548164" y="274130"/>
                </a:cubicBezTo>
                <a:lnTo>
                  <a:pt x="538639" y="274130"/>
                </a:lnTo>
                <a:lnTo>
                  <a:pt x="548164" y="274130"/>
                </a:lnTo>
                <a:cubicBezTo>
                  <a:pt x="548164" y="425482"/>
                  <a:pt x="425482" y="548259"/>
                  <a:pt x="274034" y="548259"/>
                </a:cubicBezTo>
                <a:lnTo>
                  <a:pt x="274034" y="538734"/>
                </a:lnTo>
                <a:lnTo>
                  <a:pt x="274034" y="548259"/>
                </a:lnTo>
                <a:cubicBezTo>
                  <a:pt x="122682" y="548164"/>
                  <a:pt x="0" y="425482"/>
                  <a:pt x="0" y="274130"/>
                </a:cubicBezTo>
                <a:lnTo>
                  <a:pt x="9525" y="274130"/>
                </a:lnTo>
                <a:lnTo>
                  <a:pt x="19050" y="274130"/>
                </a:lnTo>
                <a:lnTo>
                  <a:pt x="9525" y="274130"/>
                </a:lnTo>
                <a:lnTo>
                  <a:pt x="0" y="274130"/>
                </a:lnTo>
                <a:moveTo>
                  <a:pt x="19050" y="274130"/>
                </a:moveTo>
                <a:cubicBezTo>
                  <a:pt x="19050" y="279368"/>
                  <a:pt x="14764" y="283654"/>
                  <a:pt x="9525" y="283654"/>
                </a:cubicBezTo>
                <a:cubicBezTo>
                  <a:pt x="4286" y="283654"/>
                  <a:pt x="0" y="279368"/>
                  <a:pt x="0" y="274130"/>
                </a:cubicBezTo>
                <a:cubicBezTo>
                  <a:pt x="0" y="268891"/>
                  <a:pt x="4286" y="264604"/>
                  <a:pt x="9525" y="264604"/>
                </a:cubicBezTo>
                <a:cubicBezTo>
                  <a:pt x="14764" y="264604"/>
                  <a:pt x="19050" y="268891"/>
                  <a:pt x="19050" y="274130"/>
                </a:cubicBezTo>
                <a:cubicBezTo>
                  <a:pt x="19050" y="414909"/>
                  <a:pt x="133255" y="529114"/>
                  <a:pt x="274129" y="529114"/>
                </a:cubicBezTo>
                <a:cubicBezTo>
                  <a:pt x="415004" y="529114"/>
                  <a:pt x="529114" y="414909"/>
                  <a:pt x="529114" y="274130"/>
                </a:cubicBezTo>
                <a:cubicBezTo>
                  <a:pt x="529114" y="133350"/>
                  <a:pt x="414909" y="19050"/>
                  <a:pt x="274129" y="19050"/>
                </a:cubicBezTo>
                <a:lnTo>
                  <a:pt x="274129" y="9525"/>
                </a:lnTo>
                <a:lnTo>
                  <a:pt x="274129" y="19050"/>
                </a:lnTo>
                <a:cubicBezTo>
                  <a:pt x="133255" y="19050"/>
                  <a:pt x="19050" y="133255"/>
                  <a:pt x="19050" y="274130"/>
                </a:cubicBezTo>
                <a:close/>
              </a:path>
            </a:pathLst>
          </a:custGeom>
          <a:solidFill>
            <a:srgbClr val="FF7A83">
              <a:alpha val="100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  <a:endParaRPr/>
          </a:p>
        </p:txBody>
      </p:sp>
      <p:sp>
        <p:nvSpPr>
          <p:cNvPr id="16" name="Freeform 16"/>
          <p:cNvSpPr/>
          <p:nvPr/>
        </p:nvSpPr>
        <p:spPr>
          <a:xfrm>
            <a:off x="12077700" y="7505700"/>
            <a:ext cx="597788" cy="597790"/>
          </a:xfrm>
          <a:custGeom>
            <a:avLst/>
            <a:gdLst/>
            <a:ahLst/>
            <a:cxnLst/>
            <a:rect l="l" t="t" r="r" b="b"/>
            <a:pathLst>
              <a:path w="597788" h="597790">
                <a:moveTo>
                  <a:pt x="0" y="298894"/>
                </a:moveTo>
                <a:cubicBezTo>
                  <a:pt x="0" y="133826"/>
                  <a:pt x="133826" y="0"/>
                  <a:pt x="298894" y="0"/>
                </a:cubicBezTo>
                <a:cubicBezTo>
                  <a:pt x="463961" y="0"/>
                  <a:pt x="597788" y="133826"/>
                  <a:pt x="597788" y="298894"/>
                </a:cubicBezTo>
                <a:cubicBezTo>
                  <a:pt x="597788" y="463964"/>
                  <a:pt x="463961" y="597790"/>
                  <a:pt x="298894" y="597790"/>
                </a:cubicBezTo>
                <a:cubicBezTo>
                  <a:pt x="133826" y="597790"/>
                  <a:pt x="0" y="463964"/>
                  <a:pt x="0" y="298894"/>
                </a:cubicBezTo>
                <a:close/>
              </a:path>
            </a:pathLst>
          </a:custGeom>
          <a:solidFill>
            <a:srgbClr val="F89469">
              <a:alpha val="100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  <a:endParaRPr/>
          </a:p>
        </p:txBody>
      </p:sp>
      <p:sp>
        <p:nvSpPr>
          <p:cNvPr id="18" name="AutoShape 18"/>
          <p:cNvSpPr/>
          <p:nvPr/>
        </p:nvSpPr>
        <p:spPr>
          <a:xfrm>
            <a:off x="1524000" y="3238500"/>
            <a:ext cx="6477000" cy="457200"/>
          </a:xfrm>
          <a:prstGeom prst="rect">
            <a:avLst/>
          </a:prstGeom>
          <a:noFill/>
          <a:ln w="19050" cap="flat" cmpd="sng">
            <a:noFill/>
            <a:prstDash val="solid"/>
            <a:round/>
          </a:ln>
        </p:spPr>
        <p:txBody>
          <a:bodyPr vert="horz" wrap="square" lIns="0" tIns="0" rIns="0" bIns="0" rtlCol="0" anchor="t" anchorCtr="0"/>
          <a:lstStyle/>
          <a:p>
            <a:pPr indent="0" algn="l">
              <a:lnSpc>
                <a:spcPts val="3240"/>
              </a:lnSpc>
              <a:defRPr/>
            </a:pPr>
            <a:r>
              <a:rPr lang="en-US" sz="2700" b="0" i="0" u="none" strike="noStrike">
                <a:solidFill>
                  <a:srgbClr val="ADB9CA"/>
                </a:solidFill>
                <a:latin typeface="Montserrat"/>
                <a:ea typeface="Montserrat"/>
                <a:cs typeface="Montserrat"/>
                <a:sym typeface="Montserrat"/>
              </a:rPr>
              <a:t>Product Introduction</a:t>
            </a:r>
            <a:endParaRPr lang="en-US" sz="1100"/>
          </a:p>
        </p:txBody>
      </p:sp>
      <p:pic>
        <p:nvPicPr>
          <p:cNvPr id="21" name="Picture 21"/>
          <p:cNvPicPr>
            <a:picLocks noChangeAspect="1"/>
          </p:cNvPicPr>
          <p:nvPr/>
        </p:nvPicPr>
        <p:blipFill>
          <a:blip r:embed="rId9"/>
          <a:srcRect/>
          <a:stretch>
            <a:fillRect/>
          </a:stretch>
        </p:blipFill>
        <p:spPr>
          <a:xfrm>
            <a:off x="16433800" y="2679700"/>
            <a:ext cx="1854200" cy="6477000"/>
          </a:xfrm>
          <a:prstGeom prst="rect">
            <a:avLst/>
          </a:prstGeom>
          <a:noFill/>
          <a:ln w="25400" cap="flat" cmpd="sng">
            <a:noFill/>
            <a:prstDash val="solid"/>
            <a:round/>
          </a:ln>
        </p:spPr>
      </p:pic>
      <p:cxnSp>
        <p:nvCxnSpPr>
          <p:cNvPr id="22" name="Connector 22"/>
          <p:cNvCxnSpPr/>
          <p:nvPr/>
        </p:nvCxnSpPr>
        <p:spPr>
          <a:xfrm>
            <a:off x="4699000" y="8839200"/>
            <a:ext cx="1930442" cy="12700"/>
          </a:xfrm>
          <a:prstGeom prst="line">
            <a:avLst/>
          </a:prstGeom>
          <a:solidFill>
            <a:srgbClr val="DEE0E3">
              <a:alpha val="100000"/>
            </a:srgbClr>
          </a:solidFill>
          <a:ln w="12700" cap="rnd" cmpd="sng">
            <a:solidFill>
              <a:srgbClr val="F89469">
                <a:alpha val="100000"/>
              </a:srgbClr>
            </a:solidFill>
            <a:prstDash val="solid"/>
            <a:miter lim="10000000"/>
            <a:headEnd type="none" w="sm" len="sm"/>
            <a:tailEnd type="triangle" w="lg" len="med"/>
          </a:ln>
        </p:spPr>
      </p:cxnSp>
      <p:sp>
        <p:nvSpPr>
          <p:cNvPr id="23" name="AutoShape 23"/>
          <p:cNvSpPr/>
          <p:nvPr/>
        </p:nvSpPr>
        <p:spPr>
          <a:xfrm>
            <a:off x="13627100" y="3022600"/>
            <a:ext cx="4902200" cy="3873500"/>
          </a:xfrm>
          <a:prstGeom prst="rect">
            <a:avLst/>
          </a:prstGeom>
          <a:noFill/>
          <a:ln w="19050" cap="flat" cmpd="sng">
            <a:noFill/>
            <a:prstDash val="solid"/>
            <a:round/>
          </a:ln>
        </p:spPr>
        <p:txBody>
          <a:bodyPr vert="horz" wrap="square" lIns="0" tIns="0" rIns="0" bIns="0" rtlCol="0" anchor="t" anchorCtr="0"/>
          <a:lstStyle/>
          <a:p>
            <a:pPr indent="0" algn="l">
              <a:lnSpc>
                <a:spcPts val="29880"/>
              </a:lnSpc>
              <a:defRPr/>
            </a:pPr>
            <a:r>
              <a:rPr lang="en-US" sz="24900" b="0" i="0" u="none" strike="noStrike">
                <a:solidFill>
                  <a:srgbClr val="FFFFFF"/>
                </a:solidFill>
                <a:latin typeface="Montserrat"/>
                <a:ea typeface="Montserrat"/>
                <a:cs typeface="Montserrat"/>
                <a:sym typeface="Montserrat"/>
              </a:rPr>
              <a:t>02</a:t>
            </a:r>
            <a:endParaRPr lang="en-US" sz="1100"/>
          </a:p>
        </p:txBody>
      </p:sp>
      <p:cxnSp>
        <p:nvCxnSpPr>
          <p:cNvPr id="24" name="Connector 24"/>
          <p:cNvCxnSpPr/>
          <p:nvPr/>
        </p:nvCxnSpPr>
        <p:spPr>
          <a:xfrm rot="5391093">
            <a:off x="15138400" y="4438658"/>
            <a:ext cx="4902200" cy="12700"/>
          </a:xfrm>
          <a:prstGeom prst="line">
            <a:avLst/>
          </a:prstGeom>
          <a:solidFill>
            <a:srgbClr val="DEE0E3">
              <a:alpha val="100000"/>
            </a:srgbClr>
          </a:solidFill>
          <a:ln w="12700" cap="rnd" cmpd="sng">
            <a:solidFill>
              <a:srgbClr val="FFFFFF">
                <a:alpha val="100000"/>
              </a:srgbClr>
            </a:solidFill>
            <a:prstDash val="solid"/>
            <a:miter lim="10000000"/>
            <a:headEnd type="none" w="sm" len="sm"/>
            <a:tailEnd type="none" w="sm" len="sm"/>
          </a:ln>
        </p:spPr>
      </p:cxnSp>
      <p:pic>
        <p:nvPicPr>
          <p:cNvPr id="25" name="Picture 25"/>
          <p:cNvPicPr>
            <a:picLocks noChangeAspect="1"/>
          </p:cNvPicPr>
          <p:nvPr/>
        </p:nvPicPr>
        <p:blipFill>
          <a:blip r:embed="rId10"/>
          <a:srcRect/>
          <a:stretch>
            <a:fillRect/>
          </a:stretch>
        </p:blipFill>
        <p:spPr>
          <a:xfrm>
            <a:off x="1727200" y="8724900"/>
            <a:ext cx="241300" cy="254000"/>
          </a:xfrm>
          <a:prstGeom prst="rect">
            <a:avLst/>
          </a:prstGeom>
          <a:noFill/>
          <a:ln w="25400" cap="flat" cmpd="sng">
            <a:noFill/>
            <a:prstDash val="solid"/>
            <a:round/>
          </a:ln>
        </p:spPr>
      </p:pic>
      <p:pic>
        <p:nvPicPr>
          <p:cNvPr id="26" name="Picture 26"/>
          <p:cNvPicPr>
            <a:picLocks noChangeAspect="1"/>
          </p:cNvPicPr>
          <p:nvPr/>
        </p:nvPicPr>
        <p:blipFill>
          <a:blip r:embed="rId11"/>
          <a:srcRect/>
          <a:stretch>
            <a:fillRect/>
          </a:stretch>
        </p:blipFill>
        <p:spPr>
          <a:xfrm>
            <a:off x="3276600" y="8724900"/>
            <a:ext cx="228600" cy="254000"/>
          </a:xfrm>
          <a:prstGeom prst="rect">
            <a:avLst/>
          </a:prstGeom>
          <a:noFill/>
          <a:ln w="25400" cap="flat" cmpd="sng">
            <a:noFill/>
            <a:prstDash val="solid"/>
            <a:round/>
          </a:ln>
        </p:spPr>
      </p:pic>
      <p:pic>
        <p:nvPicPr>
          <p:cNvPr id="27" name="Picture 27"/>
          <p:cNvPicPr>
            <a:picLocks noChangeAspect="1"/>
          </p:cNvPicPr>
          <p:nvPr/>
        </p:nvPicPr>
        <p:blipFill>
          <a:blip r:embed="rId12"/>
          <a:srcRect/>
          <a:stretch>
            <a:fillRect/>
          </a:stretch>
        </p:blipFill>
        <p:spPr>
          <a:xfrm>
            <a:off x="4038600" y="8724900"/>
            <a:ext cx="266700" cy="254000"/>
          </a:xfrm>
          <a:prstGeom prst="rect">
            <a:avLst/>
          </a:prstGeom>
          <a:noFill/>
          <a:ln w="25400" cap="flat" cmpd="sng">
            <a:noFill/>
            <a:prstDash val="solid"/>
            <a:round/>
          </a:ln>
        </p:spPr>
      </p:pic>
      <p:pic>
        <p:nvPicPr>
          <p:cNvPr id="28" name="Picture 28"/>
          <p:cNvPicPr>
            <a:picLocks noChangeAspect="1"/>
          </p:cNvPicPr>
          <p:nvPr/>
        </p:nvPicPr>
        <p:blipFill>
          <a:blip r:embed="rId13"/>
          <a:srcRect/>
          <a:stretch>
            <a:fillRect/>
          </a:stretch>
        </p:blipFill>
        <p:spPr>
          <a:xfrm>
            <a:off x="2501900" y="8724900"/>
            <a:ext cx="241300" cy="254000"/>
          </a:xfrm>
          <a:prstGeom prst="rect">
            <a:avLst/>
          </a:prstGeom>
          <a:noFill/>
          <a:ln w="25400" cap="flat" cmpd="sng">
            <a:noFill/>
            <a:prstDash val="solid"/>
            <a:round/>
          </a:ln>
        </p:spPr>
      </p:pic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>
            <a:alpha val="100000"/>
          </a:srgb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2"/>
          <p:cNvPicPr>
            <a:picLocks noChangeAspect="1"/>
          </p:cNvPicPr>
          <p:nvPr/>
        </p:nvPicPr>
        <p:blipFill>
          <a:blip r:embed="rId3"/>
          <a:srcRect/>
          <a:stretch>
            <a:fillRect/>
          </a:stretch>
        </p:blipFill>
        <p:spPr>
          <a:xfrm>
            <a:off x="0" y="0"/>
            <a:ext cx="18288000" cy="10287000"/>
          </a:xfrm>
          <a:prstGeom prst="rect">
            <a:avLst/>
          </a:prstGeom>
          <a:noFill/>
          <a:ln w="25400" cap="flat" cmpd="sng">
            <a:noFill/>
            <a:prstDash val="solid"/>
            <a:round/>
          </a:ln>
        </p:spPr>
      </p:pic>
      <p:sp>
        <p:nvSpPr>
          <p:cNvPr id="3" name="AutoShape 3"/>
          <p:cNvSpPr/>
          <p:nvPr/>
        </p:nvSpPr>
        <p:spPr>
          <a:xfrm>
            <a:off x="622300" y="571500"/>
            <a:ext cx="7620000" cy="762000"/>
          </a:xfrm>
          <a:prstGeom prst="rect">
            <a:avLst/>
          </a:prstGeom>
          <a:noFill/>
          <a:ln w="1905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indent="0" algn="l">
              <a:lnSpc>
                <a:spcPct val="125000"/>
              </a:lnSpc>
              <a:defRPr/>
            </a:pPr>
            <a:r>
              <a:rPr lang="en-US" sz="4200" b="0" i="0" u="none" strike="noStrike">
                <a:solidFill>
                  <a:srgbClr val="FFB458"/>
                </a:solidFill>
                <a:latin typeface="Noto Sans SC"/>
                <a:ea typeface="Noto Sans SC"/>
                <a:cs typeface="Noto Sans SC"/>
                <a:sym typeface="Noto Sans SC"/>
              </a:rPr>
              <a:t>产品定位与核心价值</a:t>
            </a:r>
            <a:endParaRPr lang="en-US" sz="1100"/>
          </a:p>
        </p:txBody>
      </p:sp>
      <p:pic>
        <p:nvPicPr>
          <p:cNvPr id="4" name="Picture 4"/>
          <p:cNvPicPr>
            <a:picLocks noChangeAspect="1"/>
          </p:cNvPicPr>
          <p:nvPr/>
        </p:nvPicPr>
        <p:blipFill>
          <a:blip r:embed="rId4"/>
          <a:srcRect/>
          <a:stretch>
            <a:fillRect/>
          </a:stretch>
        </p:blipFill>
        <p:spPr>
          <a:xfrm>
            <a:off x="8026400" y="0"/>
            <a:ext cx="10261600" cy="10287000"/>
          </a:xfrm>
          <a:prstGeom prst="rect">
            <a:avLst/>
          </a:prstGeom>
          <a:noFill/>
          <a:ln w="25400" cap="flat" cmpd="sng">
            <a:noFill/>
            <a:prstDash val="solid"/>
            <a:round/>
          </a:ln>
        </p:spPr>
      </p:pic>
      <p:pic>
        <p:nvPicPr>
          <p:cNvPr id="5" name="Picture 5"/>
          <p:cNvPicPr>
            <a:picLocks noChangeAspect="1"/>
          </p:cNvPicPr>
          <p:nvPr/>
        </p:nvPicPr>
        <p:blipFill>
          <a:blip r:embed="rId5"/>
          <a:srcRect/>
          <a:stretch>
            <a:fillRect/>
          </a:stretch>
        </p:blipFill>
        <p:spPr>
          <a:xfrm>
            <a:off x="9283700" y="0"/>
            <a:ext cx="9004300" cy="10287000"/>
          </a:xfrm>
          <a:prstGeom prst="rect">
            <a:avLst/>
          </a:prstGeom>
          <a:noFill/>
          <a:ln w="25400" cap="flat" cmpd="sng">
            <a:noFill/>
            <a:prstDash val="solid"/>
            <a:round/>
          </a:ln>
        </p:spPr>
      </p:pic>
      <p:sp>
        <p:nvSpPr>
          <p:cNvPr id="6" name="AutoShape 6"/>
          <p:cNvSpPr/>
          <p:nvPr/>
        </p:nvSpPr>
        <p:spPr>
          <a:xfrm>
            <a:off x="11061700" y="2032000"/>
            <a:ext cx="5715000" cy="508000"/>
          </a:xfrm>
          <a:prstGeom prst="rect">
            <a:avLst/>
          </a:prstGeom>
          <a:noFill/>
          <a:ln w="1905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indent="0" algn="l">
              <a:lnSpc>
                <a:spcPct val="125000"/>
              </a:lnSpc>
              <a:defRPr/>
            </a:pPr>
            <a:r>
              <a:rPr lang="en-US" sz="3000" b="0" i="0" u="none" strike="noStrike">
                <a:solidFill>
                  <a:srgbClr val="FF7A83"/>
                </a:solidFill>
                <a:latin typeface="Noto Sans SC"/>
                <a:ea typeface="Noto Sans SC"/>
                <a:cs typeface="Noto Sans SC"/>
                <a:sym typeface="Noto Sans SC"/>
              </a:rPr>
              <a:t>核心价值主张</a:t>
            </a:r>
            <a:endParaRPr lang="en-US" sz="1100"/>
          </a:p>
        </p:txBody>
      </p:sp>
      <p:sp>
        <p:nvSpPr>
          <p:cNvPr id="7" name="AutoShape 7"/>
          <p:cNvSpPr/>
          <p:nvPr/>
        </p:nvSpPr>
        <p:spPr>
          <a:xfrm>
            <a:off x="11061700" y="2730500"/>
            <a:ext cx="5588000" cy="889000"/>
          </a:xfrm>
          <a:prstGeom prst="rect">
            <a:avLst/>
          </a:prstGeom>
          <a:noFill/>
          <a:ln w="19050" cap="flat" cmpd="sng">
            <a:noFill/>
            <a:prstDash val="solid"/>
            <a:round/>
          </a:ln>
        </p:spPr>
        <p:txBody>
          <a:bodyPr vert="horz" wrap="square" lIns="0" tIns="0" rIns="0" bIns="0" rtlCol="0" anchor="t" anchorCtr="0"/>
          <a:lstStyle/>
          <a:p>
            <a:pPr indent="0" algn="l">
              <a:lnSpc>
                <a:spcPct val="108333"/>
              </a:lnSpc>
              <a:defRPr/>
            </a:pPr>
            <a:r>
              <a:rPr lang="en-US" sz="1400" b="0" i="0" u="none" strike="noStrike">
                <a:solidFill>
                  <a:srgbClr val="505A69"/>
                </a:solidFill>
                <a:latin typeface="Noto Sans SC"/>
                <a:ea typeface="Noto Sans SC"/>
                <a:cs typeface="Noto Sans SC"/>
                <a:sym typeface="Noto Sans SC"/>
              </a:rPr>
              <a:t>通过极轻量级大模型的本地部署，为家庭提供</a:t>
            </a:r>
            <a:r>
              <a:rPr lang="en-US" sz="1400" b="1" i="0" u="none" strike="noStrike">
                <a:solidFill>
                  <a:srgbClr val="FFB458"/>
                </a:solidFill>
                <a:latin typeface="Noto Sans SC"/>
                <a:ea typeface="Noto Sans SC"/>
                <a:cs typeface="Noto Sans SC"/>
                <a:sym typeface="Noto Sans SC"/>
              </a:rPr>
              <a:t>低延迟、高隐私、强适配</a:t>
            </a:r>
            <a:r>
              <a:rPr lang="en-US" sz="1400" b="0" i="0" u="none" strike="noStrike">
                <a:solidFill>
                  <a:srgbClr val="505A69"/>
                </a:solidFill>
                <a:latin typeface="Noto Sans SC"/>
                <a:ea typeface="Noto Sans SC"/>
                <a:cs typeface="Noto Sans SC"/>
                <a:sym typeface="Noto Sans SC"/>
              </a:rPr>
              <a:t>的主动式智能服务，打造懂你的家庭智能伙伴。</a:t>
            </a:r>
            <a:endParaRPr lang="en-US" sz="1100"/>
          </a:p>
        </p:txBody>
      </p:sp>
      <p:cxnSp>
        <p:nvCxnSpPr>
          <p:cNvPr id="8" name="Connector 8"/>
          <p:cNvCxnSpPr/>
          <p:nvPr/>
        </p:nvCxnSpPr>
        <p:spPr>
          <a:xfrm rot="-7656">
            <a:off x="11061707" y="3803650"/>
            <a:ext cx="5702300" cy="12700"/>
          </a:xfrm>
          <a:prstGeom prst="line">
            <a:avLst/>
          </a:prstGeom>
          <a:solidFill>
            <a:srgbClr val="DEE0E3">
              <a:alpha val="100000"/>
            </a:srgbClr>
          </a:solidFill>
          <a:ln w="12700" cap="flat" cmpd="sng">
            <a:solidFill>
              <a:srgbClr val="FF7A83">
                <a:alpha val="60000"/>
              </a:srgbClr>
            </a:solidFill>
            <a:prstDash val="solid"/>
            <a:round/>
            <a:headEnd type="none" w="med" len="med"/>
            <a:tailEnd type="none" w="med" len="med"/>
          </a:ln>
        </p:spPr>
      </p:cxnSp>
      <p:sp>
        <p:nvSpPr>
          <p:cNvPr id="9" name="AutoShape 9"/>
          <p:cNvSpPr/>
          <p:nvPr/>
        </p:nvSpPr>
        <p:spPr>
          <a:xfrm>
            <a:off x="11061700" y="4191000"/>
            <a:ext cx="2667000" cy="444500"/>
          </a:xfrm>
          <a:prstGeom prst="rect">
            <a:avLst/>
          </a:prstGeom>
          <a:noFill/>
          <a:ln w="1905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indent="0" algn="l">
              <a:lnSpc>
                <a:spcPct val="125000"/>
              </a:lnSpc>
              <a:defRPr/>
            </a:pPr>
            <a:r>
              <a:rPr lang="en-US" sz="2200" b="0" i="0" u="none" strike="noStrike">
                <a:solidFill>
                  <a:srgbClr val="FFB458"/>
                </a:solidFill>
                <a:latin typeface="Noto Sans SC"/>
                <a:ea typeface="Noto Sans SC"/>
                <a:cs typeface="Noto Sans SC"/>
                <a:sym typeface="Noto Sans SC"/>
              </a:rPr>
              <a:t>低延迟 · Low Latency</a:t>
            </a:r>
            <a:endParaRPr lang="en-US" sz="1100"/>
          </a:p>
        </p:txBody>
      </p:sp>
      <p:sp>
        <p:nvSpPr>
          <p:cNvPr id="10" name="AutoShape 10"/>
          <p:cNvSpPr/>
          <p:nvPr/>
        </p:nvSpPr>
        <p:spPr>
          <a:xfrm>
            <a:off x="11061700" y="4826000"/>
            <a:ext cx="2667000" cy="762000"/>
          </a:xfrm>
          <a:prstGeom prst="rect">
            <a:avLst/>
          </a:prstGeom>
          <a:noFill/>
          <a:ln w="19050" cap="flat" cmpd="sng">
            <a:noFill/>
            <a:prstDash val="solid"/>
            <a:round/>
          </a:ln>
        </p:spPr>
        <p:txBody>
          <a:bodyPr vert="horz" wrap="square" lIns="0" tIns="0" rIns="0" bIns="0" rtlCol="0" anchor="t" anchorCtr="0"/>
          <a:lstStyle/>
          <a:p>
            <a:pPr indent="0" algn="l">
              <a:lnSpc>
                <a:spcPct val="108333"/>
              </a:lnSpc>
              <a:defRPr/>
            </a:pPr>
            <a:r>
              <a:rPr lang="en-US" sz="1200" b="0" i="0" u="none" strike="noStrike">
                <a:solidFill>
                  <a:srgbClr val="64748B"/>
                </a:solidFill>
                <a:latin typeface="Noto Sans SC"/>
                <a:ea typeface="Noto Sans SC"/>
                <a:cs typeface="Noto Sans SC"/>
                <a:sym typeface="Noto Sans SC"/>
              </a:rPr>
              <a:t>依托本地端侧计算能力，无需依赖云端传输，实现毫秒级响应，交互流畅无卡顿。</a:t>
            </a:r>
            <a:endParaRPr lang="en-US" sz="1100"/>
          </a:p>
        </p:txBody>
      </p:sp>
      <p:sp>
        <p:nvSpPr>
          <p:cNvPr id="11" name="AutoShape 11"/>
          <p:cNvSpPr/>
          <p:nvPr/>
        </p:nvSpPr>
        <p:spPr>
          <a:xfrm>
            <a:off x="14097000" y="4191000"/>
            <a:ext cx="2667000" cy="444500"/>
          </a:xfrm>
          <a:prstGeom prst="rect">
            <a:avLst/>
          </a:prstGeom>
          <a:noFill/>
          <a:ln w="1905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indent="0" algn="l">
              <a:lnSpc>
                <a:spcPct val="125000"/>
              </a:lnSpc>
              <a:defRPr/>
            </a:pPr>
            <a:r>
              <a:rPr lang="en-US" sz="2200" b="0" i="0" u="none" strike="noStrike">
                <a:solidFill>
                  <a:srgbClr val="FFB458"/>
                </a:solidFill>
                <a:latin typeface="Noto Sans SC"/>
                <a:ea typeface="Noto Sans SC"/>
                <a:cs typeface="Noto Sans SC"/>
                <a:sym typeface="Noto Sans SC"/>
              </a:rPr>
              <a:t>高隐私 · Privacy</a:t>
            </a:r>
            <a:endParaRPr lang="en-US" sz="1100"/>
          </a:p>
        </p:txBody>
      </p:sp>
      <p:sp>
        <p:nvSpPr>
          <p:cNvPr id="12" name="AutoShape 12"/>
          <p:cNvSpPr/>
          <p:nvPr/>
        </p:nvSpPr>
        <p:spPr>
          <a:xfrm>
            <a:off x="14097000" y="4826000"/>
            <a:ext cx="2667000" cy="762000"/>
          </a:xfrm>
          <a:prstGeom prst="rect">
            <a:avLst/>
          </a:prstGeom>
          <a:noFill/>
          <a:ln w="19050" cap="flat" cmpd="sng">
            <a:noFill/>
            <a:prstDash val="solid"/>
            <a:round/>
          </a:ln>
        </p:spPr>
        <p:txBody>
          <a:bodyPr vert="horz" wrap="square" lIns="0" tIns="0" rIns="0" bIns="0" rtlCol="0" anchor="t" anchorCtr="0"/>
          <a:lstStyle/>
          <a:p>
            <a:pPr indent="0" algn="l">
              <a:lnSpc>
                <a:spcPct val="108333"/>
              </a:lnSpc>
              <a:defRPr/>
            </a:pPr>
            <a:r>
              <a:rPr lang="en-US" sz="1200" b="0" i="0" u="none" strike="noStrike">
                <a:solidFill>
                  <a:srgbClr val="64748B"/>
                </a:solidFill>
                <a:latin typeface="Noto Sans SC"/>
                <a:ea typeface="Noto Sans SC"/>
                <a:cs typeface="Noto Sans SC"/>
                <a:sym typeface="Noto Sans SC"/>
              </a:rPr>
              <a:t>所有语音与交互数据均在本地闭环处理，不上传云端，从物理层面保障用户数据绝对安全。</a:t>
            </a:r>
            <a:endParaRPr lang="en-US" sz="1100"/>
          </a:p>
        </p:txBody>
      </p:sp>
      <p:sp>
        <p:nvSpPr>
          <p:cNvPr id="13" name="AutoShape 13"/>
          <p:cNvSpPr/>
          <p:nvPr/>
        </p:nvSpPr>
        <p:spPr>
          <a:xfrm>
            <a:off x="11061700" y="6096000"/>
            <a:ext cx="2667000" cy="444500"/>
          </a:xfrm>
          <a:prstGeom prst="rect">
            <a:avLst/>
          </a:prstGeom>
          <a:noFill/>
          <a:ln w="1905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indent="0" algn="l">
              <a:lnSpc>
                <a:spcPct val="125000"/>
              </a:lnSpc>
              <a:defRPr/>
            </a:pPr>
            <a:r>
              <a:rPr lang="en-US" sz="2200" b="0" i="0" u="none" strike="noStrike">
                <a:solidFill>
                  <a:srgbClr val="FFB458"/>
                </a:solidFill>
                <a:latin typeface="Noto Sans SC"/>
                <a:ea typeface="Noto Sans SC"/>
                <a:cs typeface="Noto Sans SC"/>
                <a:sym typeface="Noto Sans SC"/>
              </a:rPr>
              <a:t>强适配 · Adaptability</a:t>
            </a:r>
            <a:endParaRPr lang="en-US" sz="1100"/>
          </a:p>
        </p:txBody>
      </p:sp>
      <p:sp>
        <p:nvSpPr>
          <p:cNvPr id="14" name="AutoShape 14"/>
          <p:cNvSpPr/>
          <p:nvPr/>
        </p:nvSpPr>
        <p:spPr>
          <a:xfrm>
            <a:off x="11061700" y="6731000"/>
            <a:ext cx="2667000" cy="762000"/>
          </a:xfrm>
          <a:prstGeom prst="rect">
            <a:avLst/>
          </a:prstGeom>
          <a:noFill/>
          <a:ln w="19050" cap="flat" cmpd="sng">
            <a:noFill/>
            <a:prstDash val="solid"/>
            <a:round/>
          </a:ln>
        </p:spPr>
        <p:txBody>
          <a:bodyPr vert="horz" wrap="square" lIns="0" tIns="0" rIns="0" bIns="0" rtlCol="0" anchor="t" anchorCtr="0"/>
          <a:lstStyle/>
          <a:p>
            <a:pPr indent="0" algn="l">
              <a:lnSpc>
                <a:spcPct val="108333"/>
              </a:lnSpc>
              <a:defRPr/>
            </a:pPr>
            <a:r>
              <a:rPr lang="en-US" sz="1200" b="0" i="0" u="none" strike="noStrike">
                <a:solidFill>
                  <a:srgbClr val="64748B"/>
                </a:solidFill>
                <a:latin typeface="Noto Sans SC"/>
                <a:ea typeface="Noto Sans SC"/>
                <a:cs typeface="Noto Sans SC"/>
                <a:sym typeface="Noto Sans SC"/>
              </a:rPr>
              <a:t>支持多用户画像记忆，智能识别家庭成员身份，提供个性化的服务响应，真正服务全家。</a:t>
            </a:r>
            <a:endParaRPr lang="en-US" sz="1100"/>
          </a:p>
        </p:txBody>
      </p:sp>
      <p:sp>
        <p:nvSpPr>
          <p:cNvPr id="15" name="AutoShape 15"/>
          <p:cNvSpPr/>
          <p:nvPr/>
        </p:nvSpPr>
        <p:spPr>
          <a:xfrm>
            <a:off x="14097000" y="6096000"/>
            <a:ext cx="2667000" cy="444500"/>
          </a:xfrm>
          <a:prstGeom prst="rect">
            <a:avLst/>
          </a:prstGeom>
          <a:noFill/>
          <a:ln w="1905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indent="0" algn="l">
              <a:lnSpc>
                <a:spcPct val="125000"/>
              </a:lnSpc>
              <a:defRPr/>
            </a:pPr>
            <a:r>
              <a:rPr lang="en-US" sz="2200" b="0" i="0" u="none" strike="noStrike">
                <a:solidFill>
                  <a:srgbClr val="FFB458"/>
                </a:solidFill>
                <a:latin typeface="Noto Sans SC"/>
                <a:ea typeface="Noto Sans SC"/>
                <a:cs typeface="Noto Sans SC"/>
                <a:sym typeface="Noto Sans SC"/>
              </a:rPr>
              <a:t>主动式 · Proactive</a:t>
            </a:r>
            <a:endParaRPr lang="en-US" sz="1100"/>
          </a:p>
        </p:txBody>
      </p:sp>
      <p:sp>
        <p:nvSpPr>
          <p:cNvPr id="16" name="AutoShape 16"/>
          <p:cNvSpPr/>
          <p:nvPr/>
        </p:nvSpPr>
        <p:spPr>
          <a:xfrm>
            <a:off x="14097000" y="6731000"/>
            <a:ext cx="2667000" cy="762000"/>
          </a:xfrm>
          <a:prstGeom prst="rect">
            <a:avLst/>
          </a:prstGeom>
          <a:noFill/>
          <a:ln w="19050" cap="flat" cmpd="sng">
            <a:noFill/>
            <a:prstDash val="solid"/>
            <a:round/>
          </a:ln>
        </p:spPr>
        <p:txBody>
          <a:bodyPr vert="horz" wrap="square" lIns="0" tIns="0" rIns="0" bIns="0" rtlCol="0" anchor="t" anchorCtr="0"/>
          <a:lstStyle/>
          <a:p>
            <a:pPr indent="0" algn="l">
              <a:lnSpc>
                <a:spcPct val="108333"/>
              </a:lnSpc>
              <a:defRPr/>
            </a:pPr>
            <a:r>
              <a:rPr lang="en-US" sz="1200" b="0" i="0" u="none" strike="noStrike">
                <a:solidFill>
                  <a:srgbClr val="64748B"/>
                </a:solidFill>
                <a:latin typeface="Noto Sans SC"/>
                <a:ea typeface="Noto Sans SC"/>
                <a:cs typeface="Noto Sans SC"/>
                <a:sym typeface="Noto Sans SC"/>
              </a:rPr>
              <a:t>AI Agent具备自主决策能力，能根据环境与习惯主动提供服务，而非被动等待指令。</a:t>
            </a:r>
            <a:endParaRPr lang="en-US" sz="1100"/>
          </a:p>
        </p:txBody>
      </p:sp>
      <p:sp>
        <p:nvSpPr>
          <p:cNvPr id="17" name="AutoShape 17"/>
          <p:cNvSpPr/>
          <p:nvPr/>
        </p:nvSpPr>
        <p:spPr>
          <a:xfrm>
            <a:off x="11061700" y="8001000"/>
            <a:ext cx="5588000" cy="508000"/>
          </a:xfrm>
          <a:prstGeom prst="roundRect">
            <a:avLst>
              <a:gd name="adj" fmla="val 25000"/>
            </a:avLst>
          </a:prstGeom>
          <a:solidFill>
            <a:srgbClr val="FF7A83">
              <a:alpha val="10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indent="0" algn="ctr">
              <a:lnSpc>
                <a:spcPct val="125000"/>
              </a:lnSpc>
              <a:defRPr/>
            </a:pPr>
            <a:r>
              <a:rPr lang="en-US" sz="1200" b="0" i="0" u="none" strike="noStrike">
                <a:solidFill>
                  <a:srgbClr val="FF7A83"/>
                </a:solidFill>
                <a:latin typeface="Noto Sans SC"/>
                <a:ea typeface="Noto Sans SC"/>
                <a:cs typeface="Noto Sans SC"/>
                <a:sym typeface="Noto Sans SC"/>
              </a:rPr>
              <a:t>AI FOR HOME · 定义下一代家庭智能交互</a:t>
            </a:r>
            <a:endParaRPr lang="en-US" sz="110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>
            <a:alpha val="100000"/>
          </a:srgb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2"/>
          <p:cNvPicPr>
            <a:picLocks noChangeAspect="1"/>
          </p:cNvPicPr>
          <p:nvPr/>
        </p:nvPicPr>
        <p:blipFill>
          <a:blip r:embed="rId3"/>
          <a:srcRect l="66" r="66"/>
          <a:stretch>
            <a:fillRect/>
          </a:stretch>
        </p:blipFill>
        <p:spPr>
          <a:xfrm>
            <a:off x="13538200" y="2171700"/>
            <a:ext cx="3149600" cy="3632200"/>
          </a:xfrm>
          <a:prstGeom prst="rect">
            <a:avLst/>
          </a:prstGeom>
          <a:noFill/>
          <a:ln w="25400" cap="flat" cmpd="sng">
            <a:noFill/>
            <a:prstDash val="solid"/>
            <a:round/>
          </a:ln>
        </p:spPr>
      </p:pic>
      <p:pic>
        <p:nvPicPr>
          <p:cNvPr id="3" name="Picture 3"/>
          <p:cNvPicPr>
            <a:picLocks noChangeAspect="1"/>
          </p:cNvPicPr>
          <p:nvPr/>
        </p:nvPicPr>
        <p:blipFill>
          <a:blip r:embed="rId4"/>
          <a:srcRect l="66" r="66"/>
          <a:stretch>
            <a:fillRect/>
          </a:stretch>
        </p:blipFill>
        <p:spPr>
          <a:xfrm>
            <a:off x="5588000" y="2171700"/>
            <a:ext cx="3149600" cy="3632200"/>
          </a:xfrm>
          <a:prstGeom prst="rect">
            <a:avLst/>
          </a:prstGeom>
          <a:noFill/>
          <a:ln w="25400" cap="flat" cmpd="sng">
            <a:noFill/>
            <a:prstDash val="solid"/>
            <a:round/>
          </a:ln>
        </p:spPr>
      </p:pic>
      <p:pic>
        <p:nvPicPr>
          <p:cNvPr id="4" name="Picture 4"/>
          <p:cNvPicPr>
            <a:picLocks noChangeAspect="1"/>
          </p:cNvPicPr>
          <p:nvPr/>
        </p:nvPicPr>
        <p:blipFill>
          <a:blip r:embed="rId5"/>
          <a:srcRect l="66" r="66"/>
          <a:stretch>
            <a:fillRect/>
          </a:stretch>
        </p:blipFill>
        <p:spPr>
          <a:xfrm>
            <a:off x="9563100" y="2171700"/>
            <a:ext cx="3149600" cy="3632200"/>
          </a:xfrm>
          <a:prstGeom prst="rect">
            <a:avLst/>
          </a:prstGeom>
          <a:noFill/>
          <a:ln w="25400" cap="flat" cmpd="sng">
            <a:noFill/>
            <a:prstDash val="solid"/>
            <a:round/>
          </a:ln>
        </p:spPr>
      </p:pic>
      <p:pic>
        <p:nvPicPr>
          <p:cNvPr id="5" name="Picture 5"/>
          <p:cNvPicPr>
            <a:picLocks noChangeAspect="1"/>
          </p:cNvPicPr>
          <p:nvPr/>
        </p:nvPicPr>
        <p:blipFill>
          <a:blip r:embed="rId6"/>
          <a:srcRect l="66" r="66"/>
          <a:stretch>
            <a:fillRect/>
          </a:stretch>
        </p:blipFill>
        <p:spPr>
          <a:xfrm>
            <a:off x="1612900" y="2171700"/>
            <a:ext cx="3149600" cy="3632200"/>
          </a:xfrm>
          <a:prstGeom prst="rect">
            <a:avLst/>
          </a:prstGeom>
          <a:noFill/>
          <a:ln w="25400" cap="flat" cmpd="sng">
            <a:noFill/>
            <a:prstDash val="solid"/>
            <a:round/>
          </a:ln>
        </p:spPr>
      </p:pic>
      <p:sp>
        <p:nvSpPr>
          <p:cNvPr id="6" name="Freeform 6"/>
          <p:cNvSpPr/>
          <p:nvPr/>
        </p:nvSpPr>
        <p:spPr>
          <a:xfrm>
            <a:off x="13538200" y="5829300"/>
            <a:ext cx="3154490" cy="3173635"/>
          </a:xfrm>
          <a:custGeom>
            <a:avLst/>
            <a:gdLst/>
            <a:ahLst/>
            <a:cxnLst/>
            <a:rect l="l" t="t" r="r" b="b"/>
            <a:pathLst>
              <a:path w="3154490" h="3173635">
                <a:moveTo>
                  <a:pt x="2994279" y="3173635"/>
                </a:moveTo>
                <a:lnTo>
                  <a:pt x="160210" y="3173635"/>
                </a:lnTo>
                <a:cubicBezTo>
                  <a:pt x="71723" y="3173635"/>
                  <a:pt x="0" y="3101912"/>
                  <a:pt x="0" y="3013329"/>
                </a:cubicBezTo>
                <a:lnTo>
                  <a:pt x="0" y="0"/>
                </a:lnTo>
                <a:lnTo>
                  <a:pt x="3154490" y="0"/>
                </a:lnTo>
                <a:lnTo>
                  <a:pt x="3154490" y="3013329"/>
                </a:lnTo>
                <a:cubicBezTo>
                  <a:pt x="3154490" y="3101816"/>
                  <a:pt x="3082766" y="3173540"/>
                  <a:pt x="2994279" y="3173540"/>
                </a:cubicBezTo>
                <a:close/>
              </a:path>
            </a:pathLst>
          </a:custGeom>
          <a:solidFill>
            <a:srgbClr val="FFFFFF">
              <a:alpha val="100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  <a:endParaRPr/>
          </a:p>
        </p:txBody>
      </p:sp>
      <p:sp>
        <p:nvSpPr>
          <p:cNvPr id="7" name="Freeform 7"/>
          <p:cNvSpPr/>
          <p:nvPr/>
        </p:nvSpPr>
        <p:spPr>
          <a:xfrm>
            <a:off x="13538200" y="5829300"/>
            <a:ext cx="3173540" cy="3192685"/>
          </a:xfrm>
          <a:custGeom>
            <a:avLst/>
            <a:gdLst/>
            <a:ahLst/>
            <a:cxnLst/>
            <a:rect l="l" t="t" r="r" b="b"/>
            <a:pathLst>
              <a:path w="3173540" h="3192685">
                <a:moveTo>
                  <a:pt x="3003804" y="3192685"/>
                </a:moveTo>
                <a:lnTo>
                  <a:pt x="169736" y="3192685"/>
                </a:lnTo>
                <a:lnTo>
                  <a:pt x="169736" y="3183160"/>
                </a:lnTo>
                <a:lnTo>
                  <a:pt x="169736" y="3192685"/>
                </a:lnTo>
                <a:cubicBezTo>
                  <a:pt x="76009" y="3192685"/>
                  <a:pt x="0" y="3116675"/>
                  <a:pt x="0" y="3022854"/>
                </a:cubicBezTo>
                <a:lnTo>
                  <a:pt x="9525" y="3022854"/>
                </a:lnTo>
                <a:lnTo>
                  <a:pt x="0" y="3022854"/>
                </a:lnTo>
                <a:lnTo>
                  <a:pt x="0" y="9525"/>
                </a:lnTo>
                <a:cubicBezTo>
                  <a:pt x="0" y="4286"/>
                  <a:pt x="4286" y="0"/>
                  <a:pt x="9525" y="0"/>
                </a:cubicBezTo>
                <a:lnTo>
                  <a:pt x="3164014" y="0"/>
                </a:lnTo>
                <a:cubicBezTo>
                  <a:pt x="3169253" y="0"/>
                  <a:pt x="3173540" y="4286"/>
                  <a:pt x="3173540" y="9525"/>
                </a:cubicBezTo>
                <a:lnTo>
                  <a:pt x="3173540" y="3022854"/>
                </a:lnTo>
                <a:lnTo>
                  <a:pt x="3164014" y="3022854"/>
                </a:lnTo>
                <a:lnTo>
                  <a:pt x="3173540" y="3022854"/>
                </a:lnTo>
                <a:cubicBezTo>
                  <a:pt x="3173540" y="3116580"/>
                  <a:pt x="3097530" y="3192590"/>
                  <a:pt x="3003804" y="3192590"/>
                </a:cubicBezTo>
                <a:lnTo>
                  <a:pt x="3003804" y="3183064"/>
                </a:lnTo>
                <a:lnTo>
                  <a:pt x="3003804" y="3192590"/>
                </a:lnTo>
                <a:moveTo>
                  <a:pt x="3003804" y="3173540"/>
                </a:moveTo>
                <a:cubicBezTo>
                  <a:pt x="3087052" y="3173540"/>
                  <a:pt x="3154490" y="3106102"/>
                  <a:pt x="3154490" y="3022854"/>
                </a:cubicBezTo>
                <a:lnTo>
                  <a:pt x="3154490" y="9525"/>
                </a:lnTo>
                <a:lnTo>
                  <a:pt x="3164014" y="9525"/>
                </a:lnTo>
                <a:lnTo>
                  <a:pt x="3164014" y="19050"/>
                </a:lnTo>
                <a:lnTo>
                  <a:pt x="9525" y="19050"/>
                </a:lnTo>
                <a:lnTo>
                  <a:pt x="9525" y="9525"/>
                </a:lnTo>
                <a:lnTo>
                  <a:pt x="19050" y="9525"/>
                </a:lnTo>
                <a:lnTo>
                  <a:pt x="19050" y="3022854"/>
                </a:lnTo>
                <a:cubicBezTo>
                  <a:pt x="19050" y="3106102"/>
                  <a:pt x="86487" y="3173540"/>
                  <a:pt x="169736" y="3173540"/>
                </a:cubicBezTo>
                <a:lnTo>
                  <a:pt x="3003804" y="3173540"/>
                </a:lnTo>
                <a:close/>
              </a:path>
            </a:pathLst>
          </a:custGeom>
          <a:solidFill>
            <a:srgbClr val="FFFFFF">
              <a:alpha val="100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  <a:endParaRPr/>
          </a:p>
        </p:txBody>
      </p:sp>
      <p:sp>
        <p:nvSpPr>
          <p:cNvPr id="8" name="Freeform 8"/>
          <p:cNvSpPr/>
          <p:nvPr/>
        </p:nvSpPr>
        <p:spPr>
          <a:xfrm>
            <a:off x="1612900" y="5829300"/>
            <a:ext cx="3154490" cy="3173635"/>
          </a:xfrm>
          <a:custGeom>
            <a:avLst/>
            <a:gdLst/>
            <a:ahLst/>
            <a:cxnLst/>
            <a:rect l="l" t="t" r="r" b="b"/>
            <a:pathLst>
              <a:path w="3154490" h="3173635">
                <a:moveTo>
                  <a:pt x="2994279" y="3173635"/>
                </a:moveTo>
                <a:lnTo>
                  <a:pt x="160210" y="3173635"/>
                </a:lnTo>
                <a:cubicBezTo>
                  <a:pt x="71723" y="3173635"/>
                  <a:pt x="0" y="3101912"/>
                  <a:pt x="0" y="3013329"/>
                </a:cubicBezTo>
                <a:lnTo>
                  <a:pt x="0" y="0"/>
                </a:lnTo>
                <a:lnTo>
                  <a:pt x="3154490" y="0"/>
                </a:lnTo>
                <a:lnTo>
                  <a:pt x="3154490" y="3013329"/>
                </a:lnTo>
                <a:cubicBezTo>
                  <a:pt x="3154490" y="3101816"/>
                  <a:pt x="3082766" y="3173540"/>
                  <a:pt x="2994279" y="3173540"/>
                </a:cubicBezTo>
                <a:close/>
              </a:path>
            </a:pathLst>
          </a:custGeom>
          <a:solidFill>
            <a:srgbClr val="FFFFFF">
              <a:alpha val="100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  <a:endParaRPr/>
          </a:p>
        </p:txBody>
      </p:sp>
      <p:sp>
        <p:nvSpPr>
          <p:cNvPr id="9" name="Freeform 9"/>
          <p:cNvSpPr/>
          <p:nvPr/>
        </p:nvSpPr>
        <p:spPr>
          <a:xfrm>
            <a:off x="1600200" y="5829300"/>
            <a:ext cx="3173540" cy="3192685"/>
          </a:xfrm>
          <a:custGeom>
            <a:avLst/>
            <a:gdLst/>
            <a:ahLst/>
            <a:cxnLst/>
            <a:rect l="l" t="t" r="r" b="b"/>
            <a:pathLst>
              <a:path w="3173540" h="3192685">
                <a:moveTo>
                  <a:pt x="3003804" y="3192685"/>
                </a:moveTo>
                <a:lnTo>
                  <a:pt x="169736" y="3192685"/>
                </a:lnTo>
                <a:lnTo>
                  <a:pt x="169736" y="3183160"/>
                </a:lnTo>
                <a:lnTo>
                  <a:pt x="169736" y="3192685"/>
                </a:lnTo>
                <a:cubicBezTo>
                  <a:pt x="76010" y="3192685"/>
                  <a:pt x="0" y="3116675"/>
                  <a:pt x="0" y="3022854"/>
                </a:cubicBezTo>
                <a:lnTo>
                  <a:pt x="9525" y="3022854"/>
                </a:lnTo>
                <a:lnTo>
                  <a:pt x="0" y="3022854"/>
                </a:lnTo>
                <a:lnTo>
                  <a:pt x="0" y="9525"/>
                </a:lnTo>
                <a:cubicBezTo>
                  <a:pt x="0" y="4286"/>
                  <a:pt x="4286" y="0"/>
                  <a:pt x="9525" y="0"/>
                </a:cubicBezTo>
                <a:lnTo>
                  <a:pt x="3164014" y="0"/>
                </a:lnTo>
                <a:cubicBezTo>
                  <a:pt x="3169253" y="0"/>
                  <a:pt x="3173540" y="4286"/>
                  <a:pt x="3173540" y="9525"/>
                </a:cubicBezTo>
                <a:lnTo>
                  <a:pt x="3173540" y="3022854"/>
                </a:lnTo>
                <a:lnTo>
                  <a:pt x="3164014" y="3022854"/>
                </a:lnTo>
                <a:lnTo>
                  <a:pt x="3173540" y="3022854"/>
                </a:lnTo>
                <a:cubicBezTo>
                  <a:pt x="3173540" y="3116580"/>
                  <a:pt x="3097530" y="3192590"/>
                  <a:pt x="3003804" y="3192590"/>
                </a:cubicBezTo>
                <a:lnTo>
                  <a:pt x="3003804" y="3183064"/>
                </a:lnTo>
                <a:lnTo>
                  <a:pt x="3003804" y="3192590"/>
                </a:lnTo>
                <a:moveTo>
                  <a:pt x="3003804" y="3173540"/>
                </a:moveTo>
                <a:cubicBezTo>
                  <a:pt x="3087052" y="3173540"/>
                  <a:pt x="3154490" y="3106102"/>
                  <a:pt x="3154490" y="3022854"/>
                </a:cubicBezTo>
                <a:lnTo>
                  <a:pt x="3154490" y="9525"/>
                </a:lnTo>
                <a:lnTo>
                  <a:pt x="3164014" y="9525"/>
                </a:lnTo>
                <a:lnTo>
                  <a:pt x="3164014" y="19050"/>
                </a:lnTo>
                <a:lnTo>
                  <a:pt x="9525" y="19050"/>
                </a:lnTo>
                <a:lnTo>
                  <a:pt x="9525" y="9525"/>
                </a:lnTo>
                <a:lnTo>
                  <a:pt x="19050" y="9525"/>
                </a:lnTo>
                <a:lnTo>
                  <a:pt x="19050" y="3022854"/>
                </a:lnTo>
                <a:cubicBezTo>
                  <a:pt x="19050" y="3106102"/>
                  <a:pt x="86487" y="3173540"/>
                  <a:pt x="169736" y="3173540"/>
                </a:cubicBezTo>
                <a:lnTo>
                  <a:pt x="3003804" y="3173540"/>
                </a:lnTo>
                <a:close/>
              </a:path>
            </a:pathLst>
          </a:custGeom>
          <a:solidFill>
            <a:srgbClr val="FFFFFF">
              <a:alpha val="100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  <a:endParaRPr/>
          </a:p>
        </p:txBody>
      </p:sp>
      <p:sp>
        <p:nvSpPr>
          <p:cNvPr id="10" name="Freeform 10"/>
          <p:cNvSpPr/>
          <p:nvPr/>
        </p:nvSpPr>
        <p:spPr>
          <a:xfrm>
            <a:off x="5588000" y="5829300"/>
            <a:ext cx="3154490" cy="3173635"/>
          </a:xfrm>
          <a:custGeom>
            <a:avLst/>
            <a:gdLst/>
            <a:ahLst/>
            <a:cxnLst/>
            <a:rect l="l" t="t" r="r" b="b"/>
            <a:pathLst>
              <a:path w="3154490" h="3173635">
                <a:moveTo>
                  <a:pt x="2994279" y="3173635"/>
                </a:moveTo>
                <a:lnTo>
                  <a:pt x="160210" y="3173635"/>
                </a:lnTo>
                <a:cubicBezTo>
                  <a:pt x="71723" y="3173635"/>
                  <a:pt x="0" y="3101912"/>
                  <a:pt x="0" y="3013329"/>
                </a:cubicBezTo>
                <a:lnTo>
                  <a:pt x="0" y="0"/>
                </a:lnTo>
                <a:lnTo>
                  <a:pt x="3154490" y="0"/>
                </a:lnTo>
                <a:lnTo>
                  <a:pt x="3154490" y="3013329"/>
                </a:lnTo>
                <a:cubicBezTo>
                  <a:pt x="3154490" y="3101816"/>
                  <a:pt x="3082766" y="3173540"/>
                  <a:pt x="2994279" y="3173540"/>
                </a:cubicBezTo>
                <a:close/>
              </a:path>
            </a:pathLst>
          </a:custGeom>
          <a:solidFill>
            <a:srgbClr val="FFFFFF">
              <a:alpha val="100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  <a:endParaRPr/>
          </a:p>
        </p:txBody>
      </p:sp>
      <p:sp>
        <p:nvSpPr>
          <p:cNvPr id="11" name="Freeform 11"/>
          <p:cNvSpPr/>
          <p:nvPr/>
        </p:nvSpPr>
        <p:spPr>
          <a:xfrm>
            <a:off x="5575300" y="5829300"/>
            <a:ext cx="3173540" cy="3192685"/>
          </a:xfrm>
          <a:custGeom>
            <a:avLst/>
            <a:gdLst/>
            <a:ahLst/>
            <a:cxnLst/>
            <a:rect l="l" t="t" r="r" b="b"/>
            <a:pathLst>
              <a:path w="3173540" h="3192685">
                <a:moveTo>
                  <a:pt x="3003804" y="3192685"/>
                </a:moveTo>
                <a:lnTo>
                  <a:pt x="169736" y="3192685"/>
                </a:lnTo>
                <a:lnTo>
                  <a:pt x="169736" y="3183160"/>
                </a:lnTo>
                <a:lnTo>
                  <a:pt x="169736" y="3192685"/>
                </a:lnTo>
                <a:cubicBezTo>
                  <a:pt x="76010" y="3192685"/>
                  <a:pt x="0" y="3116675"/>
                  <a:pt x="0" y="3022854"/>
                </a:cubicBezTo>
                <a:lnTo>
                  <a:pt x="9525" y="3022854"/>
                </a:lnTo>
                <a:lnTo>
                  <a:pt x="0" y="3022854"/>
                </a:lnTo>
                <a:lnTo>
                  <a:pt x="0" y="9525"/>
                </a:lnTo>
                <a:cubicBezTo>
                  <a:pt x="0" y="4286"/>
                  <a:pt x="4286" y="0"/>
                  <a:pt x="9525" y="0"/>
                </a:cubicBezTo>
                <a:lnTo>
                  <a:pt x="3164014" y="0"/>
                </a:lnTo>
                <a:cubicBezTo>
                  <a:pt x="3169253" y="0"/>
                  <a:pt x="3173540" y="4286"/>
                  <a:pt x="3173540" y="9525"/>
                </a:cubicBezTo>
                <a:lnTo>
                  <a:pt x="3173540" y="3022854"/>
                </a:lnTo>
                <a:lnTo>
                  <a:pt x="3164014" y="3022854"/>
                </a:lnTo>
                <a:lnTo>
                  <a:pt x="3173540" y="3022854"/>
                </a:lnTo>
                <a:cubicBezTo>
                  <a:pt x="3173540" y="3116580"/>
                  <a:pt x="3097530" y="3192590"/>
                  <a:pt x="3003804" y="3192590"/>
                </a:cubicBezTo>
                <a:lnTo>
                  <a:pt x="3003804" y="3183064"/>
                </a:lnTo>
                <a:lnTo>
                  <a:pt x="3003804" y="3192590"/>
                </a:lnTo>
                <a:moveTo>
                  <a:pt x="3003804" y="3173540"/>
                </a:moveTo>
                <a:cubicBezTo>
                  <a:pt x="3087052" y="3173540"/>
                  <a:pt x="3154490" y="3106102"/>
                  <a:pt x="3154490" y="3022854"/>
                </a:cubicBezTo>
                <a:lnTo>
                  <a:pt x="3154490" y="9525"/>
                </a:lnTo>
                <a:lnTo>
                  <a:pt x="3164014" y="9525"/>
                </a:lnTo>
                <a:lnTo>
                  <a:pt x="3164014" y="19050"/>
                </a:lnTo>
                <a:lnTo>
                  <a:pt x="9525" y="19050"/>
                </a:lnTo>
                <a:lnTo>
                  <a:pt x="9525" y="9525"/>
                </a:lnTo>
                <a:lnTo>
                  <a:pt x="19050" y="9525"/>
                </a:lnTo>
                <a:lnTo>
                  <a:pt x="19050" y="3022854"/>
                </a:lnTo>
                <a:cubicBezTo>
                  <a:pt x="19050" y="3106102"/>
                  <a:pt x="86487" y="3173540"/>
                  <a:pt x="169736" y="3173540"/>
                </a:cubicBezTo>
                <a:lnTo>
                  <a:pt x="3003804" y="3173540"/>
                </a:lnTo>
                <a:close/>
              </a:path>
            </a:pathLst>
          </a:custGeom>
          <a:solidFill>
            <a:srgbClr val="FFFFFF">
              <a:alpha val="100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  <a:endParaRPr/>
          </a:p>
        </p:txBody>
      </p:sp>
      <p:sp>
        <p:nvSpPr>
          <p:cNvPr id="12" name="Freeform 12"/>
          <p:cNvSpPr/>
          <p:nvPr/>
        </p:nvSpPr>
        <p:spPr>
          <a:xfrm>
            <a:off x="9563100" y="5829300"/>
            <a:ext cx="3154490" cy="3173635"/>
          </a:xfrm>
          <a:custGeom>
            <a:avLst/>
            <a:gdLst/>
            <a:ahLst/>
            <a:cxnLst/>
            <a:rect l="l" t="t" r="r" b="b"/>
            <a:pathLst>
              <a:path w="3154490" h="3173635">
                <a:moveTo>
                  <a:pt x="2994279" y="3173635"/>
                </a:moveTo>
                <a:lnTo>
                  <a:pt x="160210" y="3173635"/>
                </a:lnTo>
                <a:cubicBezTo>
                  <a:pt x="71723" y="3173635"/>
                  <a:pt x="0" y="3101912"/>
                  <a:pt x="0" y="3013329"/>
                </a:cubicBezTo>
                <a:lnTo>
                  <a:pt x="0" y="0"/>
                </a:lnTo>
                <a:lnTo>
                  <a:pt x="3154490" y="0"/>
                </a:lnTo>
                <a:lnTo>
                  <a:pt x="3154490" y="3013329"/>
                </a:lnTo>
                <a:cubicBezTo>
                  <a:pt x="3154490" y="3101816"/>
                  <a:pt x="3082766" y="3173540"/>
                  <a:pt x="2994279" y="3173540"/>
                </a:cubicBezTo>
                <a:close/>
              </a:path>
            </a:pathLst>
          </a:custGeom>
          <a:solidFill>
            <a:srgbClr val="FFFFFF">
              <a:alpha val="100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  <a:endParaRPr/>
          </a:p>
        </p:txBody>
      </p:sp>
      <p:sp>
        <p:nvSpPr>
          <p:cNvPr id="13" name="Freeform 13"/>
          <p:cNvSpPr/>
          <p:nvPr/>
        </p:nvSpPr>
        <p:spPr>
          <a:xfrm>
            <a:off x="9550400" y="5829300"/>
            <a:ext cx="3173540" cy="3192685"/>
          </a:xfrm>
          <a:custGeom>
            <a:avLst/>
            <a:gdLst/>
            <a:ahLst/>
            <a:cxnLst/>
            <a:rect l="l" t="t" r="r" b="b"/>
            <a:pathLst>
              <a:path w="3173540" h="3192685">
                <a:moveTo>
                  <a:pt x="3003804" y="3192685"/>
                </a:moveTo>
                <a:lnTo>
                  <a:pt x="169736" y="3192685"/>
                </a:lnTo>
                <a:lnTo>
                  <a:pt x="169736" y="3183160"/>
                </a:lnTo>
                <a:lnTo>
                  <a:pt x="169736" y="3192685"/>
                </a:lnTo>
                <a:cubicBezTo>
                  <a:pt x="76010" y="3192685"/>
                  <a:pt x="0" y="3116675"/>
                  <a:pt x="0" y="3022854"/>
                </a:cubicBezTo>
                <a:lnTo>
                  <a:pt x="9525" y="3022854"/>
                </a:lnTo>
                <a:lnTo>
                  <a:pt x="0" y="3022854"/>
                </a:lnTo>
                <a:lnTo>
                  <a:pt x="0" y="9525"/>
                </a:lnTo>
                <a:cubicBezTo>
                  <a:pt x="0" y="4286"/>
                  <a:pt x="4286" y="0"/>
                  <a:pt x="9525" y="0"/>
                </a:cubicBezTo>
                <a:lnTo>
                  <a:pt x="3164014" y="0"/>
                </a:lnTo>
                <a:cubicBezTo>
                  <a:pt x="3169253" y="0"/>
                  <a:pt x="3173540" y="4286"/>
                  <a:pt x="3173540" y="9525"/>
                </a:cubicBezTo>
                <a:lnTo>
                  <a:pt x="3173540" y="3022854"/>
                </a:lnTo>
                <a:lnTo>
                  <a:pt x="3164014" y="3022854"/>
                </a:lnTo>
                <a:lnTo>
                  <a:pt x="3173540" y="3022854"/>
                </a:lnTo>
                <a:cubicBezTo>
                  <a:pt x="3173540" y="3116580"/>
                  <a:pt x="3097530" y="3192590"/>
                  <a:pt x="3003804" y="3192590"/>
                </a:cubicBezTo>
                <a:lnTo>
                  <a:pt x="3003804" y="3183064"/>
                </a:lnTo>
                <a:lnTo>
                  <a:pt x="3003804" y="3192590"/>
                </a:lnTo>
                <a:moveTo>
                  <a:pt x="3003804" y="3173540"/>
                </a:moveTo>
                <a:cubicBezTo>
                  <a:pt x="3087052" y="3173540"/>
                  <a:pt x="3154490" y="3106102"/>
                  <a:pt x="3154490" y="3022854"/>
                </a:cubicBezTo>
                <a:lnTo>
                  <a:pt x="3154490" y="9525"/>
                </a:lnTo>
                <a:lnTo>
                  <a:pt x="3164014" y="9525"/>
                </a:lnTo>
                <a:lnTo>
                  <a:pt x="3164014" y="19050"/>
                </a:lnTo>
                <a:lnTo>
                  <a:pt x="9525" y="19050"/>
                </a:lnTo>
                <a:lnTo>
                  <a:pt x="9525" y="9525"/>
                </a:lnTo>
                <a:lnTo>
                  <a:pt x="19050" y="9525"/>
                </a:lnTo>
                <a:lnTo>
                  <a:pt x="19050" y="3022854"/>
                </a:lnTo>
                <a:cubicBezTo>
                  <a:pt x="19050" y="3106102"/>
                  <a:pt x="86487" y="3173540"/>
                  <a:pt x="169736" y="3173540"/>
                </a:cubicBezTo>
                <a:lnTo>
                  <a:pt x="3003804" y="3173540"/>
                </a:lnTo>
                <a:close/>
              </a:path>
            </a:pathLst>
          </a:custGeom>
          <a:solidFill>
            <a:srgbClr val="FFFFFF">
              <a:alpha val="100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  <a:endParaRPr/>
          </a:p>
        </p:txBody>
      </p:sp>
      <p:sp>
        <p:nvSpPr>
          <p:cNvPr id="14" name="AutoShape 14"/>
          <p:cNvSpPr/>
          <p:nvPr/>
        </p:nvSpPr>
        <p:spPr>
          <a:xfrm>
            <a:off x="622300" y="571500"/>
            <a:ext cx="7620000" cy="762000"/>
          </a:xfrm>
          <a:prstGeom prst="rect">
            <a:avLst/>
          </a:prstGeom>
          <a:noFill/>
          <a:ln w="1905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indent="0" algn="l">
              <a:lnSpc>
                <a:spcPct val="125000"/>
              </a:lnSpc>
              <a:defRPr/>
            </a:pPr>
            <a:r>
              <a:rPr lang="en-US" sz="4200" b="0" i="0" u="none" strike="noStrike">
                <a:solidFill>
                  <a:srgbClr val="FFB458"/>
                </a:solidFill>
                <a:latin typeface="Noto Sans SC"/>
                <a:ea typeface="Noto Sans SC"/>
                <a:cs typeface="Noto Sans SC"/>
                <a:sym typeface="Noto Sans SC"/>
              </a:rPr>
              <a:t>核心功能模块（一）</a:t>
            </a:r>
            <a:endParaRPr lang="en-US" sz="1100"/>
          </a:p>
        </p:txBody>
      </p:sp>
      <p:cxnSp>
        <p:nvCxnSpPr>
          <p:cNvPr id="15" name="Connector 15"/>
          <p:cNvCxnSpPr/>
          <p:nvPr/>
        </p:nvCxnSpPr>
        <p:spPr>
          <a:xfrm>
            <a:off x="4406900" y="889000"/>
            <a:ext cx="11861807" cy="12700"/>
          </a:xfrm>
          <a:prstGeom prst="line">
            <a:avLst/>
          </a:prstGeom>
          <a:solidFill>
            <a:srgbClr val="DEE0E3">
              <a:alpha val="100000"/>
            </a:srgbClr>
          </a:solidFill>
          <a:ln w="12700" cap="rnd" cmpd="sng">
            <a:solidFill>
              <a:srgbClr val="F89469">
                <a:alpha val="100000"/>
              </a:srgbClr>
            </a:solidFill>
            <a:prstDash val="solid"/>
            <a:round/>
            <a:headEnd type="none" w="med" len="med"/>
            <a:tailEnd type="none" w="med" len="med"/>
          </a:ln>
        </p:spPr>
      </p:cxnSp>
      <p:sp>
        <p:nvSpPr>
          <p:cNvPr id="16" name="AutoShape 16"/>
          <p:cNvSpPr/>
          <p:nvPr/>
        </p:nvSpPr>
        <p:spPr>
          <a:xfrm>
            <a:off x="16446500" y="546100"/>
            <a:ext cx="1104900" cy="736600"/>
          </a:xfrm>
          <a:prstGeom prst="rect">
            <a:avLst/>
          </a:prstGeom>
          <a:noFill/>
          <a:ln w="1905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indent="0" algn="ctr">
              <a:lnSpc>
                <a:spcPct val="125000"/>
              </a:lnSpc>
              <a:defRPr/>
            </a:pPr>
            <a:r>
              <a:rPr lang="en-US" sz="4500" b="0" i="0" u="none" strike="noStrike">
                <a:solidFill>
                  <a:srgbClr val="FFB364"/>
                </a:solidFill>
                <a:latin typeface="Montserrat"/>
                <a:ea typeface="Montserrat"/>
                <a:cs typeface="Montserrat"/>
                <a:sym typeface="Montserrat"/>
              </a:rPr>
              <a:t>01</a:t>
            </a:r>
            <a:endParaRPr lang="en-US" sz="1100"/>
          </a:p>
        </p:txBody>
      </p:sp>
      <p:pic>
        <p:nvPicPr>
          <p:cNvPr id="17" name="Picture 17"/>
          <p:cNvPicPr>
            <a:picLocks noChangeAspect="1"/>
          </p:cNvPicPr>
          <p:nvPr/>
        </p:nvPicPr>
        <p:blipFill>
          <a:blip r:embed="rId7"/>
          <a:srcRect t="1000" b="1000"/>
          <a:stretch>
            <a:fillRect/>
          </a:stretch>
        </p:blipFill>
        <p:spPr>
          <a:xfrm>
            <a:off x="1600200" y="5549900"/>
            <a:ext cx="3175000" cy="889000"/>
          </a:xfrm>
          <a:prstGeom prst="rect">
            <a:avLst/>
          </a:prstGeom>
          <a:noFill/>
          <a:ln w="25400" cap="flat" cmpd="sng">
            <a:noFill/>
            <a:prstDash val="solid"/>
            <a:round/>
          </a:ln>
        </p:spPr>
      </p:pic>
      <p:sp>
        <p:nvSpPr>
          <p:cNvPr id="18" name="AutoShape 18"/>
          <p:cNvSpPr/>
          <p:nvPr/>
        </p:nvSpPr>
        <p:spPr>
          <a:xfrm>
            <a:off x="1790700" y="5740400"/>
            <a:ext cx="2794000" cy="508000"/>
          </a:xfrm>
          <a:prstGeom prst="rect">
            <a:avLst/>
          </a:prstGeom>
          <a:noFill/>
          <a:ln w="1905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indent="0" algn="ctr">
              <a:lnSpc>
                <a:spcPct val="125000"/>
              </a:lnSpc>
              <a:defRPr/>
            </a:pPr>
            <a:r>
              <a:rPr lang="en-US" sz="2200" b="0" i="0" u="none" strike="noStrike">
                <a:solidFill>
                  <a:srgbClr val="FFFFFF"/>
                </a:solidFill>
                <a:latin typeface="Noto Sans SC"/>
                <a:ea typeface="Noto Sans SC"/>
                <a:cs typeface="Noto Sans SC"/>
                <a:sym typeface="Noto Sans SC"/>
              </a:rPr>
              <a:t>多人格陪伴服务</a:t>
            </a:r>
            <a:endParaRPr lang="en-US" sz="1100"/>
          </a:p>
        </p:txBody>
      </p:sp>
      <p:sp>
        <p:nvSpPr>
          <p:cNvPr id="19" name="AutoShape 19"/>
          <p:cNvSpPr/>
          <p:nvPr/>
        </p:nvSpPr>
        <p:spPr>
          <a:xfrm>
            <a:off x="1854200" y="6477000"/>
            <a:ext cx="2667000" cy="1143000"/>
          </a:xfrm>
          <a:prstGeom prst="rect">
            <a:avLst/>
          </a:prstGeom>
          <a:noFill/>
          <a:ln w="19050" cap="flat" cmpd="sng">
            <a:noFill/>
            <a:prstDash val="solid"/>
            <a:round/>
          </a:ln>
        </p:spPr>
        <p:txBody>
          <a:bodyPr vert="horz" wrap="square" lIns="0" tIns="0" rIns="0" bIns="0" rtlCol="0" anchor="t" anchorCtr="0"/>
          <a:lstStyle/>
          <a:p>
            <a:pPr indent="0" algn="just">
              <a:lnSpc>
                <a:spcPct val="108333"/>
              </a:lnSpc>
              <a:defRPr/>
            </a:pPr>
            <a:r>
              <a:rPr lang="en-US" sz="1200" b="0" i="0" u="none" strike="noStrike">
                <a:solidFill>
                  <a:srgbClr val="595959"/>
                </a:solidFill>
                <a:latin typeface="Noto Sans SC"/>
                <a:ea typeface="Noto Sans SC"/>
                <a:cs typeface="Noto Sans SC"/>
                <a:sym typeface="Noto Sans SC"/>
              </a:rPr>
              <a:t>自动识别用户，切换至长辈、高效助手、趣味伙伴等不同人格，实现真正的个性化交互。</a:t>
            </a:r>
            <a:endParaRPr lang="en-US" sz="1100"/>
          </a:p>
        </p:txBody>
      </p:sp>
      <p:cxnSp>
        <p:nvCxnSpPr>
          <p:cNvPr id="20" name="Connector 20"/>
          <p:cNvCxnSpPr/>
          <p:nvPr/>
        </p:nvCxnSpPr>
        <p:spPr>
          <a:xfrm rot="-29635">
            <a:off x="2032027" y="7740650"/>
            <a:ext cx="1473200" cy="12700"/>
          </a:xfrm>
          <a:prstGeom prst="line">
            <a:avLst/>
          </a:prstGeom>
          <a:solidFill>
            <a:srgbClr val="DEE0E3">
              <a:alpha val="100000"/>
            </a:srgbClr>
          </a:solidFill>
          <a:ln w="12700" cap="flat" cmpd="sng">
            <a:solidFill>
              <a:srgbClr val="FF7A83">
                <a:alpha val="100000"/>
              </a:srgbClr>
            </a:solidFill>
            <a:prstDash val="solid"/>
            <a:round/>
            <a:headEnd type="none" w="med" len="med"/>
            <a:tailEnd type="none" w="med" len="med"/>
          </a:ln>
        </p:spPr>
      </p:cxnSp>
      <p:sp>
        <p:nvSpPr>
          <p:cNvPr id="21" name="AutoShape 21"/>
          <p:cNvSpPr/>
          <p:nvPr/>
        </p:nvSpPr>
        <p:spPr>
          <a:xfrm>
            <a:off x="3721100" y="7556500"/>
            <a:ext cx="698500" cy="482600"/>
          </a:xfrm>
          <a:prstGeom prst="rect">
            <a:avLst/>
          </a:prstGeom>
          <a:noFill/>
          <a:ln w="1905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indent="0" algn="ctr">
              <a:lnSpc>
                <a:spcPct val="125000"/>
              </a:lnSpc>
              <a:defRPr/>
            </a:pPr>
            <a:r>
              <a:rPr lang="en-US" sz="2800" b="1" i="0" u="none" strike="noStrike">
                <a:solidFill>
                  <a:srgbClr val="FF7A83"/>
                </a:solidFill>
                <a:latin typeface="Noto Sans SC"/>
                <a:ea typeface="Noto Sans SC"/>
                <a:cs typeface="Noto Sans SC"/>
                <a:sym typeface="Noto Sans SC"/>
              </a:rPr>
              <a:t>01</a:t>
            </a:r>
            <a:endParaRPr lang="en-US" sz="1100"/>
          </a:p>
        </p:txBody>
      </p:sp>
      <p:pic>
        <p:nvPicPr>
          <p:cNvPr id="22" name="Picture 22"/>
          <p:cNvPicPr>
            <a:picLocks noChangeAspect="1"/>
          </p:cNvPicPr>
          <p:nvPr/>
        </p:nvPicPr>
        <p:blipFill>
          <a:blip r:embed="rId8"/>
          <a:srcRect t="1000" b="1000"/>
          <a:stretch>
            <a:fillRect/>
          </a:stretch>
        </p:blipFill>
        <p:spPr>
          <a:xfrm>
            <a:off x="5575300" y="5549900"/>
            <a:ext cx="3175000" cy="889000"/>
          </a:xfrm>
          <a:prstGeom prst="rect">
            <a:avLst/>
          </a:prstGeom>
          <a:noFill/>
          <a:ln w="25400" cap="flat" cmpd="sng">
            <a:noFill/>
            <a:prstDash val="solid"/>
            <a:round/>
          </a:ln>
        </p:spPr>
      </p:pic>
      <p:sp>
        <p:nvSpPr>
          <p:cNvPr id="23" name="AutoShape 23"/>
          <p:cNvSpPr/>
          <p:nvPr/>
        </p:nvSpPr>
        <p:spPr>
          <a:xfrm>
            <a:off x="5765800" y="5740400"/>
            <a:ext cx="2794000" cy="508000"/>
          </a:xfrm>
          <a:prstGeom prst="rect">
            <a:avLst/>
          </a:prstGeom>
          <a:noFill/>
          <a:ln w="1905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indent="0" algn="ctr">
              <a:lnSpc>
                <a:spcPct val="125000"/>
              </a:lnSpc>
              <a:defRPr/>
            </a:pPr>
            <a:r>
              <a:rPr lang="en-US" sz="2200" b="0" i="0" u="none" strike="noStrike">
                <a:solidFill>
                  <a:srgbClr val="FFFFFF"/>
                </a:solidFill>
                <a:latin typeface="Noto Sans SC"/>
                <a:ea typeface="Noto Sans SC"/>
                <a:cs typeface="Noto Sans SC"/>
                <a:sym typeface="Noto Sans SC"/>
              </a:rPr>
              <a:t>主动健康管理服务</a:t>
            </a:r>
            <a:endParaRPr lang="en-US" sz="1100"/>
          </a:p>
        </p:txBody>
      </p:sp>
      <p:sp>
        <p:nvSpPr>
          <p:cNvPr id="24" name="AutoShape 24"/>
          <p:cNvSpPr/>
          <p:nvPr/>
        </p:nvSpPr>
        <p:spPr>
          <a:xfrm>
            <a:off x="5829300" y="6477000"/>
            <a:ext cx="2667000" cy="1143000"/>
          </a:xfrm>
          <a:prstGeom prst="rect">
            <a:avLst/>
          </a:prstGeom>
          <a:noFill/>
          <a:ln w="19050" cap="flat" cmpd="sng">
            <a:noFill/>
            <a:prstDash val="solid"/>
            <a:round/>
          </a:ln>
        </p:spPr>
        <p:txBody>
          <a:bodyPr vert="horz" wrap="square" lIns="0" tIns="0" rIns="0" bIns="0" rtlCol="0" anchor="t" anchorCtr="0"/>
          <a:lstStyle/>
          <a:p>
            <a:pPr indent="0" algn="just">
              <a:lnSpc>
                <a:spcPct val="108333"/>
              </a:lnSpc>
              <a:defRPr/>
            </a:pPr>
            <a:r>
              <a:rPr lang="en-US" sz="1200" b="0" i="0" u="none" strike="noStrike">
                <a:solidFill>
                  <a:srgbClr val="595959"/>
                </a:solidFill>
                <a:latin typeface="Noto Sans SC"/>
                <a:ea typeface="Noto Sans SC"/>
                <a:cs typeface="Noto Sans SC"/>
                <a:sym typeface="Noto Sans SC"/>
              </a:rPr>
              <a:t>整合外接健康设备，主动监测健康数据，异常时提醒并通知家人，提供紧急求助功能。</a:t>
            </a:r>
            <a:endParaRPr lang="en-US" sz="1100"/>
          </a:p>
        </p:txBody>
      </p:sp>
      <p:cxnSp>
        <p:nvCxnSpPr>
          <p:cNvPr id="25" name="Connector 25"/>
          <p:cNvCxnSpPr/>
          <p:nvPr/>
        </p:nvCxnSpPr>
        <p:spPr>
          <a:xfrm rot="-29635">
            <a:off x="6007127" y="7740650"/>
            <a:ext cx="1473200" cy="12700"/>
          </a:xfrm>
          <a:prstGeom prst="line">
            <a:avLst/>
          </a:prstGeom>
          <a:solidFill>
            <a:srgbClr val="DEE0E3">
              <a:alpha val="100000"/>
            </a:srgbClr>
          </a:solidFill>
          <a:ln w="12700" cap="flat" cmpd="sng">
            <a:solidFill>
              <a:srgbClr val="FF7A83">
                <a:alpha val="100000"/>
              </a:srgbClr>
            </a:solidFill>
            <a:prstDash val="solid"/>
            <a:round/>
            <a:headEnd type="none" w="med" len="med"/>
            <a:tailEnd type="none" w="med" len="med"/>
          </a:ln>
        </p:spPr>
      </p:cxnSp>
      <p:sp>
        <p:nvSpPr>
          <p:cNvPr id="26" name="AutoShape 26"/>
          <p:cNvSpPr/>
          <p:nvPr/>
        </p:nvSpPr>
        <p:spPr>
          <a:xfrm>
            <a:off x="7708900" y="7556500"/>
            <a:ext cx="698500" cy="482600"/>
          </a:xfrm>
          <a:prstGeom prst="rect">
            <a:avLst/>
          </a:prstGeom>
          <a:noFill/>
          <a:ln w="1905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indent="0" algn="ctr">
              <a:lnSpc>
                <a:spcPct val="125000"/>
              </a:lnSpc>
              <a:defRPr/>
            </a:pPr>
            <a:r>
              <a:rPr lang="en-US" sz="2800" b="1" i="0" u="none" strike="noStrike">
                <a:solidFill>
                  <a:srgbClr val="FF7A83"/>
                </a:solidFill>
                <a:latin typeface="Noto Sans SC"/>
                <a:ea typeface="Noto Sans SC"/>
                <a:cs typeface="Noto Sans SC"/>
                <a:sym typeface="Noto Sans SC"/>
              </a:rPr>
              <a:t>02</a:t>
            </a:r>
            <a:endParaRPr lang="en-US" sz="1100"/>
          </a:p>
        </p:txBody>
      </p:sp>
      <p:pic>
        <p:nvPicPr>
          <p:cNvPr id="27" name="Picture 27"/>
          <p:cNvPicPr>
            <a:picLocks noChangeAspect="1"/>
          </p:cNvPicPr>
          <p:nvPr/>
        </p:nvPicPr>
        <p:blipFill>
          <a:blip r:embed="rId8"/>
          <a:srcRect t="1000" b="1000"/>
          <a:stretch>
            <a:fillRect/>
          </a:stretch>
        </p:blipFill>
        <p:spPr>
          <a:xfrm>
            <a:off x="9550400" y="5549900"/>
            <a:ext cx="3175000" cy="889000"/>
          </a:xfrm>
          <a:prstGeom prst="rect">
            <a:avLst/>
          </a:prstGeom>
          <a:noFill/>
          <a:ln w="25400" cap="flat" cmpd="sng">
            <a:noFill/>
            <a:prstDash val="solid"/>
            <a:round/>
          </a:ln>
        </p:spPr>
      </p:pic>
      <p:sp>
        <p:nvSpPr>
          <p:cNvPr id="28" name="AutoShape 28"/>
          <p:cNvSpPr/>
          <p:nvPr/>
        </p:nvSpPr>
        <p:spPr>
          <a:xfrm>
            <a:off x="9740900" y="5740400"/>
            <a:ext cx="2794000" cy="508000"/>
          </a:xfrm>
          <a:prstGeom prst="rect">
            <a:avLst/>
          </a:prstGeom>
          <a:noFill/>
          <a:ln w="1905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indent="0" algn="ctr">
              <a:lnSpc>
                <a:spcPct val="125000"/>
              </a:lnSpc>
              <a:defRPr/>
            </a:pPr>
            <a:r>
              <a:rPr lang="en-US" sz="2200" b="0" i="0" u="none" strike="noStrike">
                <a:solidFill>
                  <a:srgbClr val="FFFFFF"/>
                </a:solidFill>
                <a:latin typeface="Noto Sans SC"/>
                <a:ea typeface="Noto Sans SC"/>
                <a:cs typeface="Noto Sans SC"/>
                <a:sym typeface="Noto Sans SC"/>
              </a:rPr>
              <a:t>无缝家居控制服务</a:t>
            </a:r>
            <a:endParaRPr lang="en-US" sz="1100"/>
          </a:p>
        </p:txBody>
      </p:sp>
      <p:sp>
        <p:nvSpPr>
          <p:cNvPr id="29" name="AutoShape 29"/>
          <p:cNvSpPr/>
          <p:nvPr/>
        </p:nvSpPr>
        <p:spPr>
          <a:xfrm>
            <a:off x="9804400" y="6477000"/>
            <a:ext cx="2667000" cy="1143000"/>
          </a:xfrm>
          <a:prstGeom prst="rect">
            <a:avLst/>
          </a:prstGeom>
          <a:noFill/>
          <a:ln w="19050" cap="flat" cmpd="sng">
            <a:noFill/>
            <a:prstDash val="solid"/>
            <a:round/>
          </a:ln>
        </p:spPr>
        <p:txBody>
          <a:bodyPr vert="horz" wrap="square" lIns="0" tIns="0" rIns="0" bIns="0" rtlCol="0" anchor="t" anchorCtr="0"/>
          <a:lstStyle/>
          <a:p>
            <a:pPr indent="0" algn="just">
              <a:lnSpc>
                <a:spcPct val="108333"/>
              </a:lnSpc>
              <a:defRPr/>
            </a:pPr>
            <a:r>
              <a:rPr lang="en-US" sz="1200" b="0" i="0" u="none" strike="noStrike">
                <a:solidFill>
                  <a:srgbClr val="595959"/>
                </a:solidFill>
                <a:latin typeface="Noto Sans SC"/>
                <a:ea typeface="Noto Sans SC"/>
                <a:cs typeface="Noto Sans SC"/>
                <a:sym typeface="Noto Sans SC"/>
              </a:rPr>
              <a:t>支持多协议，通过AI Agent实现主动控制，如“天黑开灯”、“离家关电器”，核心功能离线可用。</a:t>
            </a:r>
            <a:endParaRPr lang="en-US" sz="1100"/>
          </a:p>
        </p:txBody>
      </p:sp>
      <p:cxnSp>
        <p:nvCxnSpPr>
          <p:cNvPr id="30" name="Connector 30"/>
          <p:cNvCxnSpPr/>
          <p:nvPr/>
        </p:nvCxnSpPr>
        <p:spPr>
          <a:xfrm rot="-29381">
            <a:off x="9982227" y="7740650"/>
            <a:ext cx="1485900" cy="12700"/>
          </a:xfrm>
          <a:prstGeom prst="line">
            <a:avLst/>
          </a:prstGeom>
          <a:solidFill>
            <a:srgbClr val="DEE0E3">
              <a:alpha val="100000"/>
            </a:srgbClr>
          </a:solidFill>
          <a:ln w="12700" cap="flat" cmpd="sng">
            <a:solidFill>
              <a:srgbClr val="FF7A83">
                <a:alpha val="100000"/>
              </a:srgbClr>
            </a:solidFill>
            <a:prstDash val="solid"/>
            <a:round/>
            <a:headEnd type="none" w="med" len="med"/>
            <a:tailEnd type="none" w="med" len="med"/>
          </a:ln>
        </p:spPr>
      </p:cxnSp>
      <p:sp>
        <p:nvSpPr>
          <p:cNvPr id="31" name="AutoShape 31"/>
          <p:cNvSpPr/>
          <p:nvPr/>
        </p:nvSpPr>
        <p:spPr>
          <a:xfrm>
            <a:off x="11684000" y="7556500"/>
            <a:ext cx="698500" cy="482600"/>
          </a:xfrm>
          <a:prstGeom prst="rect">
            <a:avLst/>
          </a:prstGeom>
          <a:noFill/>
          <a:ln w="1905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indent="0" algn="ctr">
              <a:lnSpc>
                <a:spcPct val="125000"/>
              </a:lnSpc>
              <a:defRPr/>
            </a:pPr>
            <a:r>
              <a:rPr lang="en-US" sz="2800" b="1" i="0" u="none" strike="noStrike">
                <a:solidFill>
                  <a:srgbClr val="FF7A83"/>
                </a:solidFill>
                <a:latin typeface="Noto Sans SC"/>
                <a:ea typeface="Noto Sans SC"/>
                <a:cs typeface="Noto Sans SC"/>
                <a:sym typeface="Noto Sans SC"/>
              </a:rPr>
              <a:t>03</a:t>
            </a:r>
            <a:endParaRPr lang="en-US" sz="1100"/>
          </a:p>
        </p:txBody>
      </p:sp>
      <p:pic>
        <p:nvPicPr>
          <p:cNvPr id="32" name="Picture 32"/>
          <p:cNvPicPr>
            <a:picLocks noChangeAspect="1"/>
          </p:cNvPicPr>
          <p:nvPr/>
        </p:nvPicPr>
        <p:blipFill>
          <a:blip r:embed="rId8"/>
          <a:srcRect t="1000" b="1000"/>
          <a:stretch>
            <a:fillRect/>
          </a:stretch>
        </p:blipFill>
        <p:spPr>
          <a:xfrm>
            <a:off x="13525500" y="5549900"/>
            <a:ext cx="3175000" cy="889000"/>
          </a:xfrm>
          <a:prstGeom prst="rect">
            <a:avLst/>
          </a:prstGeom>
          <a:noFill/>
          <a:ln w="25400" cap="flat" cmpd="sng">
            <a:noFill/>
            <a:prstDash val="solid"/>
            <a:round/>
          </a:ln>
        </p:spPr>
      </p:pic>
      <p:sp>
        <p:nvSpPr>
          <p:cNvPr id="33" name="AutoShape 33"/>
          <p:cNvSpPr/>
          <p:nvPr/>
        </p:nvSpPr>
        <p:spPr>
          <a:xfrm>
            <a:off x="13716000" y="5740400"/>
            <a:ext cx="2794000" cy="508000"/>
          </a:xfrm>
          <a:prstGeom prst="rect">
            <a:avLst/>
          </a:prstGeom>
          <a:noFill/>
          <a:ln w="1905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indent="0" algn="ctr">
              <a:lnSpc>
                <a:spcPct val="125000"/>
              </a:lnSpc>
              <a:defRPr/>
            </a:pPr>
            <a:r>
              <a:rPr lang="en-US" sz="2200" b="0" i="0" u="none" strike="noStrike">
                <a:solidFill>
                  <a:srgbClr val="FFFFFF"/>
                </a:solidFill>
                <a:latin typeface="Noto Sans SC"/>
                <a:ea typeface="Noto Sans SC"/>
                <a:cs typeface="Noto Sans SC"/>
                <a:sym typeface="Noto Sans SC"/>
              </a:rPr>
              <a:t>情感感知与主动对话</a:t>
            </a:r>
            <a:endParaRPr lang="en-US" sz="1100"/>
          </a:p>
        </p:txBody>
      </p:sp>
      <p:sp>
        <p:nvSpPr>
          <p:cNvPr id="34" name="AutoShape 34"/>
          <p:cNvSpPr/>
          <p:nvPr/>
        </p:nvSpPr>
        <p:spPr>
          <a:xfrm>
            <a:off x="13779500" y="6477000"/>
            <a:ext cx="2667000" cy="1143000"/>
          </a:xfrm>
          <a:prstGeom prst="rect">
            <a:avLst/>
          </a:prstGeom>
          <a:noFill/>
          <a:ln w="19050" cap="flat" cmpd="sng">
            <a:noFill/>
            <a:prstDash val="solid"/>
            <a:round/>
          </a:ln>
        </p:spPr>
        <p:txBody>
          <a:bodyPr vert="horz" wrap="square" lIns="0" tIns="0" rIns="0" bIns="0" rtlCol="0" anchor="t" anchorCtr="0"/>
          <a:lstStyle/>
          <a:p>
            <a:pPr indent="0" algn="just">
              <a:lnSpc>
                <a:spcPct val="108333"/>
              </a:lnSpc>
              <a:defRPr/>
            </a:pPr>
            <a:r>
              <a:rPr lang="en-US" sz="1200" b="0" i="0" u="none" strike="noStrike">
                <a:solidFill>
                  <a:srgbClr val="595959"/>
                </a:solidFill>
                <a:latin typeface="Noto Sans SC"/>
                <a:ea typeface="Noto Sans SC"/>
                <a:cs typeface="Noto Sans SC"/>
                <a:sym typeface="Noto Sans SC"/>
              </a:rPr>
              <a:t>融合多模态数据，精准识别用户情绪，主动发起关怀对话，提供有温度的智能陪伴体验。</a:t>
            </a:r>
            <a:endParaRPr lang="en-US" sz="1100"/>
          </a:p>
        </p:txBody>
      </p:sp>
      <p:cxnSp>
        <p:nvCxnSpPr>
          <p:cNvPr id="35" name="Connector 35"/>
          <p:cNvCxnSpPr/>
          <p:nvPr/>
        </p:nvCxnSpPr>
        <p:spPr>
          <a:xfrm rot="-29635">
            <a:off x="13970027" y="7740650"/>
            <a:ext cx="1473200" cy="12700"/>
          </a:xfrm>
          <a:prstGeom prst="line">
            <a:avLst/>
          </a:prstGeom>
          <a:solidFill>
            <a:srgbClr val="DEE0E3">
              <a:alpha val="100000"/>
            </a:srgbClr>
          </a:solidFill>
          <a:ln w="12700" cap="flat" cmpd="sng">
            <a:solidFill>
              <a:srgbClr val="FF7A83">
                <a:alpha val="100000"/>
              </a:srgbClr>
            </a:solidFill>
            <a:prstDash val="solid"/>
            <a:round/>
            <a:headEnd type="none" w="med" len="med"/>
            <a:tailEnd type="none" w="med" len="med"/>
          </a:ln>
        </p:spPr>
      </p:cxnSp>
      <p:sp>
        <p:nvSpPr>
          <p:cNvPr id="36" name="AutoShape 36"/>
          <p:cNvSpPr/>
          <p:nvPr/>
        </p:nvSpPr>
        <p:spPr>
          <a:xfrm>
            <a:off x="15659100" y="7556500"/>
            <a:ext cx="698500" cy="482600"/>
          </a:xfrm>
          <a:prstGeom prst="rect">
            <a:avLst/>
          </a:prstGeom>
          <a:noFill/>
          <a:ln w="1905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indent="0" algn="ctr">
              <a:lnSpc>
                <a:spcPct val="125000"/>
              </a:lnSpc>
              <a:defRPr/>
            </a:pPr>
            <a:r>
              <a:rPr lang="en-US" sz="2800" b="1" i="0" u="none" strike="noStrike">
                <a:solidFill>
                  <a:srgbClr val="FF7A83"/>
                </a:solidFill>
                <a:latin typeface="Noto Sans SC"/>
                <a:ea typeface="Noto Sans SC"/>
                <a:cs typeface="Noto Sans SC"/>
                <a:sym typeface="Noto Sans SC"/>
              </a:rPr>
              <a:t>04</a:t>
            </a:r>
            <a:endParaRPr lang="en-US" sz="110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>
            <a:alpha val="100000"/>
          </a:srgb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AutoShape 2"/>
          <p:cNvSpPr/>
          <p:nvPr/>
        </p:nvSpPr>
        <p:spPr>
          <a:xfrm>
            <a:off x="622300" y="571500"/>
            <a:ext cx="7404100" cy="635000"/>
          </a:xfrm>
          <a:prstGeom prst="rect">
            <a:avLst/>
          </a:prstGeom>
          <a:noFill/>
          <a:ln w="19050" cap="flat" cmpd="sng">
            <a:noFill/>
            <a:prstDash val="solid"/>
            <a:round/>
          </a:ln>
        </p:spPr>
        <p:txBody>
          <a:bodyPr vert="horz" wrap="square" lIns="0" tIns="0" rIns="0" bIns="0" rtlCol="0" anchor="t" anchorCtr="0"/>
          <a:lstStyle/>
          <a:p>
            <a:pPr indent="0" algn="l">
              <a:lnSpc>
                <a:spcPts val="5040"/>
              </a:lnSpc>
              <a:defRPr/>
            </a:pPr>
            <a:r>
              <a:rPr lang="en-US" sz="4200" b="0" i="0" u="none" strike="noStrike">
                <a:solidFill>
                  <a:srgbClr val="FFB458"/>
                </a:solidFill>
                <a:latin typeface="Noto Sans SC"/>
                <a:ea typeface="Noto Sans SC"/>
                <a:cs typeface="Noto Sans SC"/>
                <a:sym typeface="Noto Sans SC"/>
              </a:rPr>
              <a:t>技术架构与优势</a:t>
            </a:r>
            <a:endParaRPr lang="en-US" sz="1100"/>
          </a:p>
        </p:txBody>
      </p:sp>
      <p:cxnSp>
        <p:nvCxnSpPr>
          <p:cNvPr id="3" name="Connector 3"/>
          <p:cNvCxnSpPr/>
          <p:nvPr/>
        </p:nvCxnSpPr>
        <p:spPr>
          <a:xfrm>
            <a:off x="4406900" y="889000"/>
            <a:ext cx="11861807" cy="12700"/>
          </a:xfrm>
          <a:prstGeom prst="line">
            <a:avLst/>
          </a:prstGeom>
          <a:solidFill>
            <a:srgbClr val="DEE0E3">
              <a:alpha val="100000"/>
            </a:srgbClr>
          </a:solidFill>
          <a:ln w="12700" cap="rnd" cmpd="sng">
            <a:solidFill>
              <a:srgbClr val="F89469">
                <a:alpha val="100000"/>
              </a:srgbClr>
            </a:solidFill>
            <a:prstDash val="solid"/>
            <a:miter lim="10000000"/>
            <a:headEnd type="none" w="med" len="med"/>
            <a:tailEnd type="none" w="med" len="med"/>
          </a:ln>
        </p:spPr>
      </p:cxnSp>
      <p:sp>
        <p:nvSpPr>
          <p:cNvPr id="4" name="AutoShape 4"/>
          <p:cNvSpPr/>
          <p:nvPr/>
        </p:nvSpPr>
        <p:spPr>
          <a:xfrm>
            <a:off x="16446500" y="546100"/>
            <a:ext cx="1104900" cy="736600"/>
          </a:xfrm>
          <a:prstGeom prst="rect">
            <a:avLst/>
          </a:prstGeom>
          <a:noFill/>
          <a:ln w="19050" cap="flat" cmpd="sng">
            <a:noFill/>
            <a:prstDash val="solid"/>
            <a:round/>
          </a:ln>
        </p:spPr>
        <p:txBody>
          <a:bodyPr vert="horz" wrap="square" lIns="0" tIns="0" rIns="0" bIns="0" rtlCol="0" anchor="t" anchorCtr="0"/>
          <a:lstStyle/>
          <a:p>
            <a:pPr indent="0" algn="ctr">
              <a:lnSpc>
                <a:spcPts val="5400"/>
              </a:lnSpc>
              <a:defRPr/>
            </a:pPr>
            <a:r>
              <a:rPr lang="en-US" sz="4500" b="0" i="0" u="none" strike="noStrike">
                <a:solidFill>
                  <a:srgbClr val="FFB364"/>
                </a:solidFill>
                <a:latin typeface="Montserrat"/>
                <a:ea typeface="Montserrat"/>
                <a:cs typeface="Montserrat"/>
                <a:sym typeface="Montserrat"/>
              </a:rPr>
              <a:t>01</a:t>
            </a:r>
            <a:endParaRPr lang="en-US" sz="1100"/>
          </a:p>
        </p:txBody>
      </p:sp>
      <p:sp>
        <p:nvSpPr>
          <p:cNvPr id="5" name="Freeform 5"/>
          <p:cNvSpPr/>
          <p:nvPr/>
        </p:nvSpPr>
        <p:spPr>
          <a:xfrm>
            <a:off x="4762500" y="2120900"/>
            <a:ext cx="3778472" cy="3778567"/>
          </a:xfrm>
          <a:custGeom>
            <a:avLst/>
            <a:gdLst/>
            <a:ahLst/>
            <a:cxnLst/>
            <a:rect l="l" t="t" r="r" b="b"/>
            <a:pathLst>
              <a:path w="3778472" h="3778567">
                <a:moveTo>
                  <a:pt x="0" y="1889284"/>
                </a:moveTo>
                <a:cubicBezTo>
                  <a:pt x="0" y="845820"/>
                  <a:pt x="845820" y="0"/>
                  <a:pt x="1889284" y="0"/>
                </a:cubicBezTo>
                <a:cubicBezTo>
                  <a:pt x="2932747" y="0"/>
                  <a:pt x="3778472" y="845820"/>
                  <a:pt x="3778472" y="1889284"/>
                </a:cubicBezTo>
                <a:cubicBezTo>
                  <a:pt x="3778472" y="2932748"/>
                  <a:pt x="2932652" y="3778568"/>
                  <a:pt x="1889188" y="3778568"/>
                </a:cubicBezTo>
                <a:cubicBezTo>
                  <a:pt x="845725" y="3778568"/>
                  <a:pt x="0" y="2932652"/>
                  <a:pt x="0" y="1889284"/>
                </a:cubicBezTo>
                <a:close/>
              </a:path>
            </a:pathLst>
          </a:custGeom>
          <a:solidFill>
            <a:srgbClr val="FFE7E7">
              <a:alpha val="100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  <a:endParaRPr/>
          </a:p>
        </p:txBody>
      </p:sp>
      <p:sp>
        <p:nvSpPr>
          <p:cNvPr id="6" name="Freeform 6"/>
          <p:cNvSpPr/>
          <p:nvPr/>
        </p:nvSpPr>
        <p:spPr>
          <a:xfrm>
            <a:off x="4762500" y="2120900"/>
            <a:ext cx="3797617" cy="3797617"/>
          </a:xfrm>
          <a:custGeom>
            <a:avLst/>
            <a:gdLst/>
            <a:ahLst/>
            <a:cxnLst/>
            <a:rect l="l" t="t" r="r" b="b"/>
            <a:pathLst>
              <a:path w="3797617" h="3797617">
                <a:moveTo>
                  <a:pt x="0" y="1898809"/>
                </a:moveTo>
                <a:cubicBezTo>
                  <a:pt x="0" y="850106"/>
                  <a:pt x="850106" y="0"/>
                  <a:pt x="1898809" y="0"/>
                </a:cubicBezTo>
                <a:lnTo>
                  <a:pt x="1898809" y="9525"/>
                </a:lnTo>
                <a:lnTo>
                  <a:pt x="1898809" y="0"/>
                </a:lnTo>
                <a:cubicBezTo>
                  <a:pt x="2947511" y="0"/>
                  <a:pt x="3797618" y="850106"/>
                  <a:pt x="3797618" y="1898809"/>
                </a:cubicBezTo>
                <a:lnTo>
                  <a:pt x="3788092" y="1898809"/>
                </a:lnTo>
                <a:lnTo>
                  <a:pt x="3797618" y="1898809"/>
                </a:lnTo>
                <a:cubicBezTo>
                  <a:pt x="3797618" y="2947511"/>
                  <a:pt x="2947511" y="3797618"/>
                  <a:pt x="1898809" y="3797618"/>
                </a:cubicBezTo>
                <a:lnTo>
                  <a:pt x="1898809" y="3788092"/>
                </a:lnTo>
                <a:lnTo>
                  <a:pt x="1898809" y="3797618"/>
                </a:lnTo>
                <a:cubicBezTo>
                  <a:pt x="850106" y="3797522"/>
                  <a:pt x="0" y="2947416"/>
                  <a:pt x="0" y="1898809"/>
                </a:cubicBezTo>
                <a:lnTo>
                  <a:pt x="9525" y="1898809"/>
                </a:lnTo>
                <a:lnTo>
                  <a:pt x="19050" y="1898809"/>
                </a:lnTo>
                <a:lnTo>
                  <a:pt x="9525" y="1898809"/>
                </a:lnTo>
                <a:lnTo>
                  <a:pt x="0" y="1898809"/>
                </a:lnTo>
                <a:moveTo>
                  <a:pt x="19050" y="1898809"/>
                </a:moveTo>
                <a:cubicBezTo>
                  <a:pt x="19050" y="1904048"/>
                  <a:pt x="14764" y="1908334"/>
                  <a:pt x="9525" y="1908334"/>
                </a:cubicBezTo>
                <a:cubicBezTo>
                  <a:pt x="4286" y="1908334"/>
                  <a:pt x="0" y="1904048"/>
                  <a:pt x="0" y="1898809"/>
                </a:cubicBezTo>
                <a:cubicBezTo>
                  <a:pt x="0" y="1893570"/>
                  <a:pt x="4286" y="1889284"/>
                  <a:pt x="9525" y="1889284"/>
                </a:cubicBezTo>
                <a:cubicBezTo>
                  <a:pt x="14764" y="1889284"/>
                  <a:pt x="19050" y="1893570"/>
                  <a:pt x="19050" y="1898809"/>
                </a:cubicBezTo>
                <a:cubicBezTo>
                  <a:pt x="19050" y="2936938"/>
                  <a:pt x="860679" y="3778472"/>
                  <a:pt x="1898809" y="3778472"/>
                </a:cubicBezTo>
                <a:cubicBezTo>
                  <a:pt x="2936938" y="3778472"/>
                  <a:pt x="3778568" y="2936843"/>
                  <a:pt x="3778568" y="1898714"/>
                </a:cubicBezTo>
                <a:cubicBezTo>
                  <a:pt x="3778568" y="860584"/>
                  <a:pt x="2936938" y="19050"/>
                  <a:pt x="1898809" y="19050"/>
                </a:cubicBezTo>
                <a:lnTo>
                  <a:pt x="1898809" y="9525"/>
                </a:lnTo>
                <a:lnTo>
                  <a:pt x="1898809" y="19050"/>
                </a:lnTo>
                <a:cubicBezTo>
                  <a:pt x="860679" y="19050"/>
                  <a:pt x="19050" y="860679"/>
                  <a:pt x="19050" y="1898809"/>
                </a:cubicBezTo>
                <a:close/>
              </a:path>
            </a:pathLst>
          </a:custGeom>
          <a:solidFill>
            <a:srgbClr val="FCD4C3">
              <a:alpha val="100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  <a:endParaRPr/>
          </a:p>
        </p:txBody>
      </p:sp>
      <p:sp>
        <p:nvSpPr>
          <p:cNvPr id="7" name="AutoShape 7"/>
          <p:cNvSpPr/>
          <p:nvPr/>
        </p:nvSpPr>
        <p:spPr>
          <a:xfrm>
            <a:off x="5067300" y="3429000"/>
            <a:ext cx="3175000" cy="1016000"/>
          </a:xfrm>
          <a:prstGeom prst="rect">
            <a:avLst/>
          </a:prstGeom>
          <a:noFill/>
          <a:ln w="1905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indent="0" algn="ctr">
              <a:lnSpc>
                <a:spcPct val="100000"/>
              </a:lnSpc>
              <a:defRPr/>
            </a:pPr>
            <a:r>
              <a:rPr lang="en-US" sz="2400" b="0" i="0" u="none" strike="noStrike">
                <a:solidFill>
                  <a:schemeClr val="accent2"/>
                </a:solidFill>
                <a:latin typeface="Noto Sans SC"/>
                <a:ea typeface="Noto Sans SC"/>
                <a:cs typeface="Noto Sans SC"/>
                <a:sym typeface="Noto Sans SC"/>
              </a:rPr>
              <a:t>极轻量级</a:t>
            </a:r>
            <a:br>
              <a:rPr lang="en-US" sz="2400" b="0" i="0" u="none" strike="noStrike">
                <a:solidFill>
                  <a:schemeClr val="accent2"/>
                </a:solidFill>
                <a:latin typeface="Noto Sans SC"/>
                <a:ea typeface="Noto Sans SC"/>
                <a:cs typeface="Noto Sans SC"/>
                <a:sym typeface="Noto Sans SC"/>
              </a:rPr>
            </a:br>
            <a:r>
              <a:rPr lang="en-US" sz="2400" b="0" i="0" u="none" strike="noStrike">
                <a:solidFill>
                  <a:schemeClr val="accent2"/>
                </a:solidFill>
                <a:latin typeface="Noto Sans SC"/>
                <a:ea typeface="Noto Sans SC"/>
                <a:cs typeface="Noto Sans SC"/>
                <a:sym typeface="Noto Sans SC"/>
              </a:rPr>
              <a:t>大模型部署</a:t>
            </a:r>
            <a:endParaRPr lang="en-US" sz="1100">
              <a:solidFill>
                <a:schemeClr val="accent2"/>
              </a:solidFill>
            </a:endParaRPr>
          </a:p>
        </p:txBody>
      </p:sp>
      <p:sp>
        <p:nvSpPr>
          <p:cNvPr id="8" name="Freeform 8"/>
          <p:cNvSpPr/>
          <p:nvPr/>
        </p:nvSpPr>
        <p:spPr>
          <a:xfrm>
            <a:off x="1651000" y="5461000"/>
            <a:ext cx="3156394" cy="3156394"/>
          </a:xfrm>
          <a:custGeom>
            <a:avLst/>
            <a:gdLst/>
            <a:ahLst/>
            <a:cxnLst/>
            <a:rect l="l" t="t" r="r" b="b"/>
            <a:pathLst>
              <a:path w="3156394" h="3156394">
                <a:moveTo>
                  <a:pt x="0" y="1578197"/>
                </a:moveTo>
                <a:cubicBezTo>
                  <a:pt x="0" y="706564"/>
                  <a:pt x="706564" y="0"/>
                  <a:pt x="1578197" y="0"/>
                </a:cubicBezTo>
                <a:cubicBezTo>
                  <a:pt x="2449830" y="0"/>
                  <a:pt x="3156394" y="706564"/>
                  <a:pt x="3156394" y="1578197"/>
                </a:cubicBezTo>
                <a:cubicBezTo>
                  <a:pt x="3156394" y="2449830"/>
                  <a:pt x="2449830" y="3156394"/>
                  <a:pt x="1578197" y="3156394"/>
                </a:cubicBezTo>
                <a:cubicBezTo>
                  <a:pt x="706564" y="3156394"/>
                  <a:pt x="0" y="2449830"/>
                  <a:pt x="0" y="1578197"/>
                </a:cubicBezTo>
                <a:close/>
              </a:path>
            </a:pathLst>
          </a:custGeom>
          <a:solidFill>
            <a:srgbClr val="FFE7E7">
              <a:alpha val="100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  <a:endParaRPr/>
          </a:p>
        </p:txBody>
      </p:sp>
      <p:sp>
        <p:nvSpPr>
          <p:cNvPr id="9" name="Freeform 9"/>
          <p:cNvSpPr/>
          <p:nvPr/>
        </p:nvSpPr>
        <p:spPr>
          <a:xfrm>
            <a:off x="1638300" y="5448300"/>
            <a:ext cx="3175444" cy="3175444"/>
          </a:xfrm>
          <a:custGeom>
            <a:avLst/>
            <a:gdLst/>
            <a:ahLst/>
            <a:cxnLst/>
            <a:rect l="l" t="t" r="r" b="b"/>
            <a:pathLst>
              <a:path w="3175444" h="3175444">
                <a:moveTo>
                  <a:pt x="0" y="1587722"/>
                </a:moveTo>
                <a:cubicBezTo>
                  <a:pt x="0" y="710851"/>
                  <a:pt x="710851" y="0"/>
                  <a:pt x="1587722" y="0"/>
                </a:cubicBezTo>
                <a:lnTo>
                  <a:pt x="1587722" y="9525"/>
                </a:lnTo>
                <a:lnTo>
                  <a:pt x="1587722" y="0"/>
                </a:lnTo>
                <a:cubicBezTo>
                  <a:pt x="2464594" y="0"/>
                  <a:pt x="3175444" y="710851"/>
                  <a:pt x="3175444" y="1587722"/>
                </a:cubicBezTo>
                <a:lnTo>
                  <a:pt x="3165920" y="1587722"/>
                </a:lnTo>
                <a:lnTo>
                  <a:pt x="3175444" y="1587722"/>
                </a:lnTo>
                <a:cubicBezTo>
                  <a:pt x="3175444" y="2464594"/>
                  <a:pt x="2464594" y="3175444"/>
                  <a:pt x="1587722" y="3175444"/>
                </a:cubicBezTo>
                <a:lnTo>
                  <a:pt x="1587722" y="3165920"/>
                </a:lnTo>
                <a:lnTo>
                  <a:pt x="1587722" y="3175444"/>
                </a:lnTo>
                <a:cubicBezTo>
                  <a:pt x="710851" y="3175444"/>
                  <a:pt x="0" y="2464594"/>
                  <a:pt x="0" y="1587722"/>
                </a:cubicBezTo>
                <a:lnTo>
                  <a:pt x="9525" y="1587722"/>
                </a:lnTo>
                <a:lnTo>
                  <a:pt x="19050" y="1587722"/>
                </a:lnTo>
                <a:lnTo>
                  <a:pt x="9525" y="1587722"/>
                </a:lnTo>
                <a:lnTo>
                  <a:pt x="0" y="1587722"/>
                </a:lnTo>
                <a:moveTo>
                  <a:pt x="19050" y="1587722"/>
                </a:moveTo>
                <a:cubicBezTo>
                  <a:pt x="19050" y="1592961"/>
                  <a:pt x="14764" y="1597247"/>
                  <a:pt x="9525" y="1597247"/>
                </a:cubicBezTo>
                <a:cubicBezTo>
                  <a:pt x="4286" y="1597247"/>
                  <a:pt x="0" y="1592961"/>
                  <a:pt x="0" y="1587722"/>
                </a:cubicBezTo>
                <a:cubicBezTo>
                  <a:pt x="0" y="1582484"/>
                  <a:pt x="4286" y="1578197"/>
                  <a:pt x="9525" y="1578197"/>
                </a:cubicBezTo>
                <a:cubicBezTo>
                  <a:pt x="14764" y="1578197"/>
                  <a:pt x="19050" y="1582484"/>
                  <a:pt x="19050" y="1587722"/>
                </a:cubicBezTo>
                <a:cubicBezTo>
                  <a:pt x="19050" y="2454116"/>
                  <a:pt x="721424" y="3156394"/>
                  <a:pt x="1587722" y="3156394"/>
                </a:cubicBezTo>
                <a:cubicBezTo>
                  <a:pt x="2454021" y="3156394"/>
                  <a:pt x="3156394" y="2454021"/>
                  <a:pt x="3156394" y="1587722"/>
                </a:cubicBezTo>
                <a:cubicBezTo>
                  <a:pt x="3156394" y="721424"/>
                  <a:pt x="2454116" y="19050"/>
                  <a:pt x="1587722" y="19050"/>
                </a:cubicBezTo>
                <a:lnTo>
                  <a:pt x="1587722" y="9525"/>
                </a:lnTo>
                <a:lnTo>
                  <a:pt x="1587722" y="19050"/>
                </a:lnTo>
                <a:cubicBezTo>
                  <a:pt x="721424" y="19050"/>
                  <a:pt x="19050" y="721424"/>
                  <a:pt x="19050" y="1587722"/>
                </a:cubicBezTo>
                <a:close/>
              </a:path>
            </a:pathLst>
          </a:custGeom>
          <a:solidFill>
            <a:srgbClr val="FCD4C3">
              <a:alpha val="100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  <a:endParaRPr/>
          </a:p>
        </p:txBody>
      </p:sp>
      <p:sp>
        <p:nvSpPr>
          <p:cNvPr id="10" name="AutoShape 10"/>
          <p:cNvSpPr/>
          <p:nvPr/>
        </p:nvSpPr>
        <p:spPr>
          <a:xfrm>
            <a:off x="1892300" y="6540500"/>
            <a:ext cx="2667000" cy="1016000"/>
          </a:xfrm>
          <a:prstGeom prst="rect">
            <a:avLst/>
          </a:prstGeom>
          <a:noFill/>
          <a:ln w="1905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indent="0" algn="ctr">
              <a:lnSpc>
                <a:spcPct val="100000"/>
              </a:lnSpc>
              <a:defRPr/>
            </a:pPr>
            <a:r>
              <a:rPr lang="en-US" sz="2400" b="0" i="0" u="none" strike="noStrike" dirty="0">
                <a:solidFill>
                  <a:schemeClr val="accent2"/>
                </a:solidFill>
                <a:latin typeface="Noto Sans SC"/>
                <a:ea typeface="Noto Sans SC"/>
                <a:cs typeface="Noto Sans SC"/>
                <a:sym typeface="Noto Sans SC"/>
              </a:rPr>
              <a:t>AI Agent</a:t>
            </a:r>
            <a:br>
              <a:rPr lang="en-US" sz="2400" b="0" i="0" u="none" strike="noStrike" dirty="0">
                <a:solidFill>
                  <a:schemeClr val="accent2"/>
                </a:solidFill>
                <a:latin typeface="Noto Sans SC"/>
                <a:ea typeface="Noto Sans SC"/>
                <a:cs typeface="Noto Sans SC"/>
                <a:sym typeface="Noto Sans SC"/>
              </a:rPr>
            </a:br>
            <a:r>
              <a:rPr lang="en-US" sz="2400" b="0" i="0" u="none" strike="noStrike" dirty="0" err="1">
                <a:solidFill>
                  <a:schemeClr val="accent2"/>
                </a:solidFill>
                <a:latin typeface="Noto Sans SC"/>
                <a:ea typeface="Noto Sans SC"/>
                <a:cs typeface="Noto Sans SC"/>
                <a:sym typeface="Noto Sans SC"/>
              </a:rPr>
              <a:t>自主决策引擎</a:t>
            </a:r>
            <a:endParaRPr lang="en-US" sz="1100" dirty="0">
              <a:solidFill>
                <a:schemeClr val="accent2"/>
              </a:solidFill>
            </a:endParaRPr>
          </a:p>
        </p:txBody>
      </p:sp>
      <p:sp>
        <p:nvSpPr>
          <p:cNvPr id="11" name="Freeform 11"/>
          <p:cNvSpPr/>
          <p:nvPr/>
        </p:nvSpPr>
        <p:spPr>
          <a:xfrm>
            <a:off x="6985000" y="6362700"/>
            <a:ext cx="3156394" cy="3156394"/>
          </a:xfrm>
          <a:custGeom>
            <a:avLst/>
            <a:gdLst/>
            <a:ahLst/>
            <a:cxnLst/>
            <a:rect l="l" t="t" r="r" b="b"/>
            <a:pathLst>
              <a:path w="3156394" h="3156394">
                <a:moveTo>
                  <a:pt x="0" y="1578197"/>
                </a:moveTo>
                <a:cubicBezTo>
                  <a:pt x="0" y="706564"/>
                  <a:pt x="706564" y="0"/>
                  <a:pt x="1578197" y="0"/>
                </a:cubicBezTo>
                <a:cubicBezTo>
                  <a:pt x="2449830" y="0"/>
                  <a:pt x="3156394" y="706564"/>
                  <a:pt x="3156394" y="1578197"/>
                </a:cubicBezTo>
                <a:cubicBezTo>
                  <a:pt x="3156394" y="2449830"/>
                  <a:pt x="2449830" y="3156394"/>
                  <a:pt x="1578197" y="3156394"/>
                </a:cubicBezTo>
                <a:cubicBezTo>
                  <a:pt x="706564" y="3156394"/>
                  <a:pt x="0" y="2449830"/>
                  <a:pt x="0" y="1578197"/>
                </a:cubicBezTo>
                <a:close/>
              </a:path>
            </a:pathLst>
          </a:custGeom>
          <a:solidFill>
            <a:srgbClr val="FFE7E7">
              <a:alpha val="100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  <a:endParaRPr/>
          </a:p>
        </p:txBody>
      </p:sp>
      <p:sp>
        <p:nvSpPr>
          <p:cNvPr id="12" name="Freeform 12"/>
          <p:cNvSpPr/>
          <p:nvPr/>
        </p:nvSpPr>
        <p:spPr>
          <a:xfrm>
            <a:off x="6985000" y="6350000"/>
            <a:ext cx="3175444" cy="3175444"/>
          </a:xfrm>
          <a:custGeom>
            <a:avLst/>
            <a:gdLst/>
            <a:ahLst/>
            <a:cxnLst/>
            <a:rect l="l" t="t" r="r" b="b"/>
            <a:pathLst>
              <a:path w="3175444" h="3175444">
                <a:moveTo>
                  <a:pt x="0" y="1587722"/>
                </a:moveTo>
                <a:cubicBezTo>
                  <a:pt x="0" y="710851"/>
                  <a:pt x="710851" y="0"/>
                  <a:pt x="1587722" y="0"/>
                </a:cubicBezTo>
                <a:lnTo>
                  <a:pt x="1587722" y="9525"/>
                </a:lnTo>
                <a:lnTo>
                  <a:pt x="1587722" y="0"/>
                </a:lnTo>
                <a:cubicBezTo>
                  <a:pt x="2464594" y="0"/>
                  <a:pt x="3175444" y="710851"/>
                  <a:pt x="3175444" y="1587722"/>
                </a:cubicBezTo>
                <a:lnTo>
                  <a:pt x="3165920" y="1587722"/>
                </a:lnTo>
                <a:lnTo>
                  <a:pt x="3175444" y="1587722"/>
                </a:lnTo>
                <a:cubicBezTo>
                  <a:pt x="3175444" y="2464594"/>
                  <a:pt x="2464594" y="3175444"/>
                  <a:pt x="1587722" y="3175444"/>
                </a:cubicBezTo>
                <a:lnTo>
                  <a:pt x="1587722" y="3165920"/>
                </a:lnTo>
                <a:lnTo>
                  <a:pt x="1587722" y="3175444"/>
                </a:lnTo>
                <a:cubicBezTo>
                  <a:pt x="710851" y="3175444"/>
                  <a:pt x="0" y="2464594"/>
                  <a:pt x="0" y="1587722"/>
                </a:cubicBezTo>
                <a:lnTo>
                  <a:pt x="9525" y="1587722"/>
                </a:lnTo>
                <a:lnTo>
                  <a:pt x="19050" y="1587722"/>
                </a:lnTo>
                <a:lnTo>
                  <a:pt x="9525" y="1587722"/>
                </a:lnTo>
                <a:lnTo>
                  <a:pt x="0" y="1587722"/>
                </a:lnTo>
                <a:moveTo>
                  <a:pt x="19050" y="1587722"/>
                </a:moveTo>
                <a:cubicBezTo>
                  <a:pt x="19050" y="1592961"/>
                  <a:pt x="14764" y="1597247"/>
                  <a:pt x="9525" y="1597247"/>
                </a:cubicBezTo>
                <a:cubicBezTo>
                  <a:pt x="4286" y="1597247"/>
                  <a:pt x="0" y="1592961"/>
                  <a:pt x="0" y="1587722"/>
                </a:cubicBezTo>
                <a:cubicBezTo>
                  <a:pt x="0" y="1582484"/>
                  <a:pt x="4286" y="1578197"/>
                  <a:pt x="9525" y="1578197"/>
                </a:cubicBezTo>
                <a:cubicBezTo>
                  <a:pt x="14764" y="1578197"/>
                  <a:pt x="19050" y="1582484"/>
                  <a:pt x="19050" y="1587722"/>
                </a:cubicBezTo>
                <a:cubicBezTo>
                  <a:pt x="19050" y="2454116"/>
                  <a:pt x="721423" y="3156394"/>
                  <a:pt x="1587722" y="3156394"/>
                </a:cubicBezTo>
                <a:cubicBezTo>
                  <a:pt x="2454021" y="3156394"/>
                  <a:pt x="3156394" y="2454021"/>
                  <a:pt x="3156394" y="1587722"/>
                </a:cubicBezTo>
                <a:cubicBezTo>
                  <a:pt x="3156394" y="721423"/>
                  <a:pt x="2454116" y="19050"/>
                  <a:pt x="1587722" y="19050"/>
                </a:cubicBezTo>
                <a:lnTo>
                  <a:pt x="1587722" y="9525"/>
                </a:lnTo>
                <a:lnTo>
                  <a:pt x="1587722" y="19050"/>
                </a:lnTo>
                <a:cubicBezTo>
                  <a:pt x="721423" y="19050"/>
                  <a:pt x="19050" y="721423"/>
                  <a:pt x="19050" y="1587722"/>
                </a:cubicBezTo>
                <a:close/>
              </a:path>
            </a:pathLst>
          </a:custGeom>
          <a:solidFill>
            <a:srgbClr val="FCD4C3">
              <a:alpha val="100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  <a:endParaRPr/>
          </a:p>
        </p:txBody>
      </p:sp>
      <p:sp>
        <p:nvSpPr>
          <p:cNvPr id="13" name="AutoShape 13"/>
          <p:cNvSpPr/>
          <p:nvPr/>
        </p:nvSpPr>
        <p:spPr>
          <a:xfrm>
            <a:off x="7239000" y="7429500"/>
            <a:ext cx="2667000" cy="1016000"/>
          </a:xfrm>
          <a:prstGeom prst="rect">
            <a:avLst/>
          </a:prstGeom>
          <a:noFill/>
          <a:ln w="1905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indent="0" algn="ctr">
              <a:lnSpc>
                <a:spcPct val="100000"/>
              </a:lnSpc>
              <a:defRPr/>
            </a:pPr>
            <a:r>
              <a:rPr lang="en-US" sz="2400" b="0" i="0" u="none" strike="noStrike">
                <a:solidFill>
                  <a:schemeClr val="accent2"/>
                </a:solidFill>
                <a:latin typeface="Noto Sans SC"/>
                <a:ea typeface="Noto Sans SC"/>
                <a:cs typeface="Noto Sans SC"/>
                <a:sym typeface="Noto Sans SC"/>
              </a:rPr>
              <a:t>多模态</a:t>
            </a:r>
            <a:br>
              <a:rPr lang="en-US" sz="2400" b="0" i="0" u="none" strike="noStrike">
                <a:solidFill>
                  <a:schemeClr val="accent2"/>
                </a:solidFill>
                <a:latin typeface="Noto Sans SC"/>
                <a:ea typeface="Noto Sans SC"/>
                <a:cs typeface="Noto Sans SC"/>
                <a:sym typeface="Noto Sans SC"/>
              </a:rPr>
            </a:br>
            <a:r>
              <a:rPr lang="en-US" sz="2400" b="0" i="0" u="none" strike="noStrike">
                <a:solidFill>
                  <a:schemeClr val="accent2"/>
                </a:solidFill>
                <a:latin typeface="Noto Sans SC"/>
                <a:ea typeface="Noto Sans SC"/>
                <a:cs typeface="Noto Sans SC"/>
                <a:sym typeface="Noto Sans SC"/>
              </a:rPr>
              <a:t>数据融合感知</a:t>
            </a:r>
            <a:endParaRPr lang="en-US" sz="1100">
              <a:solidFill>
                <a:schemeClr val="accent2"/>
              </a:solidFill>
            </a:endParaRPr>
          </a:p>
        </p:txBody>
      </p:sp>
      <p:sp>
        <p:nvSpPr>
          <p:cNvPr id="14" name="AutoShape 14"/>
          <p:cNvSpPr/>
          <p:nvPr/>
        </p:nvSpPr>
        <p:spPr>
          <a:xfrm>
            <a:off x="11150600" y="2540000"/>
            <a:ext cx="3022600" cy="482600"/>
          </a:xfrm>
          <a:prstGeom prst="rect">
            <a:avLst/>
          </a:prstGeom>
          <a:noFill/>
          <a:ln w="19050" cap="flat" cmpd="sng">
            <a:noFill/>
            <a:prstDash val="solid"/>
            <a:round/>
          </a:ln>
        </p:spPr>
        <p:txBody>
          <a:bodyPr vert="horz" wrap="square" lIns="0" tIns="0" rIns="0" bIns="0" rtlCol="0" anchor="t" anchorCtr="0"/>
          <a:lstStyle/>
          <a:p>
            <a:pPr indent="0" algn="l">
              <a:lnSpc>
                <a:spcPts val="3960"/>
              </a:lnSpc>
              <a:defRPr/>
            </a:pPr>
            <a:r>
              <a:rPr lang="en-US" sz="3000" b="0" i="0" u="none" strike="noStrike">
                <a:solidFill>
                  <a:srgbClr val="FF7A83"/>
                </a:solidFill>
                <a:latin typeface="Noto Sans SC"/>
                <a:ea typeface="Noto Sans SC"/>
                <a:cs typeface="Noto Sans SC"/>
                <a:sym typeface="Noto Sans SC"/>
              </a:rPr>
              <a:t>技术壁垒</a:t>
            </a:r>
            <a:endParaRPr lang="en-US" sz="1100"/>
          </a:p>
        </p:txBody>
      </p:sp>
      <p:sp>
        <p:nvSpPr>
          <p:cNvPr id="15" name="AutoShape 15"/>
          <p:cNvSpPr/>
          <p:nvPr/>
        </p:nvSpPr>
        <p:spPr>
          <a:xfrm>
            <a:off x="11150600" y="3225800"/>
            <a:ext cx="5537200" cy="1143000"/>
          </a:xfrm>
          <a:prstGeom prst="rect">
            <a:avLst/>
          </a:prstGeom>
          <a:noFill/>
          <a:ln w="19050" cap="flat" cmpd="sng">
            <a:noFill/>
            <a:prstDash val="solid"/>
            <a:round/>
          </a:ln>
        </p:spPr>
        <p:txBody>
          <a:bodyPr vert="horz" wrap="square" lIns="0" tIns="0" rIns="0" bIns="0" rtlCol="0" anchor="t" anchorCtr="0"/>
          <a:lstStyle/>
          <a:p>
            <a:pPr indent="0" algn="l">
              <a:lnSpc>
                <a:spcPct val="108333"/>
              </a:lnSpc>
              <a:defRPr/>
            </a:pPr>
            <a:r>
              <a:rPr lang="en-US" sz="1200" b="0" i="0" u="none" strike="noStrike">
                <a:solidFill>
                  <a:srgbClr val="595959"/>
                </a:solidFill>
                <a:latin typeface="Noto Sans SC"/>
                <a:ea typeface="Noto Sans SC"/>
                <a:cs typeface="Noto Sans SC"/>
                <a:sym typeface="Noto Sans SC"/>
              </a:rPr>
              <a:t>• 极轻量级大模型本地部署，在有限硬件实现强大AI能力</a:t>
            </a:r>
            <a:br>
              <a:rPr lang="en-US" sz="1200" b="0" i="0" u="none" strike="noStrike">
                <a:solidFill>
                  <a:srgbClr val="595959"/>
                </a:solidFill>
                <a:latin typeface="Noto Sans SC"/>
                <a:ea typeface="Noto Sans SC"/>
                <a:cs typeface="Noto Sans SC"/>
                <a:sym typeface="Noto Sans SC"/>
              </a:rPr>
            </a:br>
            <a:r>
              <a:rPr lang="en-US" sz="1200" b="0" i="0" u="none" strike="noStrike">
                <a:solidFill>
                  <a:srgbClr val="595959"/>
                </a:solidFill>
                <a:latin typeface="Noto Sans SC"/>
                <a:ea typeface="Noto Sans SC"/>
                <a:cs typeface="Noto Sans SC"/>
                <a:sym typeface="Noto Sans SC"/>
              </a:rPr>
              <a:t>• AI Agent自主决策引擎，赋予产品“思考”与“行动”能力</a:t>
            </a:r>
            <a:br>
              <a:rPr lang="en-US" sz="1200" b="0" i="0" u="none" strike="noStrike">
                <a:solidFill>
                  <a:srgbClr val="595959"/>
                </a:solidFill>
                <a:latin typeface="Noto Sans SC"/>
                <a:ea typeface="Noto Sans SC"/>
                <a:cs typeface="Noto Sans SC"/>
                <a:sym typeface="Noto Sans SC"/>
              </a:rPr>
            </a:br>
            <a:r>
              <a:rPr lang="en-US" sz="1200" b="0" i="0" u="none" strike="noStrike">
                <a:solidFill>
                  <a:srgbClr val="595959"/>
                </a:solidFill>
                <a:latin typeface="Noto Sans SC"/>
                <a:ea typeface="Noto Sans SC"/>
                <a:cs typeface="Noto Sans SC"/>
                <a:sym typeface="Noto Sans SC"/>
              </a:rPr>
              <a:t>• 多模态数据融合感知，精准识别用户身份、状态与环境</a:t>
            </a:r>
            <a:endParaRPr lang="en-US" sz="1100"/>
          </a:p>
        </p:txBody>
      </p:sp>
      <p:cxnSp>
        <p:nvCxnSpPr>
          <p:cNvPr id="16" name="Connector 16"/>
          <p:cNvCxnSpPr/>
          <p:nvPr/>
        </p:nvCxnSpPr>
        <p:spPr>
          <a:xfrm rot="8069">
            <a:off x="11226778" y="4565650"/>
            <a:ext cx="5410260" cy="12700"/>
          </a:xfrm>
          <a:prstGeom prst="line">
            <a:avLst/>
          </a:prstGeom>
          <a:solidFill>
            <a:srgbClr val="DEE0E3">
              <a:alpha val="100000"/>
            </a:srgbClr>
          </a:solidFill>
          <a:ln w="12700" cap="rnd" cmpd="sng">
            <a:solidFill>
              <a:srgbClr val="FF7A83">
                <a:alpha val="100000"/>
              </a:srgbClr>
            </a:solidFill>
            <a:prstDash val="solid"/>
            <a:miter lim="10000000"/>
            <a:headEnd type="none" w="med" len="med"/>
            <a:tailEnd type="none" w="med" len="med"/>
          </a:ln>
        </p:spPr>
      </p:cxnSp>
      <p:sp>
        <p:nvSpPr>
          <p:cNvPr id="17" name="AutoShape 17"/>
          <p:cNvSpPr/>
          <p:nvPr/>
        </p:nvSpPr>
        <p:spPr>
          <a:xfrm>
            <a:off x="12192000" y="5384800"/>
            <a:ext cx="2324100" cy="596900"/>
          </a:xfrm>
          <a:prstGeom prst="rect">
            <a:avLst/>
          </a:prstGeom>
          <a:noFill/>
          <a:ln w="19050" cap="flat" cmpd="sng">
            <a:noFill/>
            <a:prstDash val="solid"/>
            <a:round/>
          </a:ln>
        </p:spPr>
        <p:txBody>
          <a:bodyPr vert="horz" wrap="square" lIns="0" tIns="0" rIns="0" bIns="0" rtlCol="0" anchor="t" anchorCtr="0"/>
          <a:lstStyle/>
          <a:p>
            <a:pPr indent="0" algn="l">
              <a:lnSpc>
                <a:spcPts val="4320"/>
              </a:lnSpc>
              <a:defRPr/>
            </a:pPr>
            <a:r>
              <a:rPr lang="en-US" sz="3600" b="1" i="0" u="none" strike="noStrike">
                <a:solidFill>
                  <a:srgbClr val="FFB458"/>
                </a:solidFill>
                <a:latin typeface="Montserrat"/>
                <a:ea typeface="Montserrat"/>
                <a:cs typeface="Montserrat"/>
                <a:sym typeface="Montserrat"/>
              </a:rPr>
              <a:t>≥90%</a:t>
            </a:r>
            <a:endParaRPr lang="en-US" sz="1100"/>
          </a:p>
        </p:txBody>
      </p:sp>
      <p:sp>
        <p:nvSpPr>
          <p:cNvPr id="18" name="AutoShape 18"/>
          <p:cNvSpPr/>
          <p:nvPr/>
        </p:nvSpPr>
        <p:spPr>
          <a:xfrm>
            <a:off x="11150600" y="6146800"/>
            <a:ext cx="5537200" cy="508000"/>
          </a:xfrm>
          <a:prstGeom prst="rect">
            <a:avLst/>
          </a:prstGeom>
          <a:noFill/>
          <a:ln w="19050" cap="flat" cmpd="sng">
            <a:noFill/>
            <a:prstDash val="solid"/>
            <a:round/>
          </a:ln>
        </p:spPr>
        <p:txBody>
          <a:bodyPr vert="horz" wrap="square" lIns="0" tIns="0" rIns="0" bIns="0" rtlCol="0" anchor="t" anchorCtr="0"/>
          <a:lstStyle/>
          <a:p>
            <a:pPr indent="0" algn="l">
              <a:lnSpc>
                <a:spcPct val="100000"/>
              </a:lnSpc>
              <a:defRPr/>
            </a:pPr>
            <a:r>
              <a:rPr lang="en-US" sz="1300" b="0" i="0" u="none" strike="noStrike">
                <a:solidFill>
                  <a:srgbClr val="8497B0"/>
                </a:solidFill>
                <a:latin typeface="Noto Sans SC"/>
                <a:ea typeface="Noto Sans SC"/>
                <a:cs typeface="Noto Sans SC"/>
                <a:sym typeface="Noto Sans SC"/>
              </a:rPr>
              <a:t>情绪识别准确率：基于面部微表情与语音语调的多维度综合判断</a:t>
            </a:r>
            <a:endParaRPr lang="en-US" sz="1100"/>
          </a:p>
        </p:txBody>
      </p:sp>
      <p:cxnSp>
        <p:nvCxnSpPr>
          <p:cNvPr id="19" name="Connector 19"/>
          <p:cNvCxnSpPr/>
          <p:nvPr/>
        </p:nvCxnSpPr>
        <p:spPr>
          <a:xfrm rot="8069">
            <a:off x="11226778" y="7004050"/>
            <a:ext cx="5410260" cy="12700"/>
          </a:xfrm>
          <a:prstGeom prst="line">
            <a:avLst/>
          </a:prstGeom>
          <a:solidFill>
            <a:srgbClr val="DEE0E3">
              <a:alpha val="100000"/>
            </a:srgbClr>
          </a:solidFill>
          <a:ln w="12700" cap="rnd" cmpd="sng">
            <a:solidFill>
              <a:srgbClr val="FF7A83">
                <a:alpha val="100000"/>
              </a:srgbClr>
            </a:solidFill>
            <a:prstDash val="solid"/>
            <a:miter lim="10000000"/>
            <a:headEnd type="none" w="med" len="med"/>
            <a:tailEnd type="none" w="med" len="med"/>
          </a:ln>
        </p:spPr>
      </p:cxnSp>
      <p:sp>
        <p:nvSpPr>
          <p:cNvPr id="20" name="AutoShape 20"/>
          <p:cNvSpPr/>
          <p:nvPr/>
        </p:nvSpPr>
        <p:spPr>
          <a:xfrm>
            <a:off x="12192000" y="7632700"/>
            <a:ext cx="2324100" cy="596900"/>
          </a:xfrm>
          <a:prstGeom prst="rect">
            <a:avLst/>
          </a:prstGeom>
          <a:noFill/>
          <a:ln w="19050" cap="flat" cmpd="sng">
            <a:noFill/>
            <a:prstDash val="solid"/>
            <a:round/>
          </a:ln>
        </p:spPr>
        <p:txBody>
          <a:bodyPr vert="horz" wrap="square" lIns="0" tIns="0" rIns="0" bIns="0" rtlCol="0" anchor="t" anchorCtr="0"/>
          <a:lstStyle/>
          <a:p>
            <a:pPr indent="0" algn="l">
              <a:lnSpc>
                <a:spcPts val="4320"/>
              </a:lnSpc>
              <a:defRPr/>
            </a:pPr>
            <a:r>
              <a:rPr lang="en-US" sz="3600" b="1" i="0" u="none" strike="noStrike">
                <a:solidFill>
                  <a:srgbClr val="FFB458"/>
                </a:solidFill>
                <a:latin typeface="Montserrat"/>
                <a:ea typeface="Montserrat"/>
                <a:cs typeface="Montserrat"/>
                <a:sym typeface="Montserrat"/>
              </a:rPr>
              <a:t>≤500ms</a:t>
            </a:r>
            <a:endParaRPr lang="en-US" sz="1100"/>
          </a:p>
        </p:txBody>
      </p:sp>
      <p:sp>
        <p:nvSpPr>
          <p:cNvPr id="21" name="AutoShape 21"/>
          <p:cNvSpPr/>
          <p:nvPr/>
        </p:nvSpPr>
        <p:spPr>
          <a:xfrm>
            <a:off x="11150600" y="8394700"/>
            <a:ext cx="5537200" cy="508000"/>
          </a:xfrm>
          <a:prstGeom prst="rect">
            <a:avLst/>
          </a:prstGeom>
          <a:noFill/>
          <a:ln w="19050" cap="flat" cmpd="sng">
            <a:noFill/>
            <a:prstDash val="solid"/>
            <a:round/>
          </a:ln>
        </p:spPr>
        <p:txBody>
          <a:bodyPr vert="horz" wrap="square" lIns="0" tIns="0" rIns="0" bIns="0" rtlCol="0" anchor="t" anchorCtr="0"/>
          <a:lstStyle/>
          <a:p>
            <a:pPr indent="0" algn="l">
              <a:lnSpc>
                <a:spcPct val="100000"/>
              </a:lnSpc>
              <a:defRPr/>
            </a:pPr>
            <a:r>
              <a:rPr lang="en-US" sz="1300" b="0" i="0" u="none" strike="noStrike">
                <a:solidFill>
                  <a:srgbClr val="8497B0"/>
                </a:solidFill>
                <a:latin typeface="Noto Sans SC"/>
                <a:ea typeface="Noto Sans SC"/>
                <a:cs typeface="Noto Sans SC"/>
                <a:sym typeface="Noto Sans SC"/>
              </a:rPr>
              <a:t>本地响应延迟：端侧大模型直连交互，消除云端传输带来的网络延迟</a:t>
            </a:r>
            <a:endParaRPr lang="en-US" sz="110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>
            <a:alpha val="100000"/>
          </a:srgb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2"/>
          <p:cNvPicPr>
            <a:picLocks noChangeAspect="1"/>
          </p:cNvPicPr>
          <p:nvPr/>
        </p:nvPicPr>
        <p:blipFill>
          <a:blip r:embed="rId3"/>
          <a:srcRect/>
          <a:stretch>
            <a:fillRect/>
          </a:stretch>
        </p:blipFill>
        <p:spPr>
          <a:xfrm>
            <a:off x="10020300" y="-12700"/>
            <a:ext cx="8280400" cy="9372600"/>
          </a:xfrm>
          <a:prstGeom prst="rect">
            <a:avLst/>
          </a:prstGeom>
          <a:noFill/>
          <a:ln w="25400" cap="flat" cmpd="sng">
            <a:noFill/>
            <a:prstDash val="solid"/>
            <a:round/>
          </a:ln>
        </p:spPr>
      </p:pic>
      <p:pic>
        <p:nvPicPr>
          <p:cNvPr id="3" name="Picture 3"/>
          <p:cNvPicPr>
            <a:picLocks noChangeAspect="1"/>
          </p:cNvPicPr>
          <p:nvPr/>
        </p:nvPicPr>
        <p:blipFill>
          <a:blip r:embed="rId4"/>
          <a:srcRect/>
          <a:stretch>
            <a:fillRect/>
          </a:stretch>
        </p:blipFill>
        <p:spPr>
          <a:xfrm>
            <a:off x="11201400" y="0"/>
            <a:ext cx="7086600" cy="8318500"/>
          </a:xfrm>
          <a:prstGeom prst="rect">
            <a:avLst/>
          </a:prstGeom>
          <a:noFill/>
          <a:ln w="25400" cap="flat" cmpd="sng">
            <a:noFill/>
            <a:prstDash val="solid"/>
            <a:round/>
          </a:ln>
        </p:spPr>
      </p:pic>
      <p:sp>
        <p:nvSpPr>
          <p:cNvPr id="4" name="AutoShape 4"/>
          <p:cNvSpPr/>
          <p:nvPr/>
        </p:nvSpPr>
        <p:spPr>
          <a:xfrm>
            <a:off x="1447800" y="3784600"/>
            <a:ext cx="10782300" cy="1384300"/>
          </a:xfrm>
          <a:prstGeom prst="rect">
            <a:avLst/>
          </a:prstGeom>
          <a:noFill/>
          <a:ln w="19050" cap="flat" cmpd="sng">
            <a:noFill/>
            <a:prstDash val="solid"/>
            <a:round/>
          </a:ln>
        </p:spPr>
        <p:txBody>
          <a:bodyPr vert="horz" wrap="square" lIns="0" tIns="0" rIns="0" bIns="0" rtlCol="0" anchor="t" anchorCtr="0"/>
          <a:lstStyle/>
          <a:p>
            <a:pPr indent="0" algn="l">
              <a:lnSpc>
                <a:spcPts val="10800"/>
              </a:lnSpc>
              <a:defRPr/>
            </a:pPr>
            <a:r>
              <a:rPr lang="en-US" sz="9000" b="0" i="0" u="none" strike="noStrike">
                <a:solidFill>
                  <a:srgbClr val="FFB458"/>
                </a:solidFill>
                <a:latin typeface="Noto Sans SC"/>
                <a:ea typeface="Noto Sans SC"/>
                <a:cs typeface="Noto Sans SC"/>
                <a:sym typeface="Noto Sans SC"/>
              </a:rPr>
              <a:t>商业模式</a:t>
            </a:r>
            <a:endParaRPr lang="en-US" sz="1100"/>
          </a:p>
        </p:txBody>
      </p:sp>
      <p:pic>
        <p:nvPicPr>
          <p:cNvPr id="5" name="Picture 5"/>
          <p:cNvPicPr>
            <a:picLocks noChangeAspect="1"/>
          </p:cNvPicPr>
          <p:nvPr/>
        </p:nvPicPr>
        <p:blipFill>
          <a:blip r:embed="rId5"/>
          <a:srcRect/>
          <a:stretch>
            <a:fillRect/>
          </a:stretch>
        </p:blipFill>
        <p:spPr>
          <a:xfrm>
            <a:off x="0" y="1574800"/>
            <a:ext cx="1587500" cy="6997700"/>
          </a:xfrm>
          <a:prstGeom prst="rect">
            <a:avLst/>
          </a:prstGeom>
          <a:noFill/>
          <a:ln w="25400" cap="flat" cmpd="sng">
            <a:noFill/>
            <a:prstDash val="solid"/>
            <a:round/>
          </a:ln>
        </p:spPr>
      </p:pic>
      <p:sp>
        <p:nvSpPr>
          <p:cNvPr id="6" name="AutoShape 6"/>
          <p:cNvSpPr/>
          <p:nvPr/>
        </p:nvSpPr>
        <p:spPr>
          <a:xfrm>
            <a:off x="1447800" y="5257800"/>
            <a:ext cx="8496300" cy="1612900"/>
          </a:xfrm>
          <a:prstGeom prst="rect">
            <a:avLst/>
          </a:prstGeom>
          <a:noFill/>
          <a:ln w="19050" cap="flat" cmpd="sng">
            <a:noFill/>
            <a:prstDash val="solid"/>
            <a:round/>
          </a:ln>
        </p:spPr>
        <p:txBody>
          <a:bodyPr vert="horz" wrap="square" lIns="0" tIns="0" rIns="0" bIns="0" rtlCol="0" anchor="t" anchorCtr="0"/>
          <a:lstStyle/>
          <a:p>
            <a:pPr indent="0" algn="l">
              <a:lnSpc>
                <a:spcPts val="3276"/>
              </a:lnSpc>
              <a:defRPr/>
            </a:pPr>
            <a:r>
              <a:rPr lang="en-US" sz="2100" b="0" i="0" u="none" strike="noStrike">
                <a:solidFill>
                  <a:srgbClr val="ADB9CA"/>
                </a:solidFill>
                <a:latin typeface="Noto Sans SC"/>
                <a:ea typeface="Noto Sans SC"/>
                <a:cs typeface="Noto Sans SC"/>
                <a:sym typeface="Noto Sans SC"/>
              </a:rPr>
              <a:t>清晰的盈利模式和精准的市场进入策略，是我们成功的关键。</a:t>
            </a:r>
            <a:endParaRPr lang="en-US" sz="1100"/>
          </a:p>
        </p:txBody>
      </p:sp>
      <p:pic>
        <p:nvPicPr>
          <p:cNvPr id="7" name="Picture 7"/>
          <p:cNvPicPr>
            <a:picLocks noChangeAspect="1"/>
          </p:cNvPicPr>
          <p:nvPr/>
        </p:nvPicPr>
        <p:blipFill>
          <a:blip r:embed="rId6"/>
          <a:srcRect/>
          <a:stretch>
            <a:fillRect/>
          </a:stretch>
        </p:blipFill>
        <p:spPr>
          <a:xfrm>
            <a:off x="12395200" y="0"/>
            <a:ext cx="5892800" cy="7302500"/>
          </a:xfrm>
          <a:prstGeom prst="rect">
            <a:avLst/>
          </a:prstGeom>
          <a:noFill/>
          <a:ln w="25400" cap="flat" cmpd="sng">
            <a:noFill/>
            <a:prstDash val="solid"/>
            <a:round/>
          </a:ln>
        </p:spPr>
      </p:pic>
      <p:pic>
        <p:nvPicPr>
          <p:cNvPr id="11" name="Picture 11"/>
          <p:cNvPicPr>
            <a:picLocks noChangeAspect="1"/>
          </p:cNvPicPr>
          <p:nvPr/>
        </p:nvPicPr>
        <p:blipFill>
          <a:blip r:embed="rId7"/>
          <a:srcRect/>
          <a:stretch>
            <a:fillRect/>
          </a:stretch>
        </p:blipFill>
        <p:spPr>
          <a:xfrm>
            <a:off x="1587500" y="8585200"/>
            <a:ext cx="533400" cy="533400"/>
          </a:xfrm>
          <a:prstGeom prst="rect">
            <a:avLst/>
          </a:prstGeom>
          <a:noFill/>
          <a:ln w="25400" cap="flat" cmpd="sng">
            <a:noFill/>
            <a:prstDash val="solid"/>
            <a:round/>
          </a:ln>
        </p:spPr>
      </p:pic>
      <p:sp>
        <p:nvSpPr>
          <p:cNvPr id="12" name="Freeform 12"/>
          <p:cNvSpPr/>
          <p:nvPr/>
        </p:nvSpPr>
        <p:spPr>
          <a:xfrm>
            <a:off x="2349500" y="8585200"/>
            <a:ext cx="548164" cy="548259"/>
          </a:xfrm>
          <a:custGeom>
            <a:avLst/>
            <a:gdLst/>
            <a:ahLst/>
            <a:cxnLst/>
            <a:rect l="l" t="t" r="r" b="b"/>
            <a:pathLst>
              <a:path w="548164" h="548259">
                <a:moveTo>
                  <a:pt x="0" y="274130"/>
                </a:moveTo>
                <a:cubicBezTo>
                  <a:pt x="0" y="122682"/>
                  <a:pt x="122682" y="0"/>
                  <a:pt x="274130" y="0"/>
                </a:cubicBezTo>
                <a:lnTo>
                  <a:pt x="274130" y="9525"/>
                </a:lnTo>
                <a:lnTo>
                  <a:pt x="274130" y="0"/>
                </a:lnTo>
                <a:cubicBezTo>
                  <a:pt x="425482" y="0"/>
                  <a:pt x="548164" y="122682"/>
                  <a:pt x="548164" y="274130"/>
                </a:cubicBezTo>
                <a:lnTo>
                  <a:pt x="538639" y="274130"/>
                </a:lnTo>
                <a:lnTo>
                  <a:pt x="548164" y="274130"/>
                </a:lnTo>
                <a:cubicBezTo>
                  <a:pt x="548164" y="425482"/>
                  <a:pt x="425482" y="548259"/>
                  <a:pt x="274034" y="548259"/>
                </a:cubicBezTo>
                <a:lnTo>
                  <a:pt x="274034" y="538734"/>
                </a:lnTo>
                <a:lnTo>
                  <a:pt x="274034" y="548259"/>
                </a:lnTo>
                <a:cubicBezTo>
                  <a:pt x="122682" y="548164"/>
                  <a:pt x="0" y="425482"/>
                  <a:pt x="0" y="274130"/>
                </a:cubicBezTo>
                <a:lnTo>
                  <a:pt x="9525" y="274130"/>
                </a:lnTo>
                <a:lnTo>
                  <a:pt x="19050" y="274130"/>
                </a:lnTo>
                <a:lnTo>
                  <a:pt x="9525" y="274130"/>
                </a:lnTo>
                <a:lnTo>
                  <a:pt x="0" y="274130"/>
                </a:lnTo>
                <a:moveTo>
                  <a:pt x="19050" y="274130"/>
                </a:moveTo>
                <a:cubicBezTo>
                  <a:pt x="19050" y="279368"/>
                  <a:pt x="14764" y="283654"/>
                  <a:pt x="9525" y="283654"/>
                </a:cubicBezTo>
                <a:cubicBezTo>
                  <a:pt x="4286" y="283654"/>
                  <a:pt x="0" y="279368"/>
                  <a:pt x="0" y="274130"/>
                </a:cubicBezTo>
                <a:cubicBezTo>
                  <a:pt x="0" y="268891"/>
                  <a:pt x="4286" y="264604"/>
                  <a:pt x="9525" y="264604"/>
                </a:cubicBezTo>
                <a:cubicBezTo>
                  <a:pt x="14764" y="264604"/>
                  <a:pt x="19050" y="268891"/>
                  <a:pt x="19050" y="274130"/>
                </a:cubicBezTo>
                <a:cubicBezTo>
                  <a:pt x="19050" y="414909"/>
                  <a:pt x="133255" y="529114"/>
                  <a:pt x="274130" y="529114"/>
                </a:cubicBezTo>
                <a:cubicBezTo>
                  <a:pt x="415004" y="529114"/>
                  <a:pt x="529114" y="414909"/>
                  <a:pt x="529114" y="274130"/>
                </a:cubicBezTo>
                <a:cubicBezTo>
                  <a:pt x="529114" y="133350"/>
                  <a:pt x="414909" y="19050"/>
                  <a:pt x="274130" y="19050"/>
                </a:cubicBezTo>
                <a:lnTo>
                  <a:pt x="274130" y="9525"/>
                </a:lnTo>
                <a:lnTo>
                  <a:pt x="274130" y="19050"/>
                </a:lnTo>
                <a:cubicBezTo>
                  <a:pt x="133255" y="19050"/>
                  <a:pt x="19050" y="133255"/>
                  <a:pt x="19050" y="274130"/>
                </a:cubicBezTo>
                <a:close/>
              </a:path>
            </a:pathLst>
          </a:custGeom>
          <a:solidFill>
            <a:srgbClr val="FF7A83">
              <a:alpha val="100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  <a:endParaRPr/>
          </a:p>
        </p:txBody>
      </p:sp>
      <p:sp>
        <p:nvSpPr>
          <p:cNvPr id="13" name="Freeform 13"/>
          <p:cNvSpPr/>
          <p:nvPr/>
        </p:nvSpPr>
        <p:spPr>
          <a:xfrm>
            <a:off x="3124200" y="8585200"/>
            <a:ext cx="548164" cy="548259"/>
          </a:xfrm>
          <a:custGeom>
            <a:avLst/>
            <a:gdLst/>
            <a:ahLst/>
            <a:cxnLst/>
            <a:rect l="l" t="t" r="r" b="b"/>
            <a:pathLst>
              <a:path w="548164" h="548259">
                <a:moveTo>
                  <a:pt x="0" y="274130"/>
                </a:moveTo>
                <a:cubicBezTo>
                  <a:pt x="0" y="122682"/>
                  <a:pt x="122682" y="0"/>
                  <a:pt x="274129" y="0"/>
                </a:cubicBezTo>
                <a:lnTo>
                  <a:pt x="274129" y="9525"/>
                </a:lnTo>
                <a:lnTo>
                  <a:pt x="274129" y="0"/>
                </a:lnTo>
                <a:cubicBezTo>
                  <a:pt x="425482" y="0"/>
                  <a:pt x="548164" y="122682"/>
                  <a:pt x="548164" y="274130"/>
                </a:cubicBezTo>
                <a:lnTo>
                  <a:pt x="538639" y="274130"/>
                </a:lnTo>
                <a:lnTo>
                  <a:pt x="548164" y="274130"/>
                </a:lnTo>
                <a:cubicBezTo>
                  <a:pt x="548164" y="425482"/>
                  <a:pt x="425482" y="548259"/>
                  <a:pt x="274034" y="548259"/>
                </a:cubicBezTo>
                <a:lnTo>
                  <a:pt x="274034" y="538734"/>
                </a:lnTo>
                <a:lnTo>
                  <a:pt x="274034" y="548259"/>
                </a:lnTo>
                <a:cubicBezTo>
                  <a:pt x="122682" y="548164"/>
                  <a:pt x="0" y="425482"/>
                  <a:pt x="0" y="274130"/>
                </a:cubicBezTo>
                <a:lnTo>
                  <a:pt x="9525" y="274130"/>
                </a:lnTo>
                <a:lnTo>
                  <a:pt x="19050" y="274130"/>
                </a:lnTo>
                <a:lnTo>
                  <a:pt x="9525" y="274130"/>
                </a:lnTo>
                <a:lnTo>
                  <a:pt x="0" y="274130"/>
                </a:lnTo>
                <a:moveTo>
                  <a:pt x="19050" y="274130"/>
                </a:moveTo>
                <a:cubicBezTo>
                  <a:pt x="19050" y="279368"/>
                  <a:pt x="14764" y="283654"/>
                  <a:pt x="9525" y="283654"/>
                </a:cubicBezTo>
                <a:cubicBezTo>
                  <a:pt x="4286" y="283654"/>
                  <a:pt x="0" y="279368"/>
                  <a:pt x="0" y="274130"/>
                </a:cubicBezTo>
                <a:cubicBezTo>
                  <a:pt x="0" y="268891"/>
                  <a:pt x="4286" y="264604"/>
                  <a:pt x="9525" y="264604"/>
                </a:cubicBezTo>
                <a:cubicBezTo>
                  <a:pt x="14764" y="264604"/>
                  <a:pt x="19050" y="268891"/>
                  <a:pt x="19050" y="274130"/>
                </a:cubicBezTo>
                <a:cubicBezTo>
                  <a:pt x="19050" y="414909"/>
                  <a:pt x="133255" y="529114"/>
                  <a:pt x="274129" y="529114"/>
                </a:cubicBezTo>
                <a:cubicBezTo>
                  <a:pt x="415004" y="529114"/>
                  <a:pt x="529114" y="414909"/>
                  <a:pt x="529114" y="274130"/>
                </a:cubicBezTo>
                <a:cubicBezTo>
                  <a:pt x="529114" y="133350"/>
                  <a:pt x="414909" y="19050"/>
                  <a:pt x="274129" y="19050"/>
                </a:cubicBezTo>
                <a:lnTo>
                  <a:pt x="274129" y="9525"/>
                </a:lnTo>
                <a:lnTo>
                  <a:pt x="274129" y="19050"/>
                </a:lnTo>
                <a:cubicBezTo>
                  <a:pt x="133255" y="19050"/>
                  <a:pt x="19050" y="133255"/>
                  <a:pt x="19050" y="274130"/>
                </a:cubicBezTo>
                <a:close/>
              </a:path>
            </a:pathLst>
          </a:custGeom>
          <a:solidFill>
            <a:srgbClr val="FF7A83">
              <a:alpha val="100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  <a:endParaRPr/>
          </a:p>
        </p:txBody>
      </p:sp>
      <p:sp>
        <p:nvSpPr>
          <p:cNvPr id="14" name="Freeform 14"/>
          <p:cNvSpPr/>
          <p:nvPr/>
        </p:nvSpPr>
        <p:spPr>
          <a:xfrm>
            <a:off x="3898900" y="8585200"/>
            <a:ext cx="548164" cy="548259"/>
          </a:xfrm>
          <a:custGeom>
            <a:avLst/>
            <a:gdLst/>
            <a:ahLst/>
            <a:cxnLst/>
            <a:rect l="l" t="t" r="r" b="b"/>
            <a:pathLst>
              <a:path w="548164" h="548259">
                <a:moveTo>
                  <a:pt x="0" y="274130"/>
                </a:moveTo>
                <a:cubicBezTo>
                  <a:pt x="0" y="122682"/>
                  <a:pt x="122682" y="0"/>
                  <a:pt x="274129" y="0"/>
                </a:cubicBezTo>
                <a:lnTo>
                  <a:pt x="274129" y="9525"/>
                </a:lnTo>
                <a:lnTo>
                  <a:pt x="274129" y="0"/>
                </a:lnTo>
                <a:cubicBezTo>
                  <a:pt x="425482" y="0"/>
                  <a:pt x="548164" y="122682"/>
                  <a:pt x="548164" y="274130"/>
                </a:cubicBezTo>
                <a:lnTo>
                  <a:pt x="538639" y="274130"/>
                </a:lnTo>
                <a:lnTo>
                  <a:pt x="548164" y="274130"/>
                </a:lnTo>
                <a:cubicBezTo>
                  <a:pt x="548164" y="425482"/>
                  <a:pt x="425482" y="548259"/>
                  <a:pt x="274034" y="548259"/>
                </a:cubicBezTo>
                <a:lnTo>
                  <a:pt x="274034" y="538734"/>
                </a:lnTo>
                <a:lnTo>
                  <a:pt x="274034" y="548259"/>
                </a:lnTo>
                <a:cubicBezTo>
                  <a:pt x="122682" y="548164"/>
                  <a:pt x="0" y="425482"/>
                  <a:pt x="0" y="274130"/>
                </a:cubicBezTo>
                <a:lnTo>
                  <a:pt x="9525" y="274130"/>
                </a:lnTo>
                <a:lnTo>
                  <a:pt x="19050" y="274130"/>
                </a:lnTo>
                <a:lnTo>
                  <a:pt x="9525" y="274130"/>
                </a:lnTo>
                <a:lnTo>
                  <a:pt x="0" y="274130"/>
                </a:lnTo>
                <a:moveTo>
                  <a:pt x="19050" y="274130"/>
                </a:moveTo>
                <a:cubicBezTo>
                  <a:pt x="19050" y="279368"/>
                  <a:pt x="14764" y="283654"/>
                  <a:pt x="9525" y="283654"/>
                </a:cubicBezTo>
                <a:cubicBezTo>
                  <a:pt x="4286" y="283654"/>
                  <a:pt x="0" y="279368"/>
                  <a:pt x="0" y="274130"/>
                </a:cubicBezTo>
                <a:cubicBezTo>
                  <a:pt x="0" y="268891"/>
                  <a:pt x="4286" y="264604"/>
                  <a:pt x="9525" y="264604"/>
                </a:cubicBezTo>
                <a:cubicBezTo>
                  <a:pt x="14764" y="264604"/>
                  <a:pt x="19050" y="268891"/>
                  <a:pt x="19050" y="274130"/>
                </a:cubicBezTo>
                <a:cubicBezTo>
                  <a:pt x="19050" y="414909"/>
                  <a:pt x="133255" y="529114"/>
                  <a:pt x="274129" y="529114"/>
                </a:cubicBezTo>
                <a:cubicBezTo>
                  <a:pt x="415004" y="529114"/>
                  <a:pt x="529114" y="414909"/>
                  <a:pt x="529114" y="274130"/>
                </a:cubicBezTo>
                <a:cubicBezTo>
                  <a:pt x="529114" y="133350"/>
                  <a:pt x="414909" y="19050"/>
                  <a:pt x="274129" y="19050"/>
                </a:cubicBezTo>
                <a:lnTo>
                  <a:pt x="274129" y="9525"/>
                </a:lnTo>
                <a:lnTo>
                  <a:pt x="274129" y="19050"/>
                </a:lnTo>
                <a:cubicBezTo>
                  <a:pt x="133255" y="19050"/>
                  <a:pt x="19050" y="133255"/>
                  <a:pt x="19050" y="274130"/>
                </a:cubicBezTo>
                <a:close/>
              </a:path>
            </a:pathLst>
          </a:custGeom>
          <a:solidFill>
            <a:srgbClr val="FF7A83">
              <a:alpha val="100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  <a:endParaRPr/>
          </a:p>
        </p:txBody>
      </p:sp>
      <p:sp>
        <p:nvSpPr>
          <p:cNvPr id="15" name="Freeform 15"/>
          <p:cNvSpPr/>
          <p:nvPr/>
        </p:nvSpPr>
        <p:spPr>
          <a:xfrm>
            <a:off x="12077700" y="7505700"/>
            <a:ext cx="597788" cy="597790"/>
          </a:xfrm>
          <a:custGeom>
            <a:avLst/>
            <a:gdLst/>
            <a:ahLst/>
            <a:cxnLst/>
            <a:rect l="l" t="t" r="r" b="b"/>
            <a:pathLst>
              <a:path w="597788" h="597790">
                <a:moveTo>
                  <a:pt x="0" y="298894"/>
                </a:moveTo>
                <a:cubicBezTo>
                  <a:pt x="0" y="133826"/>
                  <a:pt x="133826" y="0"/>
                  <a:pt x="298894" y="0"/>
                </a:cubicBezTo>
                <a:cubicBezTo>
                  <a:pt x="463961" y="0"/>
                  <a:pt x="597788" y="133826"/>
                  <a:pt x="597788" y="298894"/>
                </a:cubicBezTo>
                <a:cubicBezTo>
                  <a:pt x="597788" y="463964"/>
                  <a:pt x="463961" y="597790"/>
                  <a:pt x="298894" y="597790"/>
                </a:cubicBezTo>
                <a:cubicBezTo>
                  <a:pt x="133826" y="597790"/>
                  <a:pt x="0" y="463964"/>
                  <a:pt x="0" y="298894"/>
                </a:cubicBezTo>
                <a:close/>
              </a:path>
            </a:pathLst>
          </a:custGeom>
          <a:solidFill>
            <a:srgbClr val="F89469">
              <a:alpha val="100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  <a:endParaRPr/>
          </a:p>
        </p:txBody>
      </p:sp>
      <p:sp>
        <p:nvSpPr>
          <p:cNvPr id="17" name="AutoShape 17"/>
          <p:cNvSpPr/>
          <p:nvPr/>
        </p:nvSpPr>
        <p:spPr>
          <a:xfrm>
            <a:off x="1524000" y="3238500"/>
            <a:ext cx="6477000" cy="457200"/>
          </a:xfrm>
          <a:prstGeom prst="rect">
            <a:avLst/>
          </a:prstGeom>
          <a:noFill/>
          <a:ln w="19050" cap="flat" cmpd="sng">
            <a:noFill/>
            <a:prstDash val="solid"/>
            <a:round/>
          </a:ln>
        </p:spPr>
        <p:txBody>
          <a:bodyPr vert="horz" wrap="square" lIns="0" tIns="0" rIns="0" bIns="0" rtlCol="0" anchor="t" anchorCtr="0"/>
          <a:lstStyle/>
          <a:p>
            <a:pPr indent="0" algn="l">
              <a:lnSpc>
                <a:spcPts val="3240"/>
              </a:lnSpc>
              <a:defRPr/>
            </a:pPr>
            <a:r>
              <a:rPr lang="en-US" sz="2700" b="0" i="0" u="none" strike="noStrike">
                <a:solidFill>
                  <a:srgbClr val="ADB9CA"/>
                </a:solidFill>
                <a:latin typeface="Montserrat"/>
                <a:ea typeface="Montserrat"/>
                <a:cs typeface="Montserrat"/>
                <a:sym typeface="Montserrat"/>
              </a:rPr>
              <a:t>Business Model</a:t>
            </a:r>
            <a:endParaRPr lang="en-US" sz="1100"/>
          </a:p>
        </p:txBody>
      </p:sp>
      <p:pic>
        <p:nvPicPr>
          <p:cNvPr id="20" name="Picture 20"/>
          <p:cNvPicPr>
            <a:picLocks noChangeAspect="1"/>
          </p:cNvPicPr>
          <p:nvPr/>
        </p:nvPicPr>
        <p:blipFill>
          <a:blip r:embed="rId8"/>
          <a:srcRect/>
          <a:stretch>
            <a:fillRect/>
          </a:stretch>
        </p:blipFill>
        <p:spPr>
          <a:xfrm>
            <a:off x="16433800" y="2679700"/>
            <a:ext cx="1854200" cy="6477000"/>
          </a:xfrm>
          <a:prstGeom prst="rect">
            <a:avLst/>
          </a:prstGeom>
          <a:noFill/>
          <a:ln w="25400" cap="flat" cmpd="sng">
            <a:noFill/>
            <a:prstDash val="solid"/>
            <a:round/>
          </a:ln>
        </p:spPr>
      </p:pic>
      <p:cxnSp>
        <p:nvCxnSpPr>
          <p:cNvPr id="21" name="Connector 21"/>
          <p:cNvCxnSpPr/>
          <p:nvPr/>
        </p:nvCxnSpPr>
        <p:spPr>
          <a:xfrm>
            <a:off x="4699000" y="8839200"/>
            <a:ext cx="1930442" cy="12700"/>
          </a:xfrm>
          <a:prstGeom prst="line">
            <a:avLst/>
          </a:prstGeom>
          <a:solidFill>
            <a:srgbClr val="DEE0E3">
              <a:alpha val="100000"/>
            </a:srgbClr>
          </a:solidFill>
          <a:ln w="12700" cap="rnd" cmpd="sng">
            <a:solidFill>
              <a:srgbClr val="F89469">
                <a:alpha val="100000"/>
              </a:srgbClr>
            </a:solidFill>
            <a:prstDash val="solid"/>
            <a:miter lim="10000000"/>
            <a:headEnd type="none" w="sm" len="sm"/>
            <a:tailEnd type="triangle" w="lg" len="med"/>
          </a:ln>
        </p:spPr>
      </p:cxnSp>
      <p:sp>
        <p:nvSpPr>
          <p:cNvPr id="22" name="AutoShape 22"/>
          <p:cNvSpPr/>
          <p:nvPr/>
        </p:nvSpPr>
        <p:spPr>
          <a:xfrm>
            <a:off x="13627100" y="3022600"/>
            <a:ext cx="4902200" cy="3873500"/>
          </a:xfrm>
          <a:prstGeom prst="rect">
            <a:avLst/>
          </a:prstGeom>
          <a:noFill/>
          <a:ln w="19050" cap="flat" cmpd="sng">
            <a:noFill/>
            <a:prstDash val="solid"/>
            <a:round/>
          </a:ln>
        </p:spPr>
        <p:txBody>
          <a:bodyPr vert="horz" wrap="square" lIns="0" tIns="0" rIns="0" bIns="0" rtlCol="0" anchor="t" anchorCtr="0"/>
          <a:lstStyle/>
          <a:p>
            <a:pPr indent="0" algn="l">
              <a:lnSpc>
                <a:spcPts val="29880"/>
              </a:lnSpc>
              <a:defRPr/>
            </a:pPr>
            <a:r>
              <a:rPr lang="en-US" sz="24900" b="0" i="0" u="none" strike="noStrike">
                <a:solidFill>
                  <a:srgbClr val="FFFFFF"/>
                </a:solidFill>
                <a:latin typeface="Montserrat"/>
                <a:ea typeface="Montserrat"/>
                <a:cs typeface="Montserrat"/>
                <a:sym typeface="Montserrat"/>
              </a:rPr>
              <a:t>03</a:t>
            </a:r>
            <a:endParaRPr lang="en-US" sz="1100"/>
          </a:p>
        </p:txBody>
      </p:sp>
      <p:cxnSp>
        <p:nvCxnSpPr>
          <p:cNvPr id="23" name="Connector 23"/>
          <p:cNvCxnSpPr/>
          <p:nvPr/>
        </p:nvCxnSpPr>
        <p:spPr>
          <a:xfrm rot="5391093">
            <a:off x="15138400" y="4438658"/>
            <a:ext cx="4902200" cy="12700"/>
          </a:xfrm>
          <a:prstGeom prst="line">
            <a:avLst/>
          </a:prstGeom>
          <a:solidFill>
            <a:srgbClr val="DEE0E3">
              <a:alpha val="100000"/>
            </a:srgbClr>
          </a:solidFill>
          <a:ln w="12700" cap="rnd" cmpd="sng">
            <a:solidFill>
              <a:srgbClr val="FFFFFF">
                <a:alpha val="100000"/>
              </a:srgbClr>
            </a:solidFill>
            <a:prstDash val="solid"/>
            <a:miter lim="10000000"/>
            <a:headEnd type="none" w="sm" len="sm"/>
            <a:tailEnd type="none" w="sm" len="sm"/>
          </a:ln>
        </p:spPr>
      </p:cxnSp>
      <p:pic>
        <p:nvPicPr>
          <p:cNvPr id="24" name="Picture 24"/>
          <p:cNvPicPr>
            <a:picLocks noChangeAspect="1"/>
          </p:cNvPicPr>
          <p:nvPr/>
        </p:nvPicPr>
        <p:blipFill>
          <a:blip r:embed="rId9"/>
          <a:srcRect/>
          <a:stretch>
            <a:fillRect/>
          </a:stretch>
        </p:blipFill>
        <p:spPr>
          <a:xfrm>
            <a:off x="2400300" y="8166100"/>
            <a:ext cx="15887700" cy="2120900"/>
          </a:xfrm>
          <a:prstGeom prst="rect">
            <a:avLst/>
          </a:prstGeom>
          <a:noFill/>
          <a:ln w="25400" cap="flat" cmpd="sng">
            <a:noFill/>
            <a:prstDash val="solid"/>
            <a:round/>
          </a:ln>
        </p:spPr>
      </p:pic>
      <p:pic>
        <p:nvPicPr>
          <p:cNvPr id="25" name="Picture 25"/>
          <p:cNvPicPr>
            <a:picLocks noChangeAspect="1"/>
          </p:cNvPicPr>
          <p:nvPr/>
        </p:nvPicPr>
        <p:blipFill>
          <a:blip r:embed="rId10"/>
          <a:srcRect/>
          <a:stretch>
            <a:fillRect/>
          </a:stretch>
        </p:blipFill>
        <p:spPr>
          <a:xfrm>
            <a:off x="1727200" y="8724900"/>
            <a:ext cx="241300" cy="254000"/>
          </a:xfrm>
          <a:prstGeom prst="rect">
            <a:avLst/>
          </a:prstGeom>
          <a:noFill/>
          <a:ln w="25400" cap="flat" cmpd="sng">
            <a:noFill/>
            <a:prstDash val="solid"/>
            <a:round/>
          </a:ln>
        </p:spPr>
      </p:pic>
      <p:pic>
        <p:nvPicPr>
          <p:cNvPr id="26" name="Picture 26"/>
          <p:cNvPicPr>
            <a:picLocks noChangeAspect="1"/>
          </p:cNvPicPr>
          <p:nvPr/>
        </p:nvPicPr>
        <p:blipFill>
          <a:blip r:embed="rId11"/>
          <a:srcRect/>
          <a:stretch>
            <a:fillRect/>
          </a:stretch>
        </p:blipFill>
        <p:spPr>
          <a:xfrm>
            <a:off x="3276600" y="8724900"/>
            <a:ext cx="228600" cy="254000"/>
          </a:xfrm>
          <a:prstGeom prst="rect">
            <a:avLst/>
          </a:prstGeom>
          <a:noFill/>
          <a:ln w="25400" cap="flat" cmpd="sng">
            <a:noFill/>
            <a:prstDash val="solid"/>
            <a:round/>
          </a:ln>
        </p:spPr>
      </p:pic>
      <p:pic>
        <p:nvPicPr>
          <p:cNvPr id="27" name="Picture 27"/>
          <p:cNvPicPr>
            <a:picLocks noChangeAspect="1"/>
          </p:cNvPicPr>
          <p:nvPr/>
        </p:nvPicPr>
        <p:blipFill>
          <a:blip r:embed="rId12"/>
          <a:srcRect/>
          <a:stretch>
            <a:fillRect/>
          </a:stretch>
        </p:blipFill>
        <p:spPr>
          <a:xfrm>
            <a:off x="4038600" y="8724900"/>
            <a:ext cx="266700" cy="254000"/>
          </a:xfrm>
          <a:prstGeom prst="rect">
            <a:avLst/>
          </a:prstGeom>
          <a:noFill/>
          <a:ln w="25400" cap="flat" cmpd="sng">
            <a:noFill/>
            <a:prstDash val="solid"/>
            <a:round/>
          </a:ln>
        </p:spPr>
      </p:pic>
      <p:pic>
        <p:nvPicPr>
          <p:cNvPr id="28" name="Picture 28"/>
          <p:cNvPicPr>
            <a:picLocks noChangeAspect="1"/>
          </p:cNvPicPr>
          <p:nvPr/>
        </p:nvPicPr>
        <p:blipFill>
          <a:blip r:embed="rId13"/>
          <a:srcRect/>
          <a:stretch>
            <a:fillRect/>
          </a:stretch>
        </p:blipFill>
        <p:spPr>
          <a:xfrm>
            <a:off x="2501900" y="8724900"/>
            <a:ext cx="241300" cy="254000"/>
          </a:xfrm>
          <a:prstGeom prst="rect">
            <a:avLst/>
          </a:prstGeom>
          <a:noFill/>
          <a:ln w="25400" cap="flat" cmpd="sng">
            <a:noFill/>
            <a:prstDash val="solid"/>
            <a:round/>
          </a:ln>
        </p:spPr>
      </p:pic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>
            <a:alpha val="100000"/>
          </a:srgb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2"/>
          <p:cNvPicPr>
            <a:picLocks noChangeAspect="1"/>
          </p:cNvPicPr>
          <p:nvPr/>
        </p:nvPicPr>
        <p:blipFill>
          <a:blip r:embed="rId3"/>
          <a:srcRect/>
          <a:stretch>
            <a:fillRect/>
          </a:stretch>
        </p:blipFill>
        <p:spPr>
          <a:xfrm>
            <a:off x="11061700" y="8432800"/>
            <a:ext cx="7226300" cy="1854200"/>
          </a:xfrm>
          <a:prstGeom prst="rect">
            <a:avLst/>
          </a:prstGeom>
          <a:noFill/>
          <a:ln w="25400" cap="flat" cmpd="sng">
            <a:noFill/>
            <a:prstDash val="solid"/>
            <a:round/>
          </a:ln>
        </p:spPr>
      </p:pic>
      <p:pic>
        <p:nvPicPr>
          <p:cNvPr id="3" name="Picture 3"/>
          <p:cNvPicPr>
            <a:picLocks noChangeAspect="1"/>
          </p:cNvPicPr>
          <p:nvPr/>
        </p:nvPicPr>
        <p:blipFill>
          <a:blip r:embed="rId4"/>
          <a:srcRect/>
          <a:stretch>
            <a:fillRect/>
          </a:stretch>
        </p:blipFill>
        <p:spPr>
          <a:xfrm>
            <a:off x="571500" y="1739900"/>
            <a:ext cx="5257800" cy="7607300"/>
          </a:xfrm>
          <a:prstGeom prst="rect">
            <a:avLst/>
          </a:prstGeom>
          <a:noFill/>
          <a:ln w="25400" cap="flat" cmpd="sng">
            <a:noFill/>
            <a:prstDash val="solid"/>
            <a:round/>
          </a:ln>
        </p:spPr>
      </p:pic>
      <p:sp>
        <p:nvSpPr>
          <p:cNvPr id="4" name="AutoShape 4"/>
          <p:cNvSpPr/>
          <p:nvPr/>
        </p:nvSpPr>
        <p:spPr>
          <a:xfrm>
            <a:off x="622300" y="571500"/>
            <a:ext cx="8255000" cy="635000"/>
          </a:xfrm>
          <a:prstGeom prst="rect">
            <a:avLst/>
          </a:prstGeom>
          <a:noFill/>
          <a:ln w="19050" cap="flat" cmpd="sng">
            <a:noFill/>
            <a:prstDash val="solid"/>
            <a:round/>
          </a:ln>
        </p:spPr>
        <p:txBody>
          <a:bodyPr vert="horz" wrap="square" lIns="0" tIns="0" rIns="0" bIns="0" rtlCol="0" anchor="t" anchorCtr="0"/>
          <a:lstStyle/>
          <a:p>
            <a:pPr indent="0" algn="l">
              <a:lnSpc>
                <a:spcPts val="5040"/>
              </a:lnSpc>
              <a:defRPr/>
            </a:pPr>
            <a:r>
              <a:rPr lang="en-US" sz="4200" b="1" i="0" u="none" strike="noStrike">
                <a:solidFill>
                  <a:srgbClr val="FFB458"/>
                </a:solidFill>
                <a:latin typeface="Noto Sans SC"/>
                <a:ea typeface="Noto Sans SC"/>
                <a:cs typeface="Noto Sans SC"/>
                <a:sym typeface="Noto Sans SC"/>
              </a:rPr>
              <a:t>收入来源与目标用户</a:t>
            </a:r>
            <a:endParaRPr lang="en-US" sz="1100"/>
          </a:p>
        </p:txBody>
      </p:sp>
      <p:cxnSp>
        <p:nvCxnSpPr>
          <p:cNvPr id="5" name="Connector 5"/>
          <p:cNvCxnSpPr/>
          <p:nvPr/>
        </p:nvCxnSpPr>
        <p:spPr>
          <a:xfrm>
            <a:off x="4406900" y="889000"/>
            <a:ext cx="11861807" cy="12700"/>
          </a:xfrm>
          <a:prstGeom prst="line">
            <a:avLst/>
          </a:prstGeom>
          <a:solidFill>
            <a:srgbClr val="DEE0E3">
              <a:alpha val="100000"/>
            </a:srgbClr>
          </a:solidFill>
          <a:ln w="12700" cap="rnd" cmpd="sng">
            <a:solidFill>
              <a:srgbClr val="F89469">
                <a:alpha val="100000"/>
              </a:srgbClr>
            </a:solidFill>
            <a:prstDash val="solid"/>
            <a:miter lim="10000000"/>
            <a:headEnd type="none" w="sm" len="sm"/>
            <a:tailEnd type="none" w="sm" len="sm"/>
          </a:ln>
        </p:spPr>
      </p:cxnSp>
      <p:sp>
        <p:nvSpPr>
          <p:cNvPr id="6" name="AutoShape 6"/>
          <p:cNvSpPr/>
          <p:nvPr/>
        </p:nvSpPr>
        <p:spPr>
          <a:xfrm>
            <a:off x="16446500" y="546100"/>
            <a:ext cx="1104900" cy="736600"/>
          </a:xfrm>
          <a:prstGeom prst="rect">
            <a:avLst/>
          </a:prstGeom>
          <a:noFill/>
          <a:ln w="19050" cap="flat" cmpd="sng">
            <a:noFill/>
            <a:prstDash val="solid"/>
            <a:round/>
          </a:ln>
        </p:spPr>
        <p:txBody>
          <a:bodyPr vert="horz" wrap="square" lIns="0" tIns="0" rIns="0" bIns="0" rtlCol="0" anchor="t" anchorCtr="0"/>
          <a:lstStyle/>
          <a:p>
            <a:pPr indent="0" algn="ctr">
              <a:lnSpc>
                <a:spcPts val="5400"/>
              </a:lnSpc>
              <a:defRPr/>
            </a:pPr>
            <a:r>
              <a:rPr lang="en-US" sz="4500" b="1" i="0" u="none" strike="noStrike">
                <a:solidFill>
                  <a:srgbClr val="FFB364"/>
                </a:solidFill>
                <a:latin typeface="Montserrat"/>
                <a:ea typeface="Montserrat"/>
                <a:cs typeface="Montserrat"/>
                <a:sym typeface="Montserrat"/>
              </a:rPr>
              <a:t>03</a:t>
            </a:r>
            <a:endParaRPr lang="en-US" sz="1100"/>
          </a:p>
        </p:txBody>
      </p:sp>
      <p:sp>
        <p:nvSpPr>
          <p:cNvPr id="7" name="Freeform 7"/>
          <p:cNvSpPr/>
          <p:nvPr/>
        </p:nvSpPr>
        <p:spPr>
          <a:xfrm>
            <a:off x="3886200" y="3657600"/>
            <a:ext cx="3778472" cy="3778567"/>
          </a:xfrm>
          <a:custGeom>
            <a:avLst/>
            <a:gdLst/>
            <a:ahLst/>
            <a:cxnLst/>
            <a:rect l="l" t="t" r="r" b="b"/>
            <a:pathLst>
              <a:path w="3778472" h="3778567">
                <a:moveTo>
                  <a:pt x="0" y="1889284"/>
                </a:moveTo>
                <a:cubicBezTo>
                  <a:pt x="0" y="845820"/>
                  <a:pt x="845820" y="0"/>
                  <a:pt x="1889284" y="0"/>
                </a:cubicBezTo>
                <a:cubicBezTo>
                  <a:pt x="2932747" y="0"/>
                  <a:pt x="3778472" y="845820"/>
                  <a:pt x="3778472" y="1889284"/>
                </a:cubicBezTo>
                <a:cubicBezTo>
                  <a:pt x="3778472" y="2932747"/>
                  <a:pt x="2932652" y="3778568"/>
                  <a:pt x="1889188" y="3778568"/>
                </a:cubicBezTo>
                <a:cubicBezTo>
                  <a:pt x="845725" y="3778568"/>
                  <a:pt x="0" y="2932652"/>
                  <a:pt x="0" y="1889284"/>
                </a:cubicBezTo>
                <a:close/>
              </a:path>
            </a:pathLst>
          </a:custGeom>
          <a:solidFill>
            <a:srgbClr val="FFE7E7">
              <a:alpha val="100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  <a:endParaRPr/>
          </a:p>
        </p:txBody>
      </p:sp>
      <p:sp>
        <p:nvSpPr>
          <p:cNvPr id="8" name="Freeform 8"/>
          <p:cNvSpPr/>
          <p:nvPr/>
        </p:nvSpPr>
        <p:spPr>
          <a:xfrm>
            <a:off x="3873500" y="3644900"/>
            <a:ext cx="3797617" cy="3797617"/>
          </a:xfrm>
          <a:custGeom>
            <a:avLst/>
            <a:gdLst/>
            <a:ahLst/>
            <a:cxnLst/>
            <a:rect l="l" t="t" r="r" b="b"/>
            <a:pathLst>
              <a:path w="3797617" h="3797617">
                <a:moveTo>
                  <a:pt x="0" y="1898809"/>
                </a:moveTo>
                <a:cubicBezTo>
                  <a:pt x="0" y="850106"/>
                  <a:pt x="850106" y="0"/>
                  <a:pt x="1898809" y="0"/>
                </a:cubicBezTo>
                <a:lnTo>
                  <a:pt x="1898809" y="9525"/>
                </a:lnTo>
                <a:lnTo>
                  <a:pt x="1898809" y="0"/>
                </a:lnTo>
                <a:cubicBezTo>
                  <a:pt x="2947511" y="0"/>
                  <a:pt x="3797618" y="850106"/>
                  <a:pt x="3797618" y="1898809"/>
                </a:cubicBezTo>
                <a:lnTo>
                  <a:pt x="3788092" y="1898809"/>
                </a:lnTo>
                <a:lnTo>
                  <a:pt x="3797618" y="1898809"/>
                </a:lnTo>
                <a:cubicBezTo>
                  <a:pt x="3797618" y="2947511"/>
                  <a:pt x="2947511" y="3797618"/>
                  <a:pt x="1898809" y="3797618"/>
                </a:cubicBezTo>
                <a:lnTo>
                  <a:pt x="1898809" y="3788092"/>
                </a:lnTo>
                <a:lnTo>
                  <a:pt x="1898809" y="3797618"/>
                </a:lnTo>
                <a:cubicBezTo>
                  <a:pt x="850106" y="3797522"/>
                  <a:pt x="0" y="2947416"/>
                  <a:pt x="0" y="1898809"/>
                </a:cubicBezTo>
                <a:lnTo>
                  <a:pt x="9525" y="1898809"/>
                </a:lnTo>
                <a:lnTo>
                  <a:pt x="19050" y="1898809"/>
                </a:lnTo>
                <a:lnTo>
                  <a:pt x="9525" y="1898809"/>
                </a:lnTo>
                <a:lnTo>
                  <a:pt x="0" y="1898809"/>
                </a:lnTo>
                <a:moveTo>
                  <a:pt x="19050" y="1898809"/>
                </a:moveTo>
                <a:cubicBezTo>
                  <a:pt x="19050" y="1904048"/>
                  <a:pt x="14764" y="1908334"/>
                  <a:pt x="9525" y="1908334"/>
                </a:cubicBezTo>
                <a:cubicBezTo>
                  <a:pt x="4286" y="1908334"/>
                  <a:pt x="0" y="1904048"/>
                  <a:pt x="0" y="1898809"/>
                </a:cubicBezTo>
                <a:cubicBezTo>
                  <a:pt x="0" y="1893570"/>
                  <a:pt x="4286" y="1889284"/>
                  <a:pt x="9525" y="1889284"/>
                </a:cubicBezTo>
                <a:cubicBezTo>
                  <a:pt x="14764" y="1889284"/>
                  <a:pt x="19050" y="1893570"/>
                  <a:pt x="19050" y="1898809"/>
                </a:cubicBezTo>
                <a:cubicBezTo>
                  <a:pt x="19050" y="2936938"/>
                  <a:pt x="860679" y="3778472"/>
                  <a:pt x="1898809" y="3778472"/>
                </a:cubicBezTo>
                <a:cubicBezTo>
                  <a:pt x="2936938" y="3778472"/>
                  <a:pt x="3778568" y="2936843"/>
                  <a:pt x="3778568" y="1898714"/>
                </a:cubicBezTo>
                <a:cubicBezTo>
                  <a:pt x="3778568" y="860584"/>
                  <a:pt x="2936938" y="19050"/>
                  <a:pt x="1898809" y="19050"/>
                </a:cubicBezTo>
                <a:lnTo>
                  <a:pt x="1898809" y="9525"/>
                </a:lnTo>
                <a:lnTo>
                  <a:pt x="1898809" y="19050"/>
                </a:lnTo>
                <a:cubicBezTo>
                  <a:pt x="860679" y="19050"/>
                  <a:pt x="19050" y="860679"/>
                  <a:pt x="19050" y="1898809"/>
                </a:cubicBezTo>
                <a:close/>
              </a:path>
            </a:pathLst>
          </a:custGeom>
          <a:solidFill>
            <a:srgbClr val="FCD4C3">
              <a:alpha val="100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  <a:endParaRPr/>
          </a:p>
        </p:txBody>
      </p:sp>
      <p:pic>
        <p:nvPicPr>
          <p:cNvPr id="9" name="Picture 9"/>
          <p:cNvPicPr>
            <a:picLocks noChangeAspect="1"/>
          </p:cNvPicPr>
          <p:nvPr/>
        </p:nvPicPr>
        <p:blipFill>
          <a:blip r:embed="rId5"/>
          <a:srcRect/>
          <a:stretch>
            <a:fillRect/>
          </a:stretch>
        </p:blipFill>
        <p:spPr>
          <a:xfrm>
            <a:off x="4140200" y="3911600"/>
            <a:ext cx="3263900" cy="3263900"/>
          </a:xfrm>
          <a:prstGeom prst="rect">
            <a:avLst/>
          </a:prstGeom>
          <a:noFill/>
          <a:ln w="25400" cap="flat" cmpd="sng">
            <a:noFill/>
            <a:prstDash val="solid"/>
            <a:round/>
          </a:ln>
        </p:spPr>
      </p:pic>
      <p:sp>
        <p:nvSpPr>
          <p:cNvPr id="10" name="AutoShape 10"/>
          <p:cNvSpPr/>
          <p:nvPr/>
        </p:nvSpPr>
        <p:spPr>
          <a:xfrm>
            <a:off x="4368800" y="4864100"/>
            <a:ext cx="2794000" cy="469900"/>
          </a:xfrm>
          <a:prstGeom prst="rect">
            <a:avLst/>
          </a:prstGeom>
          <a:noFill/>
          <a:ln w="19050" cap="flat" cmpd="sng">
            <a:noFill/>
            <a:prstDash val="solid"/>
            <a:round/>
          </a:ln>
        </p:spPr>
        <p:txBody>
          <a:bodyPr vert="horz" wrap="square" lIns="0" tIns="0" rIns="0" bIns="0" rtlCol="0" anchor="t" anchorCtr="0"/>
          <a:lstStyle/>
          <a:p>
            <a:pPr indent="0" algn="ctr">
              <a:lnSpc>
                <a:spcPts val="3600"/>
              </a:lnSpc>
              <a:defRPr/>
            </a:pPr>
            <a:r>
              <a:rPr lang="en-US" sz="3000" b="1" i="0" u="none" strike="noStrike">
                <a:solidFill>
                  <a:srgbClr val="FFFFFF"/>
                </a:solidFill>
                <a:latin typeface="Noto Sans SC"/>
                <a:ea typeface="Noto Sans SC"/>
                <a:cs typeface="Noto Sans SC"/>
                <a:sym typeface="Noto Sans SC"/>
              </a:rPr>
              <a:t>核心规划</a:t>
            </a:r>
            <a:endParaRPr lang="en-US" sz="1100"/>
          </a:p>
        </p:txBody>
      </p:sp>
      <p:sp>
        <p:nvSpPr>
          <p:cNvPr id="11" name="AutoShape 11"/>
          <p:cNvSpPr/>
          <p:nvPr/>
        </p:nvSpPr>
        <p:spPr>
          <a:xfrm>
            <a:off x="4241800" y="5461000"/>
            <a:ext cx="3048000" cy="685800"/>
          </a:xfrm>
          <a:prstGeom prst="rect">
            <a:avLst/>
          </a:prstGeom>
          <a:noFill/>
          <a:ln w="19050" cap="flat" cmpd="sng">
            <a:noFill/>
            <a:prstDash val="solid"/>
            <a:round/>
          </a:ln>
        </p:spPr>
        <p:txBody>
          <a:bodyPr vert="horz" wrap="square" lIns="0" tIns="0" rIns="0" bIns="0" rtlCol="0" anchor="t" anchorCtr="0"/>
          <a:lstStyle/>
          <a:p>
            <a:pPr indent="0" algn="ctr">
              <a:lnSpc>
                <a:spcPts val="2400"/>
              </a:lnSpc>
              <a:defRPr/>
            </a:pPr>
            <a:r>
              <a:rPr lang="en-US" sz="1600" b="0" i="0" u="none" strike="noStrike">
                <a:solidFill>
                  <a:srgbClr val="FFFFFF"/>
                </a:solidFill>
                <a:latin typeface="Noto Sans SC"/>
                <a:ea typeface="Noto Sans SC"/>
                <a:cs typeface="Noto Sans SC"/>
                <a:sym typeface="Noto Sans SC"/>
              </a:rPr>
              <a:t>构建多元化收入与全龄用户覆盖</a:t>
            </a:r>
            <a:endParaRPr lang="en-US" sz="1100"/>
          </a:p>
        </p:txBody>
      </p:sp>
      <p:pic>
        <p:nvPicPr>
          <p:cNvPr id="12" name="Picture 12"/>
          <p:cNvPicPr>
            <a:picLocks noChangeAspect="1"/>
          </p:cNvPicPr>
          <p:nvPr/>
        </p:nvPicPr>
        <p:blipFill>
          <a:blip r:embed="rId6"/>
          <a:srcRect/>
          <a:stretch>
            <a:fillRect/>
          </a:stretch>
        </p:blipFill>
        <p:spPr>
          <a:xfrm>
            <a:off x="7277100" y="1727200"/>
            <a:ext cx="1104900" cy="1104900"/>
          </a:xfrm>
          <a:prstGeom prst="rect">
            <a:avLst/>
          </a:prstGeom>
          <a:noFill/>
          <a:ln w="25400" cap="flat" cmpd="sng">
            <a:noFill/>
            <a:prstDash val="solid"/>
            <a:round/>
          </a:ln>
        </p:spPr>
      </p:pic>
      <p:sp>
        <p:nvSpPr>
          <p:cNvPr id="13" name="AutoShape 13"/>
          <p:cNvSpPr/>
          <p:nvPr/>
        </p:nvSpPr>
        <p:spPr>
          <a:xfrm>
            <a:off x="7378700" y="2019300"/>
            <a:ext cx="901700" cy="508000"/>
          </a:xfrm>
          <a:prstGeom prst="rect">
            <a:avLst/>
          </a:prstGeom>
          <a:noFill/>
          <a:ln w="19050" cap="flat" cmpd="sng">
            <a:noFill/>
            <a:prstDash val="solid"/>
            <a:round/>
          </a:ln>
        </p:spPr>
        <p:txBody>
          <a:bodyPr vert="horz" wrap="square" lIns="0" tIns="0" rIns="0" bIns="0" rtlCol="0" anchor="t" anchorCtr="0"/>
          <a:lstStyle/>
          <a:p>
            <a:pPr indent="0" algn="ctr">
              <a:lnSpc>
                <a:spcPts val="3600"/>
              </a:lnSpc>
              <a:defRPr/>
            </a:pPr>
            <a:r>
              <a:rPr lang="en-US" sz="3000" b="1" i="0" u="none" strike="noStrike">
                <a:solidFill>
                  <a:srgbClr val="FFFFFF"/>
                </a:solidFill>
                <a:latin typeface="Montserrat"/>
                <a:ea typeface="Montserrat"/>
                <a:cs typeface="Montserrat"/>
                <a:sym typeface="Montserrat"/>
              </a:rPr>
              <a:t>01</a:t>
            </a:r>
            <a:endParaRPr lang="en-US" sz="1100"/>
          </a:p>
        </p:txBody>
      </p:sp>
      <p:sp>
        <p:nvSpPr>
          <p:cNvPr id="14" name="AutoShape 14"/>
          <p:cNvSpPr/>
          <p:nvPr/>
        </p:nvSpPr>
        <p:spPr>
          <a:xfrm>
            <a:off x="9232900" y="1727200"/>
            <a:ext cx="3556000" cy="482600"/>
          </a:xfrm>
          <a:prstGeom prst="rect">
            <a:avLst/>
          </a:prstGeom>
          <a:noFill/>
          <a:ln w="19050" cap="flat" cmpd="sng">
            <a:noFill/>
            <a:prstDash val="solid"/>
            <a:round/>
          </a:ln>
        </p:spPr>
        <p:txBody>
          <a:bodyPr vert="horz" wrap="square" lIns="0" tIns="0" rIns="0" bIns="0" rtlCol="0" anchor="t" anchorCtr="0"/>
          <a:lstStyle/>
          <a:p>
            <a:pPr indent="0" algn="l">
              <a:lnSpc>
                <a:spcPts val="3960"/>
              </a:lnSpc>
              <a:defRPr/>
            </a:pPr>
            <a:r>
              <a:rPr lang="en-US" sz="2600" b="1" i="0" u="none" strike="noStrike">
                <a:solidFill>
                  <a:srgbClr val="FF7A83"/>
                </a:solidFill>
                <a:latin typeface="Noto Sans SC"/>
                <a:ea typeface="Noto Sans SC"/>
                <a:cs typeface="Noto Sans SC"/>
                <a:sym typeface="Noto Sans SC"/>
              </a:rPr>
              <a:t>硬件销售 · 核心基石</a:t>
            </a:r>
            <a:endParaRPr lang="en-US" sz="1100"/>
          </a:p>
        </p:txBody>
      </p:sp>
      <p:sp>
        <p:nvSpPr>
          <p:cNvPr id="15" name="AutoShape 15"/>
          <p:cNvSpPr/>
          <p:nvPr/>
        </p:nvSpPr>
        <p:spPr>
          <a:xfrm>
            <a:off x="9232900" y="2413000"/>
            <a:ext cx="6121400" cy="889000"/>
          </a:xfrm>
          <a:prstGeom prst="rect">
            <a:avLst/>
          </a:prstGeom>
          <a:noFill/>
          <a:ln w="19050" cap="flat" cmpd="sng">
            <a:noFill/>
            <a:prstDash val="solid"/>
            <a:round/>
          </a:ln>
        </p:spPr>
        <p:txBody>
          <a:bodyPr vert="horz" wrap="square" lIns="0" tIns="0" rIns="0" bIns="0" rtlCol="0" anchor="t" anchorCtr="0"/>
          <a:lstStyle/>
          <a:p>
            <a:pPr indent="0" algn="just">
              <a:lnSpc>
                <a:spcPct val="108333"/>
              </a:lnSpc>
              <a:defRPr/>
            </a:pPr>
            <a:r>
              <a:rPr lang="en-US" sz="1400" b="0" i="0" u="none" strike="noStrike">
                <a:solidFill>
                  <a:srgbClr val="595959"/>
                </a:solidFill>
                <a:latin typeface="Noto Sans SC"/>
                <a:ea typeface="Noto Sans SC"/>
                <a:cs typeface="Noto Sans SC"/>
                <a:sym typeface="Noto Sans SC"/>
              </a:rPr>
              <a:t>项目初期的主要收入来源，产品精准定位中高端消费市场，以优质的工业设计和稳定的性能体验建立品牌壁垒。</a:t>
            </a:r>
            <a:endParaRPr lang="en-US" sz="1100"/>
          </a:p>
        </p:txBody>
      </p:sp>
      <p:sp>
        <p:nvSpPr>
          <p:cNvPr id="16" name="Freeform 16"/>
          <p:cNvSpPr/>
          <p:nvPr/>
        </p:nvSpPr>
        <p:spPr>
          <a:xfrm>
            <a:off x="8712200" y="3797300"/>
            <a:ext cx="1106614" cy="1106614"/>
          </a:xfrm>
          <a:custGeom>
            <a:avLst/>
            <a:gdLst/>
            <a:ahLst/>
            <a:cxnLst/>
            <a:rect l="l" t="t" r="r" b="b"/>
            <a:pathLst>
              <a:path w="1106614" h="1106614">
                <a:moveTo>
                  <a:pt x="0" y="553307"/>
                </a:moveTo>
                <a:cubicBezTo>
                  <a:pt x="0" y="858869"/>
                  <a:pt x="247745" y="1106614"/>
                  <a:pt x="553307" y="1106614"/>
                </a:cubicBezTo>
                <a:cubicBezTo>
                  <a:pt x="858869" y="1106614"/>
                  <a:pt x="1106614" y="858869"/>
                  <a:pt x="1106614" y="553307"/>
                </a:cubicBezTo>
                <a:cubicBezTo>
                  <a:pt x="1106614" y="247745"/>
                  <a:pt x="858964" y="0"/>
                  <a:pt x="553307" y="0"/>
                </a:cubicBezTo>
                <a:cubicBezTo>
                  <a:pt x="247650" y="0"/>
                  <a:pt x="0" y="247745"/>
                  <a:pt x="0" y="553307"/>
                </a:cubicBezTo>
                <a:close/>
              </a:path>
            </a:pathLst>
          </a:custGeom>
          <a:solidFill>
            <a:srgbClr val="FFFFFF">
              <a:alpha val="100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  <a:endParaRPr/>
          </a:p>
        </p:txBody>
      </p:sp>
      <p:sp>
        <p:nvSpPr>
          <p:cNvPr id="17" name="Freeform 17"/>
          <p:cNvSpPr/>
          <p:nvPr/>
        </p:nvSpPr>
        <p:spPr>
          <a:xfrm>
            <a:off x="8699500" y="3784600"/>
            <a:ext cx="1125664" cy="1125664"/>
          </a:xfrm>
          <a:custGeom>
            <a:avLst/>
            <a:gdLst/>
            <a:ahLst/>
            <a:cxnLst/>
            <a:rect l="l" t="t" r="r" b="b"/>
            <a:pathLst>
              <a:path w="1125664" h="1125664">
                <a:moveTo>
                  <a:pt x="19050" y="562832"/>
                </a:moveTo>
                <a:cubicBezTo>
                  <a:pt x="19050" y="863156"/>
                  <a:pt x="262509" y="1106614"/>
                  <a:pt x="562832" y="1106614"/>
                </a:cubicBezTo>
                <a:lnTo>
                  <a:pt x="562832" y="1116140"/>
                </a:lnTo>
                <a:lnTo>
                  <a:pt x="562832" y="1106614"/>
                </a:lnTo>
                <a:lnTo>
                  <a:pt x="562832" y="1116140"/>
                </a:lnTo>
                <a:lnTo>
                  <a:pt x="562832" y="1106614"/>
                </a:lnTo>
                <a:cubicBezTo>
                  <a:pt x="863156" y="1106614"/>
                  <a:pt x="1106614" y="863156"/>
                  <a:pt x="1106614" y="562832"/>
                </a:cubicBezTo>
                <a:lnTo>
                  <a:pt x="1116140" y="562832"/>
                </a:lnTo>
                <a:lnTo>
                  <a:pt x="1106614" y="562832"/>
                </a:lnTo>
                <a:cubicBezTo>
                  <a:pt x="1106710" y="262509"/>
                  <a:pt x="863156" y="19050"/>
                  <a:pt x="562832" y="19050"/>
                </a:cubicBezTo>
                <a:lnTo>
                  <a:pt x="562832" y="9525"/>
                </a:lnTo>
                <a:lnTo>
                  <a:pt x="562832" y="19050"/>
                </a:lnTo>
                <a:cubicBezTo>
                  <a:pt x="262509" y="19050"/>
                  <a:pt x="19050" y="262509"/>
                  <a:pt x="19050" y="562832"/>
                </a:cubicBezTo>
                <a:cubicBezTo>
                  <a:pt x="19050" y="568071"/>
                  <a:pt x="14764" y="572357"/>
                  <a:pt x="9525" y="572357"/>
                </a:cubicBezTo>
                <a:cubicBezTo>
                  <a:pt x="4286" y="572357"/>
                  <a:pt x="0" y="568071"/>
                  <a:pt x="0" y="562832"/>
                </a:cubicBezTo>
                <a:lnTo>
                  <a:pt x="9525" y="562832"/>
                </a:lnTo>
                <a:lnTo>
                  <a:pt x="19050" y="562832"/>
                </a:lnTo>
                <a:moveTo>
                  <a:pt x="0" y="562832"/>
                </a:moveTo>
                <a:cubicBezTo>
                  <a:pt x="0" y="557594"/>
                  <a:pt x="4286" y="553307"/>
                  <a:pt x="9525" y="553307"/>
                </a:cubicBezTo>
                <a:cubicBezTo>
                  <a:pt x="14764" y="553307"/>
                  <a:pt x="19050" y="557594"/>
                  <a:pt x="19050" y="562832"/>
                </a:cubicBezTo>
                <a:lnTo>
                  <a:pt x="9525" y="562832"/>
                </a:lnTo>
                <a:lnTo>
                  <a:pt x="0" y="562832"/>
                </a:lnTo>
                <a:cubicBezTo>
                  <a:pt x="0" y="252032"/>
                  <a:pt x="252032" y="0"/>
                  <a:pt x="562832" y="0"/>
                </a:cubicBezTo>
                <a:cubicBezTo>
                  <a:pt x="873633" y="0"/>
                  <a:pt x="1125664" y="252032"/>
                  <a:pt x="1125664" y="562832"/>
                </a:cubicBezTo>
                <a:cubicBezTo>
                  <a:pt x="1125664" y="873633"/>
                  <a:pt x="873633" y="1125664"/>
                  <a:pt x="562832" y="1125664"/>
                </a:cubicBezTo>
                <a:cubicBezTo>
                  <a:pt x="252032" y="1125664"/>
                  <a:pt x="0" y="873728"/>
                  <a:pt x="0" y="562832"/>
                </a:cubicBezTo>
                <a:close/>
              </a:path>
            </a:pathLst>
          </a:custGeom>
          <a:solidFill>
            <a:srgbClr val="FF7A83">
              <a:alpha val="100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  <a:endParaRPr/>
          </a:p>
        </p:txBody>
      </p:sp>
      <p:sp>
        <p:nvSpPr>
          <p:cNvPr id="18" name="AutoShape 18"/>
          <p:cNvSpPr/>
          <p:nvPr/>
        </p:nvSpPr>
        <p:spPr>
          <a:xfrm>
            <a:off x="8813800" y="4102100"/>
            <a:ext cx="901700" cy="508000"/>
          </a:xfrm>
          <a:prstGeom prst="rect">
            <a:avLst/>
          </a:prstGeom>
          <a:noFill/>
          <a:ln w="19050" cap="flat" cmpd="sng">
            <a:noFill/>
            <a:prstDash val="solid"/>
            <a:round/>
          </a:ln>
        </p:spPr>
        <p:txBody>
          <a:bodyPr vert="horz" wrap="square" lIns="0" tIns="0" rIns="0" bIns="0" rtlCol="0" anchor="t" anchorCtr="0"/>
          <a:lstStyle/>
          <a:p>
            <a:pPr indent="0" algn="ctr">
              <a:lnSpc>
                <a:spcPts val="3600"/>
              </a:lnSpc>
              <a:defRPr/>
            </a:pPr>
            <a:r>
              <a:rPr lang="en-US" sz="3000" b="1" i="0" u="none" strike="noStrike">
                <a:solidFill>
                  <a:srgbClr val="FFFFFF"/>
                </a:solidFill>
                <a:latin typeface="Montserrat"/>
                <a:ea typeface="Montserrat"/>
                <a:cs typeface="Montserrat"/>
                <a:sym typeface="Montserrat"/>
              </a:rPr>
              <a:t>02</a:t>
            </a:r>
            <a:endParaRPr lang="en-US" sz="1100"/>
          </a:p>
        </p:txBody>
      </p:sp>
      <p:sp>
        <p:nvSpPr>
          <p:cNvPr id="19" name="AutoShape 19"/>
          <p:cNvSpPr/>
          <p:nvPr/>
        </p:nvSpPr>
        <p:spPr>
          <a:xfrm>
            <a:off x="10655300" y="3810000"/>
            <a:ext cx="3556000" cy="482600"/>
          </a:xfrm>
          <a:prstGeom prst="rect">
            <a:avLst/>
          </a:prstGeom>
          <a:noFill/>
          <a:ln w="19050" cap="flat" cmpd="sng">
            <a:noFill/>
            <a:prstDash val="solid"/>
            <a:round/>
          </a:ln>
        </p:spPr>
        <p:txBody>
          <a:bodyPr vert="horz" wrap="square" lIns="0" tIns="0" rIns="0" bIns="0" rtlCol="0" anchor="t" anchorCtr="0"/>
          <a:lstStyle/>
          <a:p>
            <a:pPr indent="0" algn="l">
              <a:lnSpc>
                <a:spcPts val="3960"/>
              </a:lnSpc>
              <a:defRPr/>
            </a:pPr>
            <a:r>
              <a:rPr lang="en-US" sz="2600" b="1" i="0" u="none" strike="noStrike">
                <a:solidFill>
                  <a:srgbClr val="FF7A83"/>
                </a:solidFill>
                <a:latin typeface="Noto Sans SC"/>
                <a:ea typeface="Noto Sans SC"/>
                <a:cs typeface="Noto Sans SC"/>
                <a:sym typeface="Noto Sans SC"/>
              </a:rPr>
              <a:t>增值服务 · 持续增长</a:t>
            </a:r>
            <a:endParaRPr lang="en-US" sz="1100"/>
          </a:p>
        </p:txBody>
      </p:sp>
      <p:sp>
        <p:nvSpPr>
          <p:cNvPr id="20" name="AutoShape 20"/>
          <p:cNvSpPr/>
          <p:nvPr/>
        </p:nvSpPr>
        <p:spPr>
          <a:xfrm>
            <a:off x="10655300" y="4445000"/>
            <a:ext cx="6121400" cy="889000"/>
          </a:xfrm>
          <a:prstGeom prst="rect">
            <a:avLst/>
          </a:prstGeom>
          <a:noFill/>
          <a:ln w="19050" cap="flat" cmpd="sng">
            <a:noFill/>
            <a:prstDash val="solid"/>
            <a:round/>
          </a:ln>
        </p:spPr>
        <p:txBody>
          <a:bodyPr vert="horz" wrap="square" lIns="0" tIns="0" rIns="0" bIns="0" rtlCol="0" anchor="t" anchorCtr="0"/>
          <a:lstStyle/>
          <a:p>
            <a:pPr indent="0" algn="just">
              <a:lnSpc>
                <a:spcPct val="108333"/>
              </a:lnSpc>
              <a:defRPr/>
            </a:pPr>
            <a:r>
              <a:rPr lang="en-US" sz="1400" b="0" i="0" u="none" strike="noStrike">
                <a:solidFill>
                  <a:srgbClr val="595959"/>
                </a:solidFill>
                <a:latin typeface="Noto Sans SC"/>
                <a:ea typeface="Noto Sans SC"/>
                <a:cs typeface="Noto Sans SC"/>
                <a:sym typeface="Noto Sans SC"/>
              </a:rPr>
              <a:t>未来的核心增长点。通过高级技能包订阅、长期健康数据存储与深度分析报告等付费服务，挖掘用户全生命周期价值。</a:t>
            </a:r>
            <a:endParaRPr lang="en-US" sz="1100"/>
          </a:p>
        </p:txBody>
      </p:sp>
      <p:pic>
        <p:nvPicPr>
          <p:cNvPr id="21" name="Picture 21"/>
          <p:cNvPicPr>
            <a:picLocks noChangeAspect="1"/>
          </p:cNvPicPr>
          <p:nvPr/>
        </p:nvPicPr>
        <p:blipFill>
          <a:blip r:embed="rId7"/>
          <a:srcRect/>
          <a:stretch>
            <a:fillRect/>
          </a:stretch>
        </p:blipFill>
        <p:spPr>
          <a:xfrm>
            <a:off x="8712200" y="5880100"/>
            <a:ext cx="1104900" cy="1104900"/>
          </a:xfrm>
          <a:prstGeom prst="rect">
            <a:avLst/>
          </a:prstGeom>
          <a:noFill/>
          <a:ln w="25400" cap="flat" cmpd="sng">
            <a:noFill/>
            <a:prstDash val="solid"/>
            <a:round/>
          </a:ln>
        </p:spPr>
      </p:pic>
      <p:sp>
        <p:nvSpPr>
          <p:cNvPr id="22" name="AutoShape 22"/>
          <p:cNvSpPr/>
          <p:nvPr/>
        </p:nvSpPr>
        <p:spPr>
          <a:xfrm>
            <a:off x="8813800" y="6172200"/>
            <a:ext cx="901700" cy="508000"/>
          </a:xfrm>
          <a:prstGeom prst="rect">
            <a:avLst/>
          </a:prstGeom>
          <a:noFill/>
          <a:ln w="19050" cap="flat" cmpd="sng">
            <a:noFill/>
            <a:prstDash val="solid"/>
            <a:round/>
          </a:ln>
        </p:spPr>
        <p:txBody>
          <a:bodyPr vert="horz" wrap="square" lIns="0" tIns="0" rIns="0" bIns="0" rtlCol="0" anchor="t" anchorCtr="0"/>
          <a:lstStyle/>
          <a:p>
            <a:pPr indent="0" algn="ctr">
              <a:lnSpc>
                <a:spcPts val="3600"/>
              </a:lnSpc>
              <a:defRPr/>
            </a:pPr>
            <a:r>
              <a:rPr lang="en-US" sz="3000" b="1" i="0" u="none" strike="noStrike">
                <a:solidFill>
                  <a:srgbClr val="FFFFFF"/>
                </a:solidFill>
                <a:latin typeface="Montserrat"/>
                <a:ea typeface="Montserrat"/>
                <a:cs typeface="Montserrat"/>
                <a:sym typeface="Montserrat"/>
              </a:rPr>
              <a:t>03</a:t>
            </a:r>
            <a:endParaRPr lang="en-US" sz="1100"/>
          </a:p>
        </p:txBody>
      </p:sp>
      <p:sp>
        <p:nvSpPr>
          <p:cNvPr id="23" name="AutoShape 23"/>
          <p:cNvSpPr/>
          <p:nvPr/>
        </p:nvSpPr>
        <p:spPr>
          <a:xfrm>
            <a:off x="10655300" y="5880100"/>
            <a:ext cx="3556000" cy="482600"/>
          </a:xfrm>
          <a:prstGeom prst="rect">
            <a:avLst/>
          </a:prstGeom>
          <a:noFill/>
          <a:ln w="19050" cap="flat" cmpd="sng">
            <a:noFill/>
            <a:prstDash val="solid"/>
            <a:round/>
          </a:ln>
        </p:spPr>
        <p:txBody>
          <a:bodyPr vert="horz" wrap="square" lIns="0" tIns="0" rIns="0" bIns="0" rtlCol="0" anchor="t" anchorCtr="0"/>
          <a:lstStyle/>
          <a:p>
            <a:pPr indent="0" algn="l">
              <a:lnSpc>
                <a:spcPts val="3960"/>
              </a:lnSpc>
              <a:defRPr/>
            </a:pPr>
            <a:r>
              <a:rPr lang="en-US" sz="2600" b="1" i="0" u="none" strike="noStrike">
                <a:solidFill>
                  <a:srgbClr val="FF7A83"/>
                </a:solidFill>
                <a:latin typeface="Noto Sans SC"/>
                <a:ea typeface="Noto Sans SC"/>
                <a:cs typeface="Noto Sans SC"/>
                <a:sym typeface="Noto Sans SC"/>
              </a:rPr>
              <a:t>企业方案 · B端拓展</a:t>
            </a:r>
            <a:endParaRPr lang="en-US" sz="1100"/>
          </a:p>
        </p:txBody>
      </p:sp>
      <p:sp>
        <p:nvSpPr>
          <p:cNvPr id="24" name="AutoShape 24"/>
          <p:cNvSpPr/>
          <p:nvPr/>
        </p:nvSpPr>
        <p:spPr>
          <a:xfrm>
            <a:off x="10655300" y="6540500"/>
            <a:ext cx="6121400" cy="889000"/>
          </a:xfrm>
          <a:prstGeom prst="rect">
            <a:avLst/>
          </a:prstGeom>
          <a:noFill/>
          <a:ln w="19050" cap="flat" cmpd="sng">
            <a:noFill/>
            <a:prstDash val="solid"/>
            <a:round/>
          </a:ln>
        </p:spPr>
        <p:txBody>
          <a:bodyPr vert="horz" wrap="square" lIns="0" tIns="0" rIns="0" bIns="0" rtlCol="0" anchor="t" anchorCtr="0"/>
          <a:lstStyle/>
          <a:p>
            <a:pPr indent="0" algn="just">
              <a:lnSpc>
                <a:spcPct val="108333"/>
              </a:lnSpc>
              <a:defRPr/>
            </a:pPr>
            <a:r>
              <a:rPr lang="en-US" sz="1400" b="0" i="0" u="none" strike="noStrike">
                <a:solidFill>
                  <a:srgbClr val="595959"/>
                </a:solidFill>
                <a:latin typeface="Noto Sans SC"/>
                <a:ea typeface="Noto Sans SC"/>
                <a:cs typeface="Noto Sans SC"/>
                <a:sym typeface="Noto Sans SC"/>
              </a:rPr>
              <a:t>业务横向延伸。为养老机构、高端服务式公寓等B端客户，提供包含硬件部署与软件支持的一站式智慧生活解决方案。</a:t>
            </a:r>
            <a:endParaRPr lang="en-US" sz="1100"/>
          </a:p>
        </p:txBody>
      </p:sp>
      <p:sp>
        <p:nvSpPr>
          <p:cNvPr id="25" name="Freeform 25"/>
          <p:cNvSpPr/>
          <p:nvPr/>
        </p:nvSpPr>
        <p:spPr>
          <a:xfrm>
            <a:off x="7277100" y="7950200"/>
            <a:ext cx="1106614" cy="1106614"/>
          </a:xfrm>
          <a:custGeom>
            <a:avLst/>
            <a:gdLst/>
            <a:ahLst/>
            <a:cxnLst/>
            <a:rect l="l" t="t" r="r" b="b"/>
            <a:pathLst>
              <a:path w="1106614" h="1106614">
                <a:moveTo>
                  <a:pt x="0" y="553307"/>
                </a:moveTo>
                <a:cubicBezTo>
                  <a:pt x="0" y="858869"/>
                  <a:pt x="247745" y="1106614"/>
                  <a:pt x="553307" y="1106614"/>
                </a:cubicBezTo>
                <a:cubicBezTo>
                  <a:pt x="858869" y="1106614"/>
                  <a:pt x="1106614" y="858869"/>
                  <a:pt x="1106614" y="553307"/>
                </a:cubicBezTo>
                <a:cubicBezTo>
                  <a:pt x="1106614" y="247745"/>
                  <a:pt x="858964" y="0"/>
                  <a:pt x="553307" y="0"/>
                </a:cubicBezTo>
                <a:cubicBezTo>
                  <a:pt x="247650" y="0"/>
                  <a:pt x="0" y="247745"/>
                  <a:pt x="0" y="553307"/>
                </a:cubicBezTo>
                <a:close/>
              </a:path>
            </a:pathLst>
          </a:custGeom>
          <a:solidFill>
            <a:srgbClr val="FFFFFF">
              <a:alpha val="100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  <a:endParaRPr/>
          </a:p>
        </p:txBody>
      </p:sp>
      <p:sp>
        <p:nvSpPr>
          <p:cNvPr id="26" name="Freeform 26"/>
          <p:cNvSpPr/>
          <p:nvPr/>
        </p:nvSpPr>
        <p:spPr>
          <a:xfrm>
            <a:off x="7264400" y="7937500"/>
            <a:ext cx="1125664" cy="1125664"/>
          </a:xfrm>
          <a:custGeom>
            <a:avLst/>
            <a:gdLst/>
            <a:ahLst/>
            <a:cxnLst/>
            <a:rect l="l" t="t" r="r" b="b"/>
            <a:pathLst>
              <a:path w="1125664" h="1125664">
                <a:moveTo>
                  <a:pt x="19050" y="562832"/>
                </a:moveTo>
                <a:cubicBezTo>
                  <a:pt x="19050" y="863156"/>
                  <a:pt x="262509" y="1106614"/>
                  <a:pt x="562832" y="1106614"/>
                </a:cubicBezTo>
                <a:lnTo>
                  <a:pt x="562832" y="1116140"/>
                </a:lnTo>
                <a:lnTo>
                  <a:pt x="562832" y="1106614"/>
                </a:lnTo>
                <a:lnTo>
                  <a:pt x="562832" y="1116140"/>
                </a:lnTo>
                <a:lnTo>
                  <a:pt x="562832" y="1106614"/>
                </a:lnTo>
                <a:cubicBezTo>
                  <a:pt x="863156" y="1106614"/>
                  <a:pt x="1106614" y="863156"/>
                  <a:pt x="1106614" y="562832"/>
                </a:cubicBezTo>
                <a:lnTo>
                  <a:pt x="1116140" y="562832"/>
                </a:lnTo>
                <a:lnTo>
                  <a:pt x="1106614" y="562832"/>
                </a:lnTo>
                <a:cubicBezTo>
                  <a:pt x="1106710" y="262509"/>
                  <a:pt x="863156" y="19050"/>
                  <a:pt x="562832" y="19050"/>
                </a:cubicBezTo>
                <a:lnTo>
                  <a:pt x="562832" y="9525"/>
                </a:lnTo>
                <a:lnTo>
                  <a:pt x="562832" y="19050"/>
                </a:lnTo>
                <a:cubicBezTo>
                  <a:pt x="262509" y="19050"/>
                  <a:pt x="19050" y="262509"/>
                  <a:pt x="19050" y="562832"/>
                </a:cubicBezTo>
                <a:cubicBezTo>
                  <a:pt x="19050" y="568071"/>
                  <a:pt x="14764" y="572357"/>
                  <a:pt x="9525" y="572357"/>
                </a:cubicBezTo>
                <a:cubicBezTo>
                  <a:pt x="4286" y="572357"/>
                  <a:pt x="0" y="568071"/>
                  <a:pt x="0" y="562832"/>
                </a:cubicBezTo>
                <a:lnTo>
                  <a:pt x="9525" y="562832"/>
                </a:lnTo>
                <a:lnTo>
                  <a:pt x="19050" y="562832"/>
                </a:lnTo>
                <a:moveTo>
                  <a:pt x="0" y="562832"/>
                </a:moveTo>
                <a:cubicBezTo>
                  <a:pt x="0" y="557594"/>
                  <a:pt x="4286" y="553307"/>
                  <a:pt x="9525" y="553307"/>
                </a:cubicBezTo>
                <a:cubicBezTo>
                  <a:pt x="14764" y="553307"/>
                  <a:pt x="19050" y="557594"/>
                  <a:pt x="19050" y="562832"/>
                </a:cubicBezTo>
                <a:lnTo>
                  <a:pt x="9525" y="562832"/>
                </a:lnTo>
                <a:lnTo>
                  <a:pt x="0" y="562832"/>
                </a:lnTo>
                <a:cubicBezTo>
                  <a:pt x="0" y="252032"/>
                  <a:pt x="252032" y="0"/>
                  <a:pt x="562832" y="0"/>
                </a:cubicBezTo>
                <a:cubicBezTo>
                  <a:pt x="873633" y="0"/>
                  <a:pt x="1125664" y="252032"/>
                  <a:pt x="1125664" y="562832"/>
                </a:cubicBezTo>
                <a:cubicBezTo>
                  <a:pt x="1125664" y="873633"/>
                  <a:pt x="873633" y="1125664"/>
                  <a:pt x="562832" y="1125664"/>
                </a:cubicBezTo>
                <a:cubicBezTo>
                  <a:pt x="252032" y="1125664"/>
                  <a:pt x="0" y="873728"/>
                  <a:pt x="0" y="562832"/>
                </a:cubicBezTo>
                <a:close/>
              </a:path>
            </a:pathLst>
          </a:custGeom>
          <a:solidFill>
            <a:srgbClr val="FF7A83">
              <a:alpha val="100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  <a:endParaRPr/>
          </a:p>
        </p:txBody>
      </p:sp>
      <p:sp>
        <p:nvSpPr>
          <p:cNvPr id="27" name="AutoShape 27"/>
          <p:cNvSpPr/>
          <p:nvPr/>
        </p:nvSpPr>
        <p:spPr>
          <a:xfrm>
            <a:off x="7378700" y="8255000"/>
            <a:ext cx="901700" cy="508000"/>
          </a:xfrm>
          <a:prstGeom prst="rect">
            <a:avLst/>
          </a:prstGeom>
          <a:noFill/>
          <a:ln w="19050" cap="flat" cmpd="sng">
            <a:noFill/>
            <a:prstDash val="solid"/>
            <a:round/>
          </a:ln>
        </p:spPr>
        <p:txBody>
          <a:bodyPr vert="horz" wrap="square" lIns="0" tIns="0" rIns="0" bIns="0" rtlCol="0" anchor="t" anchorCtr="0"/>
          <a:lstStyle/>
          <a:p>
            <a:pPr indent="0" algn="ctr">
              <a:lnSpc>
                <a:spcPts val="3600"/>
              </a:lnSpc>
              <a:defRPr/>
            </a:pPr>
            <a:r>
              <a:rPr lang="en-US" sz="3000" b="1" i="0" u="none" strike="noStrike">
                <a:solidFill>
                  <a:srgbClr val="FFFFFF"/>
                </a:solidFill>
                <a:latin typeface="Montserrat"/>
                <a:ea typeface="Montserrat"/>
                <a:cs typeface="Montserrat"/>
                <a:sym typeface="Montserrat"/>
              </a:rPr>
              <a:t>04</a:t>
            </a:r>
            <a:endParaRPr lang="en-US" sz="1100"/>
          </a:p>
        </p:txBody>
      </p:sp>
      <p:sp>
        <p:nvSpPr>
          <p:cNvPr id="28" name="AutoShape 28"/>
          <p:cNvSpPr/>
          <p:nvPr/>
        </p:nvSpPr>
        <p:spPr>
          <a:xfrm>
            <a:off x="9232900" y="7962900"/>
            <a:ext cx="3556000" cy="482600"/>
          </a:xfrm>
          <a:prstGeom prst="rect">
            <a:avLst/>
          </a:prstGeom>
          <a:noFill/>
          <a:ln w="19050" cap="flat" cmpd="sng">
            <a:noFill/>
            <a:prstDash val="solid"/>
            <a:round/>
          </a:ln>
        </p:spPr>
        <p:txBody>
          <a:bodyPr vert="horz" wrap="square" lIns="0" tIns="0" rIns="0" bIns="0" rtlCol="0" anchor="t" anchorCtr="0"/>
          <a:lstStyle/>
          <a:p>
            <a:pPr indent="0" algn="l">
              <a:lnSpc>
                <a:spcPts val="3960"/>
              </a:lnSpc>
              <a:defRPr/>
            </a:pPr>
            <a:r>
              <a:rPr lang="en-US" sz="2600" b="1" i="0" u="none" strike="noStrike">
                <a:solidFill>
                  <a:srgbClr val="FF7A83"/>
                </a:solidFill>
                <a:latin typeface="Noto Sans SC"/>
                <a:ea typeface="Noto Sans SC"/>
                <a:cs typeface="Noto Sans SC"/>
                <a:sym typeface="Noto Sans SC"/>
              </a:rPr>
              <a:t>目标用户 · 分阶段渗透</a:t>
            </a:r>
            <a:endParaRPr lang="en-US" sz="1100"/>
          </a:p>
        </p:txBody>
      </p:sp>
      <p:sp>
        <p:nvSpPr>
          <p:cNvPr id="29" name="AutoShape 29"/>
          <p:cNvSpPr/>
          <p:nvPr/>
        </p:nvSpPr>
        <p:spPr>
          <a:xfrm>
            <a:off x="9232900" y="8636000"/>
            <a:ext cx="6121400" cy="1016000"/>
          </a:xfrm>
          <a:prstGeom prst="rect">
            <a:avLst/>
          </a:prstGeom>
          <a:noFill/>
          <a:ln w="19050" cap="flat" cmpd="sng">
            <a:noFill/>
            <a:prstDash val="solid"/>
            <a:round/>
          </a:ln>
        </p:spPr>
        <p:txBody>
          <a:bodyPr vert="horz" wrap="square" lIns="0" tIns="0" rIns="0" bIns="0" rtlCol="0" anchor="t" anchorCtr="0"/>
          <a:lstStyle/>
          <a:p>
            <a:pPr indent="0" algn="just">
              <a:lnSpc>
                <a:spcPct val="108333"/>
              </a:lnSpc>
              <a:defRPr/>
            </a:pPr>
            <a:r>
              <a:rPr lang="en-US" sz="1400" b="0" i="0" u="none" strike="noStrike" dirty="0">
                <a:solidFill>
                  <a:srgbClr val="595959"/>
                </a:solidFill>
                <a:latin typeface="Noto Sans SC"/>
                <a:ea typeface="Noto Sans SC"/>
                <a:cs typeface="Noto Sans SC"/>
                <a:sym typeface="Noto Sans SC"/>
              </a:rPr>
              <a:t>① </a:t>
            </a:r>
            <a:r>
              <a:rPr lang="en-US" sz="1400" b="0" i="0" u="none" strike="noStrike" dirty="0" err="1">
                <a:solidFill>
                  <a:srgbClr val="595959"/>
                </a:solidFill>
                <a:latin typeface="Noto Sans SC"/>
                <a:ea typeface="Noto Sans SC"/>
                <a:cs typeface="Noto Sans SC"/>
                <a:sym typeface="Noto Sans SC"/>
              </a:rPr>
              <a:t>第一阶段：聚焦有老人的家庭，解决照护刚需</a:t>
            </a:r>
            <a:r>
              <a:rPr lang="en-US" sz="1400" b="0" i="0" u="none" strike="noStrike" dirty="0">
                <a:solidFill>
                  <a:srgbClr val="595959"/>
                </a:solidFill>
                <a:latin typeface="Noto Sans SC"/>
                <a:ea typeface="Noto Sans SC"/>
                <a:cs typeface="Noto Sans SC"/>
                <a:sym typeface="Noto Sans SC"/>
              </a:rPr>
              <a:t>；② </a:t>
            </a:r>
            <a:r>
              <a:rPr lang="en-US" sz="1400" b="0" i="0" u="none" strike="noStrike" dirty="0" err="1">
                <a:solidFill>
                  <a:srgbClr val="595959"/>
                </a:solidFill>
                <a:latin typeface="Noto Sans SC"/>
                <a:ea typeface="Noto Sans SC"/>
                <a:cs typeface="Noto Sans SC"/>
                <a:sym typeface="Noto Sans SC"/>
              </a:rPr>
              <a:t>第二阶段：拓展至有孩年轻家庭，提供智能儿童陪伴助手</a:t>
            </a:r>
            <a:r>
              <a:rPr lang="en-US" sz="1400" b="0" i="0" u="none" strike="noStrike" dirty="0">
                <a:solidFill>
                  <a:srgbClr val="595959"/>
                </a:solidFill>
                <a:latin typeface="Noto Sans SC"/>
                <a:ea typeface="Noto Sans SC"/>
                <a:cs typeface="Noto Sans SC"/>
                <a:sym typeface="Noto Sans SC"/>
              </a:rPr>
              <a:t>；③ </a:t>
            </a:r>
            <a:r>
              <a:rPr lang="en-US" sz="1400" b="0" i="0" u="none" strike="noStrike" dirty="0" err="1">
                <a:solidFill>
                  <a:srgbClr val="595959"/>
                </a:solidFill>
                <a:latin typeface="Noto Sans SC"/>
                <a:ea typeface="Noto Sans SC"/>
                <a:cs typeface="Noto Sans SC"/>
                <a:sym typeface="Noto Sans SC"/>
              </a:rPr>
              <a:t>第三阶段：全面覆盖所有追求高品质生活的家庭</a:t>
            </a:r>
            <a:r>
              <a:rPr lang="en-US" sz="1400" b="0" i="0" u="none" strike="noStrike" dirty="0">
                <a:solidFill>
                  <a:srgbClr val="595959"/>
                </a:solidFill>
                <a:latin typeface="Noto Sans SC"/>
                <a:ea typeface="Noto Sans SC"/>
                <a:cs typeface="Noto Sans SC"/>
                <a:sym typeface="Noto Sans SC"/>
              </a:rPr>
              <a:t>。</a:t>
            </a:r>
            <a:endParaRPr lang="en-US" sz="1100" dirty="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>
            <a:alpha val="100000"/>
          </a:srgb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2"/>
          <p:cNvPicPr>
            <a:picLocks noChangeAspect="1"/>
          </p:cNvPicPr>
          <p:nvPr/>
        </p:nvPicPr>
        <p:blipFill>
          <a:blip r:embed="rId3"/>
          <a:srcRect/>
          <a:stretch>
            <a:fillRect/>
          </a:stretch>
        </p:blipFill>
        <p:spPr>
          <a:xfrm>
            <a:off x="10020300" y="-12700"/>
            <a:ext cx="8280400" cy="9372600"/>
          </a:xfrm>
          <a:prstGeom prst="rect">
            <a:avLst/>
          </a:prstGeom>
          <a:noFill/>
          <a:ln w="25400" cap="flat" cmpd="sng">
            <a:noFill/>
            <a:prstDash val="solid"/>
            <a:round/>
          </a:ln>
        </p:spPr>
      </p:pic>
      <p:pic>
        <p:nvPicPr>
          <p:cNvPr id="3" name="Picture 3"/>
          <p:cNvPicPr>
            <a:picLocks noChangeAspect="1"/>
          </p:cNvPicPr>
          <p:nvPr/>
        </p:nvPicPr>
        <p:blipFill>
          <a:blip r:embed="rId4"/>
          <a:srcRect/>
          <a:stretch>
            <a:fillRect/>
          </a:stretch>
        </p:blipFill>
        <p:spPr>
          <a:xfrm>
            <a:off x="11201400" y="0"/>
            <a:ext cx="7086600" cy="8318500"/>
          </a:xfrm>
          <a:prstGeom prst="rect">
            <a:avLst/>
          </a:prstGeom>
          <a:noFill/>
          <a:ln w="25400" cap="flat" cmpd="sng">
            <a:noFill/>
            <a:prstDash val="solid"/>
            <a:round/>
          </a:ln>
        </p:spPr>
      </p:pic>
      <p:sp>
        <p:nvSpPr>
          <p:cNvPr id="4" name="AutoShape 4"/>
          <p:cNvSpPr/>
          <p:nvPr/>
        </p:nvSpPr>
        <p:spPr>
          <a:xfrm>
            <a:off x="1447800" y="3784600"/>
            <a:ext cx="10782300" cy="1384300"/>
          </a:xfrm>
          <a:prstGeom prst="rect">
            <a:avLst/>
          </a:prstGeom>
          <a:noFill/>
          <a:ln w="19050" cap="flat" cmpd="sng">
            <a:noFill/>
            <a:prstDash val="solid"/>
            <a:round/>
          </a:ln>
        </p:spPr>
        <p:txBody>
          <a:bodyPr vert="horz" wrap="square" lIns="0" tIns="0" rIns="0" bIns="0" rtlCol="0" anchor="t" anchorCtr="0"/>
          <a:lstStyle/>
          <a:p>
            <a:pPr indent="0" algn="l">
              <a:lnSpc>
                <a:spcPts val="10800"/>
              </a:lnSpc>
              <a:defRPr/>
            </a:pPr>
            <a:r>
              <a:rPr lang="en-US" sz="9000" b="0" i="0" u="none" strike="noStrike">
                <a:solidFill>
                  <a:srgbClr val="FFB458"/>
                </a:solidFill>
                <a:latin typeface="Noto Sans SC"/>
                <a:ea typeface="Noto Sans SC"/>
                <a:cs typeface="Noto Sans SC"/>
                <a:sym typeface="Noto Sans SC"/>
              </a:rPr>
              <a:t>发展规划</a:t>
            </a:r>
            <a:endParaRPr lang="en-US" sz="1100"/>
          </a:p>
        </p:txBody>
      </p:sp>
      <p:pic>
        <p:nvPicPr>
          <p:cNvPr id="5" name="Picture 5"/>
          <p:cNvPicPr>
            <a:picLocks noChangeAspect="1"/>
          </p:cNvPicPr>
          <p:nvPr/>
        </p:nvPicPr>
        <p:blipFill>
          <a:blip r:embed="rId5"/>
          <a:srcRect/>
          <a:stretch>
            <a:fillRect/>
          </a:stretch>
        </p:blipFill>
        <p:spPr>
          <a:xfrm>
            <a:off x="0" y="1574800"/>
            <a:ext cx="1587500" cy="6997700"/>
          </a:xfrm>
          <a:prstGeom prst="rect">
            <a:avLst/>
          </a:prstGeom>
          <a:noFill/>
          <a:ln w="25400" cap="flat" cmpd="sng">
            <a:noFill/>
            <a:prstDash val="solid"/>
            <a:round/>
          </a:ln>
        </p:spPr>
      </p:pic>
      <p:sp>
        <p:nvSpPr>
          <p:cNvPr id="6" name="AutoShape 6"/>
          <p:cNvSpPr/>
          <p:nvPr/>
        </p:nvSpPr>
        <p:spPr>
          <a:xfrm>
            <a:off x="1447800" y="5257800"/>
            <a:ext cx="8496300" cy="1612900"/>
          </a:xfrm>
          <a:prstGeom prst="rect">
            <a:avLst/>
          </a:prstGeom>
          <a:noFill/>
          <a:ln w="19050" cap="flat" cmpd="sng">
            <a:noFill/>
            <a:prstDash val="solid"/>
            <a:round/>
          </a:ln>
        </p:spPr>
        <p:txBody>
          <a:bodyPr vert="horz" wrap="square" lIns="0" tIns="0" rIns="0" bIns="0" rtlCol="0" anchor="t" anchorCtr="0"/>
          <a:lstStyle/>
          <a:p>
            <a:pPr indent="0" algn="l">
              <a:lnSpc>
                <a:spcPts val="3276"/>
              </a:lnSpc>
              <a:defRPr/>
            </a:pPr>
            <a:r>
              <a:rPr lang="en-US" sz="2100" b="0" i="0" u="none" strike="noStrike">
                <a:solidFill>
                  <a:srgbClr val="ADB9CA"/>
                </a:solidFill>
                <a:latin typeface="Noto Sans SC"/>
                <a:ea typeface="Noto Sans SC"/>
                <a:cs typeface="Noto Sans SC"/>
                <a:sym typeface="Noto Sans SC"/>
              </a:rPr>
              <a:t>清晰的路线图和充足的资源保障，将引领我们走向成功。</a:t>
            </a:r>
            <a:endParaRPr lang="en-US" sz="1100"/>
          </a:p>
        </p:txBody>
      </p:sp>
      <p:pic>
        <p:nvPicPr>
          <p:cNvPr id="7" name="Picture 7"/>
          <p:cNvPicPr>
            <a:picLocks noChangeAspect="1"/>
          </p:cNvPicPr>
          <p:nvPr/>
        </p:nvPicPr>
        <p:blipFill>
          <a:blip r:embed="rId6"/>
          <a:srcRect/>
          <a:stretch>
            <a:fillRect/>
          </a:stretch>
        </p:blipFill>
        <p:spPr>
          <a:xfrm>
            <a:off x="12395200" y="0"/>
            <a:ext cx="5892800" cy="7302500"/>
          </a:xfrm>
          <a:prstGeom prst="rect">
            <a:avLst/>
          </a:prstGeom>
          <a:noFill/>
          <a:ln w="25400" cap="flat" cmpd="sng">
            <a:noFill/>
            <a:prstDash val="solid"/>
            <a:round/>
          </a:ln>
        </p:spPr>
      </p:pic>
      <p:pic>
        <p:nvPicPr>
          <p:cNvPr id="11" name="Picture 11"/>
          <p:cNvPicPr>
            <a:picLocks noChangeAspect="1"/>
          </p:cNvPicPr>
          <p:nvPr/>
        </p:nvPicPr>
        <p:blipFill>
          <a:blip r:embed="rId7"/>
          <a:srcRect/>
          <a:stretch>
            <a:fillRect/>
          </a:stretch>
        </p:blipFill>
        <p:spPr>
          <a:xfrm>
            <a:off x="1587500" y="8585200"/>
            <a:ext cx="533400" cy="533400"/>
          </a:xfrm>
          <a:prstGeom prst="rect">
            <a:avLst/>
          </a:prstGeom>
          <a:noFill/>
          <a:ln w="25400" cap="flat" cmpd="sng">
            <a:noFill/>
            <a:prstDash val="solid"/>
            <a:round/>
          </a:ln>
        </p:spPr>
      </p:pic>
      <p:sp>
        <p:nvSpPr>
          <p:cNvPr id="12" name="Freeform 12"/>
          <p:cNvSpPr/>
          <p:nvPr/>
        </p:nvSpPr>
        <p:spPr>
          <a:xfrm>
            <a:off x="2349500" y="8585200"/>
            <a:ext cx="548164" cy="548259"/>
          </a:xfrm>
          <a:custGeom>
            <a:avLst/>
            <a:gdLst/>
            <a:ahLst/>
            <a:cxnLst/>
            <a:rect l="l" t="t" r="r" b="b"/>
            <a:pathLst>
              <a:path w="548164" h="548259">
                <a:moveTo>
                  <a:pt x="0" y="274130"/>
                </a:moveTo>
                <a:cubicBezTo>
                  <a:pt x="0" y="122682"/>
                  <a:pt x="122682" y="0"/>
                  <a:pt x="274130" y="0"/>
                </a:cubicBezTo>
                <a:lnTo>
                  <a:pt x="274130" y="9525"/>
                </a:lnTo>
                <a:lnTo>
                  <a:pt x="274130" y="0"/>
                </a:lnTo>
                <a:cubicBezTo>
                  <a:pt x="425482" y="0"/>
                  <a:pt x="548164" y="122682"/>
                  <a:pt x="548164" y="274130"/>
                </a:cubicBezTo>
                <a:lnTo>
                  <a:pt x="538639" y="274130"/>
                </a:lnTo>
                <a:lnTo>
                  <a:pt x="548164" y="274130"/>
                </a:lnTo>
                <a:cubicBezTo>
                  <a:pt x="548164" y="425482"/>
                  <a:pt x="425482" y="548259"/>
                  <a:pt x="274034" y="548259"/>
                </a:cubicBezTo>
                <a:lnTo>
                  <a:pt x="274034" y="538734"/>
                </a:lnTo>
                <a:lnTo>
                  <a:pt x="274034" y="548259"/>
                </a:lnTo>
                <a:cubicBezTo>
                  <a:pt x="122682" y="548164"/>
                  <a:pt x="0" y="425482"/>
                  <a:pt x="0" y="274130"/>
                </a:cubicBezTo>
                <a:lnTo>
                  <a:pt x="9525" y="274130"/>
                </a:lnTo>
                <a:lnTo>
                  <a:pt x="19050" y="274130"/>
                </a:lnTo>
                <a:lnTo>
                  <a:pt x="9525" y="274130"/>
                </a:lnTo>
                <a:lnTo>
                  <a:pt x="0" y="274130"/>
                </a:lnTo>
                <a:moveTo>
                  <a:pt x="19050" y="274130"/>
                </a:moveTo>
                <a:cubicBezTo>
                  <a:pt x="19050" y="279368"/>
                  <a:pt x="14764" y="283654"/>
                  <a:pt x="9525" y="283654"/>
                </a:cubicBezTo>
                <a:cubicBezTo>
                  <a:pt x="4286" y="283654"/>
                  <a:pt x="0" y="279368"/>
                  <a:pt x="0" y="274130"/>
                </a:cubicBezTo>
                <a:cubicBezTo>
                  <a:pt x="0" y="268891"/>
                  <a:pt x="4286" y="264604"/>
                  <a:pt x="9525" y="264604"/>
                </a:cubicBezTo>
                <a:cubicBezTo>
                  <a:pt x="14764" y="264604"/>
                  <a:pt x="19050" y="268891"/>
                  <a:pt x="19050" y="274130"/>
                </a:cubicBezTo>
                <a:cubicBezTo>
                  <a:pt x="19050" y="414909"/>
                  <a:pt x="133255" y="529114"/>
                  <a:pt x="274130" y="529114"/>
                </a:cubicBezTo>
                <a:cubicBezTo>
                  <a:pt x="415004" y="529114"/>
                  <a:pt x="529114" y="414909"/>
                  <a:pt x="529114" y="274130"/>
                </a:cubicBezTo>
                <a:cubicBezTo>
                  <a:pt x="529114" y="133350"/>
                  <a:pt x="414909" y="19050"/>
                  <a:pt x="274130" y="19050"/>
                </a:cubicBezTo>
                <a:lnTo>
                  <a:pt x="274130" y="9525"/>
                </a:lnTo>
                <a:lnTo>
                  <a:pt x="274130" y="19050"/>
                </a:lnTo>
                <a:cubicBezTo>
                  <a:pt x="133255" y="19050"/>
                  <a:pt x="19050" y="133255"/>
                  <a:pt x="19050" y="274130"/>
                </a:cubicBezTo>
                <a:close/>
              </a:path>
            </a:pathLst>
          </a:custGeom>
          <a:solidFill>
            <a:srgbClr val="FF7A83">
              <a:alpha val="100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  <a:endParaRPr/>
          </a:p>
        </p:txBody>
      </p:sp>
      <p:sp>
        <p:nvSpPr>
          <p:cNvPr id="13" name="Freeform 13"/>
          <p:cNvSpPr/>
          <p:nvPr/>
        </p:nvSpPr>
        <p:spPr>
          <a:xfrm>
            <a:off x="3124200" y="8585200"/>
            <a:ext cx="548164" cy="548259"/>
          </a:xfrm>
          <a:custGeom>
            <a:avLst/>
            <a:gdLst/>
            <a:ahLst/>
            <a:cxnLst/>
            <a:rect l="l" t="t" r="r" b="b"/>
            <a:pathLst>
              <a:path w="548164" h="548259">
                <a:moveTo>
                  <a:pt x="0" y="274130"/>
                </a:moveTo>
                <a:cubicBezTo>
                  <a:pt x="0" y="122682"/>
                  <a:pt x="122682" y="0"/>
                  <a:pt x="274129" y="0"/>
                </a:cubicBezTo>
                <a:lnTo>
                  <a:pt x="274129" y="9525"/>
                </a:lnTo>
                <a:lnTo>
                  <a:pt x="274129" y="0"/>
                </a:lnTo>
                <a:cubicBezTo>
                  <a:pt x="425482" y="0"/>
                  <a:pt x="548164" y="122682"/>
                  <a:pt x="548164" y="274130"/>
                </a:cubicBezTo>
                <a:lnTo>
                  <a:pt x="538639" y="274130"/>
                </a:lnTo>
                <a:lnTo>
                  <a:pt x="548164" y="274130"/>
                </a:lnTo>
                <a:cubicBezTo>
                  <a:pt x="548164" y="425482"/>
                  <a:pt x="425482" y="548259"/>
                  <a:pt x="274034" y="548259"/>
                </a:cubicBezTo>
                <a:lnTo>
                  <a:pt x="274034" y="538734"/>
                </a:lnTo>
                <a:lnTo>
                  <a:pt x="274034" y="548259"/>
                </a:lnTo>
                <a:cubicBezTo>
                  <a:pt x="122682" y="548164"/>
                  <a:pt x="0" y="425482"/>
                  <a:pt x="0" y="274130"/>
                </a:cubicBezTo>
                <a:lnTo>
                  <a:pt x="9525" y="274130"/>
                </a:lnTo>
                <a:lnTo>
                  <a:pt x="19050" y="274130"/>
                </a:lnTo>
                <a:lnTo>
                  <a:pt x="9525" y="274130"/>
                </a:lnTo>
                <a:lnTo>
                  <a:pt x="0" y="274130"/>
                </a:lnTo>
                <a:moveTo>
                  <a:pt x="19050" y="274130"/>
                </a:moveTo>
                <a:cubicBezTo>
                  <a:pt x="19050" y="279368"/>
                  <a:pt x="14764" y="283654"/>
                  <a:pt x="9525" y="283654"/>
                </a:cubicBezTo>
                <a:cubicBezTo>
                  <a:pt x="4286" y="283654"/>
                  <a:pt x="0" y="279368"/>
                  <a:pt x="0" y="274130"/>
                </a:cubicBezTo>
                <a:cubicBezTo>
                  <a:pt x="0" y="268891"/>
                  <a:pt x="4286" y="264604"/>
                  <a:pt x="9525" y="264604"/>
                </a:cubicBezTo>
                <a:cubicBezTo>
                  <a:pt x="14764" y="264604"/>
                  <a:pt x="19050" y="268891"/>
                  <a:pt x="19050" y="274130"/>
                </a:cubicBezTo>
                <a:cubicBezTo>
                  <a:pt x="19050" y="414909"/>
                  <a:pt x="133255" y="529114"/>
                  <a:pt x="274129" y="529114"/>
                </a:cubicBezTo>
                <a:cubicBezTo>
                  <a:pt x="415004" y="529114"/>
                  <a:pt x="529114" y="414909"/>
                  <a:pt x="529114" y="274130"/>
                </a:cubicBezTo>
                <a:cubicBezTo>
                  <a:pt x="529114" y="133350"/>
                  <a:pt x="414909" y="19050"/>
                  <a:pt x="274129" y="19050"/>
                </a:cubicBezTo>
                <a:lnTo>
                  <a:pt x="274129" y="9525"/>
                </a:lnTo>
                <a:lnTo>
                  <a:pt x="274129" y="19050"/>
                </a:lnTo>
                <a:cubicBezTo>
                  <a:pt x="133255" y="19050"/>
                  <a:pt x="19050" y="133255"/>
                  <a:pt x="19050" y="274130"/>
                </a:cubicBezTo>
                <a:close/>
              </a:path>
            </a:pathLst>
          </a:custGeom>
          <a:solidFill>
            <a:srgbClr val="FF7A83">
              <a:alpha val="100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  <a:endParaRPr/>
          </a:p>
        </p:txBody>
      </p:sp>
      <p:sp>
        <p:nvSpPr>
          <p:cNvPr id="14" name="Freeform 14"/>
          <p:cNvSpPr/>
          <p:nvPr/>
        </p:nvSpPr>
        <p:spPr>
          <a:xfrm>
            <a:off x="3898900" y="8585200"/>
            <a:ext cx="548164" cy="548259"/>
          </a:xfrm>
          <a:custGeom>
            <a:avLst/>
            <a:gdLst/>
            <a:ahLst/>
            <a:cxnLst/>
            <a:rect l="l" t="t" r="r" b="b"/>
            <a:pathLst>
              <a:path w="548164" h="548259">
                <a:moveTo>
                  <a:pt x="0" y="274130"/>
                </a:moveTo>
                <a:cubicBezTo>
                  <a:pt x="0" y="122682"/>
                  <a:pt x="122682" y="0"/>
                  <a:pt x="274129" y="0"/>
                </a:cubicBezTo>
                <a:lnTo>
                  <a:pt x="274129" y="9525"/>
                </a:lnTo>
                <a:lnTo>
                  <a:pt x="274129" y="0"/>
                </a:lnTo>
                <a:cubicBezTo>
                  <a:pt x="425482" y="0"/>
                  <a:pt x="548164" y="122682"/>
                  <a:pt x="548164" y="274130"/>
                </a:cubicBezTo>
                <a:lnTo>
                  <a:pt x="538639" y="274130"/>
                </a:lnTo>
                <a:lnTo>
                  <a:pt x="548164" y="274130"/>
                </a:lnTo>
                <a:cubicBezTo>
                  <a:pt x="548164" y="425482"/>
                  <a:pt x="425482" y="548259"/>
                  <a:pt x="274034" y="548259"/>
                </a:cubicBezTo>
                <a:lnTo>
                  <a:pt x="274034" y="538734"/>
                </a:lnTo>
                <a:lnTo>
                  <a:pt x="274034" y="548259"/>
                </a:lnTo>
                <a:cubicBezTo>
                  <a:pt x="122682" y="548164"/>
                  <a:pt x="0" y="425482"/>
                  <a:pt x="0" y="274130"/>
                </a:cubicBezTo>
                <a:lnTo>
                  <a:pt x="9525" y="274130"/>
                </a:lnTo>
                <a:lnTo>
                  <a:pt x="19050" y="274130"/>
                </a:lnTo>
                <a:lnTo>
                  <a:pt x="9525" y="274130"/>
                </a:lnTo>
                <a:lnTo>
                  <a:pt x="0" y="274130"/>
                </a:lnTo>
                <a:moveTo>
                  <a:pt x="19050" y="274130"/>
                </a:moveTo>
                <a:cubicBezTo>
                  <a:pt x="19050" y="279368"/>
                  <a:pt x="14764" y="283654"/>
                  <a:pt x="9525" y="283654"/>
                </a:cubicBezTo>
                <a:cubicBezTo>
                  <a:pt x="4286" y="283654"/>
                  <a:pt x="0" y="279368"/>
                  <a:pt x="0" y="274130"/>
                </a:cubicBezTo>
                <a:cubicBezTo>
                  <a:pt x="0" y="268891"/>
                  <a:pt x="4286" y="264604"/>
                  <a:pt x="9525" y="264604"/>
                </a:cubicBezTo>
                <a:cubicBezTo>
                  <a:pt x="14764" y="264604"/>
                  <a:pt x="19050" y="268891"/>
                  <a:pt x="19050" y="274130"/>
                </a:cubicBezTo>
                <a:cubicBezTo>
                  <a:pt x="19050" y="414909"/>
                  <a:pt x="133255" y="529114"/>
                  <a:pt x="274129" y="529114"/>
                </a:cubicBezTo>
                <a:cubicBezTo>
                  <a:pt x="415004" y="529114"/>
                  <a:pt x="529114" y="414909"/>
                  <a:pt x="529114" y="274130"/>
                </a:cubicBezTo>
                <a:cubicBezTo>
                  <a:pt x="529114" y="133350"/>
                  <a:pt x="414909" y="19050"/>
                  <a:pt x="274129" y="19050"/>
                </a:cubicBezTo>
                <a:lnTo>
                  <a:pt x="274129" y="9525"/>
                </a:lnTo>
                <a:lnTo>
                  <a:pt x="274129" y="19050"/>
                </a:lnTo>
                <a:cubicBezTo>
                  <a:pt x="133255" y="19050"/>
                  <a:pt x="19050" y="133255"/>
                  <a:pt x="19050" y="274130"/>
                </a:cubicBezTo>
                <a:close/>
              </a:path>
            </a:pathLst>
          </a:custGeom>
          <a:solidFill>
            <a:srgbClr val="FF7A83">
              <a:alpha val="100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  <a:endParaRPr/>
          </a:p>
        </p:txBody>
      </p:sp>
      <p:sp>
        <p:nvSpPr>
          <p:cNvPr id="15" name="Freeform 15"/>
          <p:cNvSpPr/>
          <p:nvPr/>
        </p:nvSpPr>
        <p:spPr>
          <a:xfrm>
            <a:off x="12077700" y="7505700"/>
            <a:ext cx="597788" cy="597790"/>
          </a:xfrm>
          <a:custGeom>
            <a:avLst/>
            <a:gdLst/>
            <a:ahLst/>
            <a:cxnLst/>
            <a:rect l="l" t="t" r="r" b="b"/>
            <a:pathLst>
              <a:path w="597788" h="597790">
                <a:moveTo>
                  <a:pt x="0" y="298894"/>
                </a:moveTo>
                <a:cubicBezTo>
                  <a:pt x="0" y="133826"/>
                  <a:pt x="133826" y="0"/>
                  <a:pt x="298894" y="0"/>
                </a:cubicBezTo>
                <a:cubicBezTo>
                  <a:pt x="463961" y="0"/>
                  <a:pt x="597788" y="133826"/>
                  <a:pt x="597788" y="298894"/>
                </a:cubicBezTo>
                <a:cubicBezTo>
                  <a:pt x="597788" y="463964"/>
                  <a:pt x="463961" y="597790"/>
                  <a:pt x="298894" y="597790"/>
                </a:cubicBezTo>
                <a:cubicBezTo>
                  <a:pt x="133826" y="597790"/>
                  <a:pt x="0" y="463964"/>
                  <a:pt x="0" y="298894"/>
                </a:cubicBezTo>
                <a:close/>
              </a:path>
            </a:pathLst>
          </a:custGeom>
          <a:solidFill>
            <a:srgbClr val="F89469">
              <a:alpha val="100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  <a:endParaRPr/>
          </a:p>
        </p:txBody>
      </p:sp>
      <p:sp>
        <p:nvSpPr>
          <p:cNvPr id="17" name="AutoShape 17"/>
          <p:cNvSpPr/>
          <p:nvPr/>
        </p:nvSpPr>
        <p:spPr>
          <a:xfrm>
            <a:off x="1524000" y="3238500"/>
            <a:ext cx="6477000" cy="457200"/>
          </a:xfrm>
          <a:prstGeom prst="rect">
            <a:avLst/>
          </a:prstGeom>
          <a:noFill/>
          <a:ln w="19050" cap="flat" cmpd="sng">
            <a:noFill/>
            <a:prstDash val="solid"/>
            <a:round/>
          </a:ln>
        </p:spPr>
        <p:txBody>
          <a:bodyPr vert="horz" wrap="square" lIns="0" tIns="0" rIns="0" bIns="0" rtlCol="0" anchor="t" anchorCtr="0"/>
          <a:lstStyle/>
          <a:p>
            <a:pPr indent="0" algn="l">
              <a:lnSpc>
                <a:spcPts val="3240"/>
              </a:lnSpc>
              <a:defRPr/>
            </a:pPr>
            <a:r>
              <a:rPr lang="en-US" sz="2700" b="0" i="0" u="none" strike="noStrike">
                <a:solidFill>
                  <a:srgbClr val="ADB9CA"/>
                </a:solidFill>
                <a:latin typeface="Montserrat"/>
                <a:ea typeface="Montserrat"/>
                <a:cs typeface="Montserrat"/>
                <a:sym typeface="Montserrat"/>
              </a:rPr>
              <a:t>Development Plan</a:t>
            </a:r>
            <a:endParaRPr lang="en-US" sz="1100"/>
          </a:p>
        </p:txBody>
      </p:sp>
      <p:pic>
        <p:nvPicPr>
          <p:cNvPr id="20" name="Picture 20"/>
          <p:cNvPicPr>
            <a:picLocks noChangeAspect="1"/>
          </p:cNvPicPr>
          <p:nvPr/>
        </p:nvPicPr>
        <p:blipFill>
          <a:blip r:embed="rId8"/>
          <a:srcRect/>
          <a:stretch>
            <a:fillRect/>
          </a:stretch>
        </p:blipFill>
        <p:spPr>
          <a:xfrm>
            <a:off x="16433800" y="2679700"/>
            <a:ext cx="1854200" cy="6477000"/>
          </a:xfrm>
          <a:prstGeom prst="rect">
            <a:avLst/>
          </a:prstGeom>
          <a:noFill/>
          <a:ln w="25400" cap="flat" cmpd="sng">
            <a:noFill/>
            <a:prstDash val="solid"/>
            <a:round/>
          </a:ln>
        </p:spPr>
      </p:pic>
      <p:cxnSp>
        <p:nvCxnSpPr>
          <p:cNvPr id="21" name="Connector 21"/>
          <p:cNvCxnSpPr/>
          <p:nvPr/>
        </p:nvCxnSpPr>
        <p:spPr>
          <a:xfrm>
            <a:off x="4699000" y="8839200"/>
            <a:ext cx="1930442" cy="12700"/>
          </a:xfrm>
          <a:prstGeom prst="line">
            <a:avLst/>
          </a:prstGeom>
          <a:solidFill>
            <a:srgbClr val="DEE0E3">
              <a:alpha val="100000"/>
            </a:srgbClr>
          </a:solidFill>
          <a:ln w="12700" cap="rnd" cmpd="sng">
            <a:solidFill>
              <a:srgbClr val="F89469">
                <a:alpha val="100000"/>
              </a:srgbClr>
            </a:solidFill>
            <a:prstDash val="solid"/>
            <a:miter lim="10000000"/>
            <a:headEnd type="none" w="sm" len="sm"/>
            <a:tailEnd type="triangle" w="lg" len="med"/>
          </a:ln>
        </p:spPr>
      </p:cxnSp>
      <p:sp>
        <p:nvSpPr>
          <p:cNvPr id="22" name="AutoShape 22"/>
          <p:cNvSpPr/>
          <p:nvPr/>
        </p:nvSpPr>
        <p:spPr>
          <a:xfrm>
            <a:off x="13525500" y="3009900"/>
            <a:ext cx="4902200" cy="3873500"/>
          </a:xfrm>
          <a:prstGeom prst="rect">
            <a:avLst/>
          </a:prstGeom>
          <a:noFill/>
          <a:ln w="19050" cap="flat" cmpd="sng">
            <a:noFill/>
            <a:prstDash val="solid"/>
            <a:round/>
          </a:ln>
        </p:spPr>
        <p:txBody>
          <a:bodyPr vert="horz" wrap="square" lIns="0" tIns="0" rIns="0" bIns="0" rtlCol="0" anchor="t" anchorCtr="0"/>
          <a:lstStyle/>
          <a:p>
            <a:pPr indent="0" algn="l">
              <a:lnSpc>
                <a:spcPts val="29520"/>
              </a:lnSpc>
              <a:defRPr/>
            </a:pPr>
            <a:r>
              <a:rPr lang="en-US" sz="24600" b="0" i="0" u="none" strike="noStrike">
                <a:solidFill>
                  <a:srgbClr val="FFFFFF"/>
                </a:solidFill>
                <a:latin typeface="Montserrat"/>
                <a:ea typeface="Montserrat"/>
                <a:cs typeface="Montserrat"/>
                <a:sym typeface="Montserrat"/>
              </a:rPr>
              <a:t>04</a:t>
            </a:r>
            <a:endParaRPr lang="en-US" sz="1100"/>
          </a:p>
        </p:txBody>
      </p:sp>
      <p:cxnSp>
        <p:nvCxnSpPr>
          <p:cNvPr id="23" name="Connector 23"/>
          <p:cNvCxnSpPr/>
          <p:nvPr/>
        </p:nvCxnSpPr>
        <p:spPr>
          <a:xfrm rot="5391093">
            <a:off x="15138400" y="4438658"/>
            <a:ext cx="4902200" cy="12700"/>
          </a:xfrm>
          <a:prstGeom prst="line">
            <a:avLst/>
          </a:prstGeom>
          <a:solidFill>
            <a:srgbClr val="DEE0E3">
              <a:alpha val="100000"/>
            </a:srgbClr>
          </a:solidFill>
          <a:ln w="12700" cap="rnd" cmpd="sng">
            <a:solidFill>
              <a:srgbClr val="FFFFFF">
                <a:alpha val="100000"/>
              </a:srgbClr>
            </a:solidFill>
            <a:prstDash val="solid"/>
            <a:miter lim="10000000"/>
            <a:headEnd type="none" w="sm" len="sm"/>
            <a:tailEnd type="none" w="sm" len="sm"/>
          </a:ln>
        </p:spPr>
      </p:cxnSp>
      <p:pic>
        <p:nvPicPr>
          <p:cNvPr id="24" name="Picture 24"/>
          <p:cNvPicPr>
            <a:picLocks noChangeAspect="1"/>
          </p:cNvPicPr>
          <p:nvPr/>
        </p:nvPicPr>
        <p:blipFill>
          <a:blip r:embed="rId9"/>
          <a:srcRect/>
          <a:stretch>
            <a:fillRect/>
          </a:stretch>
        </p:blipFill>
        <p:spPr>
          <a:xfrm>
            <a:off x="2400300" y="8166100"/>
            <a:ext cx="15887700" cy="2120900"/>
          </a:xfrm>
          <a:prstGeom prst="rect">
            <a:avLst/>
          </a:prstGeom>
          <a:noFill/>
          <a:ln w="25400" cap="flat" cmpd="sng">
            <a:noFill/>
            <a:prstDash val="solid"/>
            <a:round/>
          </a:ln>
        </p:spPr>
      </p:pic>
      <p:pic>
        <p:nvPicPr>
          <p:cNvPr id="25" name="Picture 25"/>
          <p:cNvPicPr>
            <a:picLocks noChangeAspect="1"/>
          </p:cNvPicPr>
          <p:nvPr/>
        </p:nvPicPr>
        <p:blipFill>
          <a:blip r:embed="rId10"/>
          <a:srcRect/>
          <a:stretch>
            <a:fillRect/>
          </a:stretch>
        </p:blipFill>
        <p:spPr>
          <a:xfrm>
            <a:off x="1727200" y="8724900"/>
            <a:ext cx="241300" cy="254000"/>
          </a:xfrm>
          <a:prstGeom prst="rect">
            <a:avLst/>
          </a:prstGeom>
          <a:noFill/>
          <a:ln w="25400" cap="flat" cmpd="sng">
            <a:noFill/>
            <a:prstDash val="solid"/>
            <a:round/>
          </a:ln>
        </p:spPr>
      </p:pic>
      <p:pic>
        <p:nvPicPr>
          <p:cNvPr id="26" name="Picture 26"/>
          <p:cNvPicPr>
            <a:picLocks noChangeAspect="1"/>
          </p:cNvPicPr>
          <p:nvPr/>
        </p:nvPicPr>
        <p:blipFill>
          <a:blip r:embed="rId11"/>
          <a:srcRect/>
          <a:stretch>
            <a:fillRect/>
          </a:stretch>
        </p:blipFill>
        <p:spPr>
          <a:xfrm>
            <a:off x="3276600" y="8724900"/>
            <a:ext cx="228600" cy="254000"/>
          </a:xfrm>
          <a:prstGeom prst="rect">
            <a:avLst/>
          </a:prstGeom>
          <a:noFill/>
          <a:ln w="25400" cap="flat" cmpd="sng">
            <a:noFill/>
            <a:prstDash val="solid"/>
            <a:round/>
          </a:ln>
        </p:spPr>
      </p:pic>
      <p:pic>
        <p:nvPicPr>
          <p:cNvPr id="27" name="Picture 27"/>
          <p:cNvPicPr>
            <a:picLocks noChangeAspect="1"/>
          </p:cNvPicPr>
          <p:nvPr/>
        </p:nvPicPr>
        <p:blipFill>
          <a:blip r:embed="rId12"/>
          <a:srcRect/>
          <a:stretch>
            <a:fillRect/>
          </a:stretch>
        </p:blipFill>
        <p:spPr>
          <a:xfrm>
            <a:off x="4038600" y="8724900"/>
            <a:ext cx="266700" cy="254000"/>
          </a:xfrm>
          <a:prstGeom prst="rect">
            <a:avLst/>
          </a:prstGeom>
          <a:noFill/>
          <a:ln w="25400" cap="flat" cmpd="sng">
            <a:noFill/>
            <a:prstDash val="solid"/>
            <a:round/>
          </a:ln>
        </p:spPr>
      </p:pic>
      <p:pic>
        <p:nvPicPr>
          <p:cNvPr id="28" name="Picture 28"/>
          <p:cNvPicPr>
            <a:picLocks noChangeAspect="1"/>
          </p:cNvPicPr>
          <p:nvPr/>
        </p:nvPicPr>
        <p:blipFill>
          <a:blip r:embed="rId13"/>
          <a:srcRect/>
          <a:stretch>
            <a:fillRect/>
          </a:stretch>
        </p:blipFill>
        <p:spPr>
          <a:xfrm>
            <a:off x="2501900" y="8724900"/>
            <a:ext cx="241300" cy="254000"/>
          </a:xfrm>
          <a:prstGeom prst="rect">
            <a:avLst/>
          </a:prstGeom>
          <a:noFill/>
          <a:ln w="25400" cap="flat" cmpd="sng">
            <a:noFill/>
            <a:prstDash val="solid"/>
            <a:round/>
          </a:ln>
        </p:spPr>
      </p:pic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>
            <a:alpha val="100000"/>
          </a:srgb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AutoShape 2"/>
          <p:cNvSpPr/>
          <p:nvPr/>
        </p:nvSpPr>
        <p:spPr>
          <a:xfrm>
            <a:off x="622300" y="571500"/>
            <a:ext cx="7404100" cy="635000"/>
          </a:xfrm>
          <a:prstGeom prst="rect">
            <a:avLst/>
          </a:prstGeom>
          <a:noFill/>
          <a:ln w="19050" cap="flat" cmpd="sng">
            <a:noFill/>
            <a:prstDash val="solid"/>
            <a:round/>
          </a:ln>
        </p:spPr>
        <p:txBody>
          <a:bodyPr vert="horz" wrap="square" lIns="0" tIns="0" rIns="0" bIns="0" rtlCol="0" anchor="t" anchorCtr="0"/>
          <a:lstStyle/>
          <a:p>
            <a:pPr indent="0" algn="l">
              <a:lnSpc>
                <a:spcPts val="5040"/>
              </a:lnSpc>
              <a:defRPr/>
            </a:pPr>
            <a:r>
              <a:rPr lang="en-US" sz="4200" b="1" i="0" u="none" strike="noStrike">
                <a:solidFill>
                  <a:srgbClr val="FFB458"/>
                </a:solidFill>
                <a:latin typeface="Noto Sans SC"/>
                <a:ea typeface="Noto Sans SC"/>
                <a:cs typeface="Noto Sans SC"/>
                <a:sym typeface="Noto Sans SC"/>
              </a:rPr>
              <a:t>产品路线图</a:t>
            </a:r>
            <a:endParaRPr lang="en-US" sz="1100"/>
          </a:p>
        </p:txBody>
      </p:sp>
      <p:pic>
        <p:nvPicPr>
          <p:cNvPr id="3" name="Picture 3"/>
          <p:cNvPicPr>
            <a:picLocks noChangeAspect="1"/>
          </p:cNvPicPr>
          <p:nvPr/>
        </p:nvPicPr>
        <p:blipFill>
          <a:blip r:embed="rId3"/>
          <a:srcRect l="96" r="96"/>
          <a:stretch>
            <a:fillRect/>
          </a:stretch>
        </p:blipFill>
        <p:spPr>
          <a:xfrm>
            <a:off x="13233400" y="0"/>
            <a:ext cx="5054600" cy="10287000"/>
          </a:xfrm>
          <a:prstGeom prst="rect">
            <a:avLst/>
          </a:prstGeom>
          <a:noFill/>
          <a:ln w="25400" cap="flat" cmpd="sng">
            <a:noFill/>
            <a:prstDash val="solid"/>
            <a:round/>
          </a:ln>
        </p:spPr>
      </p:pic>
      <p:pic>
        <p:nvPicPr>
          <p:cNvPr id="4" name="Picture 4"/>
          <p:cNvPicPr>
            <a:picLocks noChangeAspect="1"/>
          </p:cNvPicPr>
          <p:nvPr/>
        </p:nvPicPr>
        <p:blipFill>
          <a:blip r:embed="rId4"/>
          <a:srcRect l="222" r="222"/>
          <a:stretch>
            <a:fillRect/>
          </a:stretch>
        </p:blipFill>
        <p:spPr>
          <a:xfrm>
            <a:off x="14097000" y="0"/>
            <a:ext cx="4191000" cy="10287000"/>
          </a:xfrm>
          <a:prstGeom prst="rect">
            <a:avLst/>
          </a:prstGeom>
          <a:noFill/>
          <a:ln w="25400" cap="flat" cmpd="sng">
            <a:noFill/>
            <a:prstDash val="solid"/>
            <a:round/>
          </a:ln>
        </p:spPr>
      </p:pic>
      <p:pic>
        <p:nvPicPr>
          <p:cNvPr id="5" name="Picture 5"/>
          <p:cNvPicPr>
            <a:picLocks noChangeAspect="1"/>
          </p:cNvPicPr>
          <p:nvPr/>
        </p:nvPicPr>
        <p:blipFill>
          <a:blip r:embed="rId5"/>
          <a:srcRect t="1180" b="1180"/>
          <a:stretch>
            <a:fillRect/>
          </a:stretch>
        </p:blipFill>
        <p:spPr>
          <a:xfrm>
            <a:off x="8470900" y="0"/>
            <a:ext cx="4025900" cy="787400"/>
          </a:xfrm>
          <a:prstGeom prst="rect">
            <a:avLst/>
          </a:prstGeom>
          <a:noFill/>
          <a:ln w="25400" cap="flat" cmpd="sng">
            <a:noFill/>
            <a:prstDash val="solid"/>
            <a:round/>
          </a:ln>
        </p:spPr>
      </p:pic>
      <p:pic>
        <p:nvPicPr>
          <p:cNvPr id="6" name="Picture 6"/>
          <p:cNvPicPr>
            <a:picLocks noChangeAspect="1"/>
          </p:cNvPicPr>
          <p:nvPr/>
        </p:nvPicPr>
        <p:blipFill>
          <a:blip r:embed="rId6"/>
          <a:srcRect t="131" b="131"/>
          <a:stretch>
            <a:fillRect/>
          </a:stretch>
        </p:blipFill>
        <p:spPr>
          <a:xfrm>
            <a:off x="1562100" y="8623300"/>
            <a:ext cx="2984500" cy="2844800"/>
          </a:xfrm>
          <a:prstGeom prst="rect">
            <a:avLst/>
          </a:prstGeom>
          <a:noFill/>
          <a:ln w="25400" cap="flat" cmpd="sng">
            <a:noFill/>
            <a:prstDash val="solid"/>
            <a:round/>
          </a:ln>
        </p:spPr>
      </p:pic>
      <p:sp>
        <p:nvSpPr>
          <p:cNvPr id="7" name="Freeform 7"/>
          <p:cNvSpPr/>
          <p:nvPr/>
        </p:nvSpPr>
        <p:spPr>
          <a:xfrm>
            <a:off x="13093700" y="8483600"/>
            <a:ext cx="597788" cy="597790"/>
          </a:xfrm>
          <a:custGeom>
            <a:avLst/>
            <a:gdLst/>
            <a:ahLst/>
            <a:cxnLst/>
            <a:rect l="l" t="t" r="r" b="b"/>
            <a:pathLst>
              <a:path w="597788" h="597790">
                <a:moveTo>
                  <a:pt x="0" y="298894"/>
                </a:moveTo>
                <a:cubicBezTo>
                  <a:pt x="0" y="133826"/>
                  <a:pt x="133826" y="0"/>
                  <a:pt x="298895" y="0"/>
                </a:cubicBezTo>
                <a:cubicBezTo>
                  <a:pt x="463961" y="0"/>
                  <a:pt x="597788" y="133826"/>
                  <a:pt x="597788" y="298894"/>
                </a:cubicBezTo>
                <a:cubicBezTo>
                  <a:pt x="597788" y="463964"/>
                  <a:pt x="463961" y="597790"/>
                  <a:pt x="298895" y="597790"/>
                </a:cubicBezTo>
                <a:cubicBezTo>
                  <a:pt x="133826" y="597790"/>
                  <a:pt x="0" y="463964"/>
                  <a:pt x="0" y="298894"/>
                </a:cubicBezTo>
                <a:close/>
              </a:path>
            </a:pathLst>
          </a:custGeom>
          <a:solidFill>
            <a:srgbClr val="F89469">
              <a:alpha val="100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  <a:endParaRPr/>
          </a:p>
        </p:txBody>
      </p:sp>
      <p:pic>
        <p:nvPicPr>
          <p:cNvPr id="8" name="Picture 8"/>
          <p:cNvPicPr>
            <a:picLocks noChangeAspect="1"/>
          </p:cNvPicPr>
          <p:nvPr/>
        </p:nvPicPr>
        <p:blipFill>
          <a:blip r:embed="rId7"/>
          <a:srcRect t="22" b="22"/>
          <a:stretch>
            <a:fillRect/>
          </a:stretch>
        </p:blipFill>
        <p:spPr>
          <a:xfrm>
            <a:off x="9994900" y="-190500"/>
            <a:ext cx="11137900" cy="11633200"/>
          </a:xfrm>
          <a:prstGeom prst="rect">
            <a:avLst/>
          </a:prstGeom>
          <a:noFill/>
          <a:ln w="25400" cap="flat" cmpd="sng">
            <a:noFill/>
            <a:prstDash val="solid"/>
            <a:round/>
          </a:ln>
        </p:spPr>
      </p:pic>
      <p:sp>
        <p:nvSpPr>
          <p:cNvPr id="9" name="AutoShape 9"/>
          <p:cNvSpPr/>
          <p:nvPr/>
        </p:nvSpPr>
        <p:spPr>
          <a:xfrm>
            <a:off x="16446500" y="546100"/>
            <a:ext cx="1104900" cy="736600"/>
          </a:xfrm>
          <a:prstGeom prst="rect">
            <a:avLst/>
          </a:prstGeom>
          <a:noFill/>
          <a:ln w="19050" cap="flat" cmpd="sng">
            <a:noFill/>
            <a:prstDash val="solid"/>
            <a:round/>
          </a:ln>
        </p:spPr>
        <p:txBody>
          <a:bodyPr vert="horz" wrap="square" lIns="0" tIns="0" rIns="0" bIns="0" rtlCol="0" anchor="t" anchorCtr="0"/>
          <a:lstStyle/>
          <a:p>
            <a:pPr indent="0" algn="ctr">
              <a:lnSpc>
                <a:spcPts val="5400"/>
              </a:lnSpc>
              <a:defRPr/>
            </a:pPr>
            <a:r>
              <a:rPr lang="en-US" sz="4500" b="0" i="0" u="none" strike="noStrike">
                <a:solidFill>
                  <a:srgbClr val="FFFFFF"/>
                </a:solidFill>
                <a:latin typeface="Montserrat"/>
                <a:ea typeface="Montserrat"/>
                <a:cs typeface="Montserrat"/>
                <a:sym typeface="Montserrat"/>
              </a:rPr>
              <a:t>04</a:t>
            </a:r>
            <a:endParaRPr lang="en-US" sz="1100"/>
          </a:p>
        </p:txBody>
      </p:sp>
      <p:pic>
        <p:nvPicPr>
          <p:cNvPr id="10" name="Picture 10"/>
          <p:cNvPicPr>
            <a:picLocks noChangeAspect="1"/>
          </p:cNvPicPr>
          <p:nvPr/>
        </p:nvPicPr>
        <p:blipFill>
          <a:blip r:embed="rId8"/>
          <a:srcRect l="566" r="566"/>
          <a:stretch>
            <a:fillRect/>
          </a:stretch>
        </p:blipFill>
        <p:spPr>
          <a:xfrm>
            <a:off x="17068800" y="1308100"/>
            <a:ext cx="1219200" cy="3429000"/>
          </a:xfrm>
          <a:prstGeom prst="rect">
            <a:avLst/>
          </a:prstGeom>
          <a:noFill/>
          <a:ln w="25400" cap="flat" cmpd="sng">
            <a:noFill/>
            <a:prstDash val="solid"/>
            <a:round/>
          </a:ln>
        </p:spPr>
      </p:pic>
      <p:pic>
        <p:nvPicPr>
          <p:cNvPr id="11" name="Picture 11"/>
          <p:cNvPicPr>
            <a:picLocks noChangeAspect="1"/>
          </p:cNvPicPr>
          <p:nvPr/>
        </p:nvPicPr>
        <p:blipFill>
          <a:blip r:embed="rId9"/>
          <a:srcRect/>
          <a:stretch>
            <a:fillRect/>
          </a:stretch>
        </p:blipFill>
        <p:spPr>
          <a:xfrm>
            <a:off x="12065000" y="4787900"/>
            <a:ext cx="4559300" cy="4559300"/>
          </a:xfrm>
          <a:prstGeom prst="rect">
            <a:avLst/>
          </a:prstGeom>
          <a:noFill/>
          <a:ln w="25400" cap="flat" cmpd="sng">
            <a:noFill/>
            <a:prstDash val="solid"/>
            <a:round/>
          </a:ln>
        </p:spPr>
      </p:pic>
      <p:pic>
        <p:nvPicPr>
          <p:cNvPr id="12" name="Picture 12"/>
          <p:cNvPicPr>
            <a:picLocks noChangeAspect="1"/>
          </p:cNvPicPr>
          <p:nvPr/>
        </p:nvPicPr>
        <p:blipFill>
          <a:blip r:embed="rId10"/>
          <a:srcRect l="872" r="872"/>
          <a:stretch>
            <a:fillRect/>
          </a:stretch>
        </p:blipFill>
        <p:spPr>
          <a:xfrm>
            <a:off x="0" y="3467100"/>
            <a:ext cx="1231900" cy="3225800"/>
          </a:xfrm>
          <a:prstGeom prst="rect">
            <a:avLst/>
          </a:prstGeom>
          <a:noFill/>
          <a:ln w="25400" cap="flat" cmpd="sng">
            <a:noFill/>
            <a:prstDash val="solid"/>
            <a:round/>
          </a:ln>
        </p:spPr>
      </p:pic>
      <p:pic>
        <p:nvPicPr>
          <p:cNvPr id="13" name="Picture 13"/>
          <p:cNvPicPr>
            <a:picLocks noChangeAspect="1"/>
          </p:cNvPicPr>
          <p:nvPr/>
        </p:nvPicPr>
        <p:blipFill>
          <a:blip r:embed="rId11"/>
          <a:srcRect t="458" b="458"/>
          <a:stretch>
            <a:fillRect/>
          </a:stretch>
        </p:blipFill>
        <p:spPr>
          <a:xfrm>
            <a:off x="11061700" y="8432800"/>
            <a:ext cx="7226300" cy="1854200"/>
          </a:xfrm>
          <a:prstGeom prst="rect">
            <a:avLst/>
          </a:prstGeom>
          <a:noFill/>
          <a:ln w="25400" cap="flat" cmpd="sng">
            <a:noFill/>
            <a:prstDash val="solid"/>
            <a:round/>
          </a:ln>
        </p:spPr>
      </p:pic>
      <p:cxnSp>
        <p:nvCxnSpPr>
          <p:cNvPr id="14" name="Connector 14"/>
          <p:cNvCxnSpPr/>
          <p:nvPr/>
        </p:nvCxnSpPr>
        <p:spPr>
          <a:xfrm rot="-3603">
            <a:off x="1168403" y="4946650"/>
            <a:ext cx="12115800" cy="12700"/>
          </a:xfrm>
          <a:prstGeom prst="line">
            <a:avLst/>
          </a:prstGeom>
          <a:solidFill>
            <a:srgbClr val="DEE0E3">
              <a:alpha val="100000"/>
            </a:srgbClr>
          </a:solidFill>
          <a:ln w="25400" cap="rnd" cmpd="sng">
            <a:solidFill>
              <a:srgbClr val="F89469">
                <a:alpha val="100000"/>
              </a:srgbClr>
            </a:solidFill>
            <a:prstDash val="solid"/>
            <a:round/>
            <a:headEnd type="none" w="lg" len="lg"/>
            <a:tailEnd type="none" w="lg" len="lg"/>
          </a:ln>
        </p:spPr>
      </p:cxnSp>
      <p:pic>
        <p:nvPicPr>
          <p:cNvPr id="15" name="Picture 15"/>
          <p:cNvPicPr>
            <a:picLocks noChangeAspect="1"/>
          </p:cNvPicPr>
          <p:nvPr/>
        </p:nvPicPr>
        <p:blipFill>
          <a:blip r:embed="rId12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13"/>
              </a:ext>
            </a:extLst>
          </a:blip>
          <a:stretch>
            <a:fillRect/>
          </a:stretch>
        </p:blipFill>
        <p:spPr>
          <a:xfrm>
            <a:off x="2933700" y="3670300"/>
            <a:ext cx="762000" cy="762000"/>
          </a:xfrm>
          <a:prstGeom prst="rect">
            <a:avLst/>
          </a:prstGeom>
        </p:spPr>
      </p:pic>
      <p:sp>
        <p:nvSpPr>
          <p:cNvPr id="16" name="AutoShape 16"/>
          <p:cNvSpPr/>
          <p:nvPr/>
        </p:nvSpPr>
        <p:spPr>
          <a:xfrm>
            <a:off x="2286000" y="5524500"/>
            <a:ext cx="1778000" cy="508000"/>
          </a:xfrm>
          <a:prstGeom prst="rect">
            <a:avLst/>
          </a:prstGeom>
          <a:noFill/>
          <a:ln w="1905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indent="0" algn="ctr">
              <a:lnSpc>
                <a:spcPct val="125000"/>
              </a:lnSpc>
              <a:defRPr/>
            </a:pPr>
            <a:r>
              <a:rPr lang="en-US" sz="2800" b="1" i="0" u="none" strike="noStrike">
                <a:solidFill>
                  <a:srgbClr val="FF7A83"/>
                </a:solidFill>
                <a:latin typeface="Noto Sans SC"/>
                <a:ea typeface="Noto Sans SC"/>
                <a:cs typeface="Noto Sans SC"/>
                <a:sym typeface="Noto Sans SC"/>
              </a:rPr>
              <a:t>P0 阶段</a:t>
            </a:r>
            <a:endParaRPr lang="en-US" sz="1100"/>
          </a:p>
        </p:txBody>
      </p:sp>
      <p:sp>
        <p:nvSpPr>
          <p:cNvPr id="17" name="AutoShape 17"/>
          <p:cNvSpPr/>
          <p:nvPr/>
        </p:nvSpPr>
        <p:spPr>
          <a:xfrm>
            <a:off x="2286000" y="6096000"/>
            <a:ext cx="1778000" cy="317500"/>
          </a:xfrm>
          <a:prstGeom prst="rect">
            <a:avLst/>
          </a:prstGeom>
          <a:noFill/>
          <a:ln w="1905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indent="0" algn="ctr">
              <a:lnSpc>
                <a:spcPct val="125000"/>
              </a:lnSpc>
              <a:defRPr/>
            </a:pPr>
            <a:r>
              <a:rPr lang="en-US" sz="1400" b="1" i="0" u="none" strike="noStrike" dirty="0" err="1">
                <a:solidFill>
                  <a:srgbClr val="F89469"/>
                </a:solidFill>
                <a:latin typeface="Noto Sans SC"/>
                <a:ea typeface="Noto Sans SC"/>
                <a:cs typeface="Noto Sans SC"/>
                <a:sym typeface="Noto Sans SC"/>
              </a:rPr>
              <a:t>未来</a:t>
            </a:r>
            <a:r>
              <a:rPr lang="en-US" sz="1400" b="1" i="0" u="none" strike="noStrike" dirty="0">
                <a:solidFill>
                  <a:srgbClr val="F89469"/>
                </a:solidFill>
                <a:latin typeface="Noto Sans SC"/>
                <a:ea typeface="Noto Sans SC"/>
                <a:cs typeface="Noto Sans SC"/>
                <a:sym typeface="Noto Sans SC"/>
              </a:rPr>
              <a:t> </a:t>
            </a:r>
            <a:r>
              <a:rPr lang="en-US" altLang="zh-CN" sz="1400" b="1" i="0" u="none" strike="noStrike" dirty="0">
                <a:solidFill>
                  <a:srgbClr val="F89469"/>
                </a:solidFill>
                <a:latin typeface="Noto Sans SC"/>
                <a:ea typeface="Noto Sans SC"/>
                <a:cs typeface="Noto Sans SC"/>
                <a:sym typeface="Noto Sans SC"/>
              </a:rPr>
              <a:t>3</a:t>
            </a:r>
            <a:r>
              <a:rPr lang="zh-CN" altLang="en-US" sz="1400" b="1" i="0" u="none" strike="noStrike" dirty="0">
                <a:solidFill>
                  <a:srgbClr val="F89469"/>
                </a:solidFill>
                <a:latin typeface="Noto Sans SC"/>
                <a:ea typeface="Noto Sans SC"/>
                <a:cs typeface="Noto Sans SC"/>
                <a:sym typeface="Noto Sans SC"/>
              </a:rPr>
              <a:t>～</a:t>
            </a:r>
            <a:r>
              <a:rPr lang="en-US" altLang="zh-CN" sz="1400" b="1" i="0" u="none" strike="noStrike" dirty="0">
                <a:solidFill>
                  <a:srgbClr val="F89469"/>
                </a:solidFill>
                <a:latin typeface="Noto Sans SC"/>
                <a:ea typeface="Noto Sans SC"/>
                <a:cs typeface="Noto Sans SC"/>
                <a:sym typeface="Noto Sans SC"/>
              </a:rPr>
              <a:t>6</a:t>
            </a:r>
            <a:r>
              <a:rPr lang="en-US" sz="1400" b="1" i="0" u="none" strike="noStrike" dirty="0">
                <a:solidFill>
                  <a:srgbClr val="F89469"/>
                </a:solidFill>
                <a:latin typeface="Noto Sans SC"/>
                <a:ea typeface="Noto Sans SC"/>
                <a:cs typeface="Noto Sans SC"/>
                <a:sym typeface="Noto Sans SC"/>
              </a:rPr>
              <a:t> </a:t>
            </a:r>
            <a:r>
              <a:rPr lang="en-US" sz="1400" b="1" i="0" u="none" strike="noStrike" dirty="0" err="1">
                <a:solidFill>
                  <a:srgbClr val="F89469"/>
                </a:solidFill>
                <a:latin typeface="Noto Sans SC"/>
                <a:ea typeface="Noto Sans SC"/>
                <a:cs typeface="Noto Sans SC"/>
                <a:sym typeface="Noto Sans SC"/>
              </a:rPr>
              <a:t>个月</a:t>
            </a:r>
            <a:endParaRPr lang="en-US" sz="1100" dirty="0"/>
          </a:p>
        </p:txBody>
      </p:sp>
      <p:sp>
        <p:nvSpPr>
          <p:cNvPr id="18" name="AutoShape 18"/>
          <p:cNvSpPr/>
          <p:nvPr/>
        </p:nvSpPr>
        <p:spPr>
          <a:xfrm>
            <a:off x="2032000" y="6604000"/>
            <a:ext cx="2286000" cy="1143000"/>
          </a:xfrm>
          <a:prstGeom prst="rect">
            <a:avLst/>
          </a:prstGeom>
          <a:noFill/>
          <a:ln w="19050" cap="flat" cmpd="sng">
            <a:noFill/>
            <a:prstDash val="solid"/>
            <a:round/>
          </a:ln>
        </p:spPr>
        <p:txBody>
          <a:bodyPr vert="horz" wrap="square" lIns="0" tIns="0" rIns="0" bIns="0" rtlCol="0" anchor="t" anchorCtr="0"/>
          <a:lstStyle/>
          <a:p>
            <a:pPr indent="0" algn="ctr">
              <a:lnSpc>
                <a:spcPct val="108333"/>
              </a:lnSpc>
              <a:defRPr/>
            </a:pPr>
            <a:r>
              <a:rPr lang="en-US" sz="1200" b="0" i="0" u="none" strike="noStrike">
                <a:solidFill>
                  <a:srgbClr val="595959"/>
                </a:solidFill>
                <a:latin typeface="Noto Sans SC"/>
                <a:ea typeface="Noto Sans SC"/>
                <a:cs typeface="Noto Sans SC"/>
                <a:sym typeface="Noto Sans SC"/>
              </a:rPr>
              <a:t>完成核心功能开发，推出第一代产品，交付种子用户进行封闭内测。</a:t>
            </a:r>
            <a:endParaRPr lang="en-US" sz="1100"/>
          </a:p>
        </p:txBody>
      </p:sp>
      <p:sp>
        <p:nvSpPr>
          <p:cNvPr id="19" name="AutoShape 19"/>
          <p:cNvSpPr/>
          <p:nvPr/>
        </p:nvSpPr>
        <p:spPr>
          <a:xfrm>
            <a:off x="3073400" y="4851400"/>
            <a:ext cx="203200" cy="203200"/>
          </a:xfrm>
          <a:prstGeom prst="ellipse">
            <a:avLst/>
          </a:prstGeom>
          <a:solidFill>
            <a:srgbClr val="F89469">
              <a:alpha val="100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  <a:endParaRPr/>
          </a:p>
        </p:txBody>
      </p:sp>
      <p:pic>
        <p:nvPicPr>
          <p:cNvPr id="20" name="Picture 20"/>
          <p:cNvPicPr>
            <a:picLocks noChangeAspect="1"/>
          </p:cNvPicPr>
          <p:nvPr/>
        </p:nvPicPr>
        <p:blipFill>
          <a:blip r:embed="rId14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15"/>
              </a:ext>
            </a:extLst>
          </a:blip>
          <a:stretch>
            <a:fillRect/>
          </a:stretch>
        </p:blipFill>
        <p:spPr>
          <a:xfrm>
            <a:off x="5930900" y="3670300"/>
            <a:ext cx="762000" cy="762000"/>
          </a:xfrm>
          <a:prstGeom prst="rect">
            <a:avLst/>
          </a:prstGeom>
        </p:spPr>
      </p:pic>
      <p:sp>
        <p:nvSpPr>
          <p:cNvPr id="21" name="AutoShape 21"/>
          <p:cNvSpPr/>
          <p:nvPr/>
        </p:nvSpPr>
        <p:spPr>
          <a:xfrm>
            <a:off x="5295900" y="5524500"/>
            <a:ext cx="1778000" cy="508000"/>
          </a:xfrm>
          <a:prstGeom prst="rect">
            <a:avLst/>
          </a:prstGeom>
          <a:noFill/>
          <a:ln w="1905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indent="0" algn="ctr">
              <a:lnSpc>
                <a:spcPct val="125000"/>
              </a:lnSpc>
              <a:defRPr/>
            </a:pPr>
            <a:r>
              <a:rPr lang="en-US" sz="2800" b="1" i="0" u="none" strike="noStrike">
                <a:solidFill>
                  <a:srgbClr val="FF7A83"/>
                </a:solidFill>
                <a:latin typeface="Noto Sans SC"/>
                <a:ea typeface="Noto Sans SC"/>
                <a:cs typeface="Noto Sans SC"/>
                <a:sym typeface="Noto Sans SC"/>
              </a:rPr>
              <a:t>P1 阶段</a:t>
            </a:r>
            <a:endParaRPr lang="en-US" sz="1100"/>
          </a:p>
        </p:txBody>
      </p:sp>
      <p:sp>
        <p:nvSpPr>
          <p:cNvPr id="22" name="AutoShape 22"/>
          <p:cNvSpPr/>
          <p:nvPr/>
        </p:nvSpPr>
        <p:spPr>
          <a:xfrm>
            <a:off x="5295900" y="6096000"/>
            <a:ext cx="1778000" cy="317500"/>
          </a:xfrm>
          <a:prstGeom prst="rect">
            <a:avLst/>
          </a:prstGeom>
          <a:noFill/>
          <a:ln w="1905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indent="0" algn="ctr">
              <a:lnSpc>
                <a:spcPct val="125000"/>
              </a:lnSpc>
              <a:defRPr/>
            </a:pPr>
            <a:r>
              <a:rPr lang="en-US" sz="1400" b="1" i="0" u="none" strike="noStrike" dirty="0">
                <a:solidFill>
                  <a:srgbClr val="F89469"/>
                </a:solidFill>
                <a:latin typeface="Noto Sans SC"/>
                <a:ea typeface="Noto Sans SC"/>
                <a:cs typeface="Noto Sans SC"/>
                <a:sym typeface="Noto Sans SC"/>
              </a:rPr>
              <a:t>6 - </a:t>
            </a:r>
            <a:r>
              <a:rPr lang="en-US" altLang="zh-CN" b="1" dirty="0">
                <a:solidFill>
                  <a:srgbClr val="F89469"/>
                </a:solidFill>
                <a:latin typeface="Noto Sans SC"/>
                <a:ea typeface="Noto Sans SC"/>
                <a:cs typeface="Noto Sans SC"/>
                <a:sym typeface="Noto Sans SC"/>
              </a:rPr>
              <a:t>8</a:t>
            </a:r>
            <a:r>
              <a:rPr lang="en-US" sz="1400" b="1" i="0" u="none" strike="noStrike" dirty="0">
                <a:solidFill>
                  <a:srgbClr val="F89469"/>
                </a:solidFill>
                <a:latin typeface="Noto Sans SC"/>
                <a:ea typeface="Noto Sans SC"/>
                <a:cs typeface="Noto Sans SC"/>
                <a:sym typeface="Noto Sans SC"/>
              </a:rPr>
              <a:t> </a:t>
            </a:r>
            <a:r>
              <a:rPr lang="en-US" sz="1400" b="1" i="0" u="none" strike="noStrike" dirty="0" err="1">
                <a:solidFill>
                  <a:srgbClr val="F89469"/>
                </a:solidFill>
                <a:latin typeface="Noto Sans SC"/>
                <a:ea typeface="Noto Sans SC"/>
                <a:cs typeface="Noto Sans SC"/>
                <a:sym typeface="Noto Sans SC"/>
              </a:rPr>
              <a:t>个月</a:t>
            </a:r>
            <a:endParaRPr lang="en-US" sz="1100" dirty="0"/>
          </a:p>
        </p:txBody>
      </p:sp>
      <p:sp>
        <p:nvSpPr>
          <p:cNvPr id="23" name="AutoShape 23"/>
          <p:cNvSpPr/>
          <p:nvPr/>
        </p:nvSpPr>
        <p:spPr>
          <a:xfrm>
            <a:off x="5041900" y="6604000"/>
            <a:ext cx="2286000" cy="1143000"/>
          </a:xfrm>
          <a:prstGeom prst="rect">
            <a:avLst/>
          </a:prstGeom>
          <a:noFill/>
          <a:ln w="19050" cap="flat" cmpd="sng">
            <a:noFill/>
            <a:prstDash val="solid"/>
            <a:round/>
          </a:ln>
        </p:spPr>
        <p:txBody>
          <a:bodyPr vert="horz" wrap="square" lIns="0" tIns="0" rIns="0" bIns="0" rtlCol="0" anchor="t" anchorCtr="0"/>
          <a:lstStyle/>
          <a:p>
            <a:pPr indent="0" algn="ctr">
              <a:lnSpc>
                <a:spcPct val="108333"/>
              </a:lnSpc>
              <a:defRPr/>
            </a:pPr>
            <a:r>
              <a:rPr lang="en-US" sz="1200" b="0" i="0" u="none" strike="noStrike">
                <a:solidFill>
                  <a:srgbClr val="595959"/>
                </a:solidFill>
                <a:latin typeface="Noto Sans SC"/>
                <a:ea typeface="Noto Sans SC"/>
                <a:cs typeface="Noto Sans SC"/>
                <a:sym typeface="Noto Sans SC"/>
              </a:rPr>
              <a:t>基于内测反馈深度优化体验，拓展核心功能边界，正式推向大众市场。</a:t>
            </a:r>
            <a:endParaRPr lang="en-US" sz="1100"/>
          </a:p>
        </p:txBody>
      </p:sp>
      <p:sp>
        <p:nvSpPr>
          <p:cNvPr id="24" name="AutoShape 24"/>
          <p:cNvSpPr/>
          <p:nvPr/>
        </p:nvSpPr>
        <p:spPr>
          <a:xfrm>
            <a:off x="6070600" y="4851400"/>
            <a:ext cx="203200" cy="203200"/>
          </a:xfrm>
          <a:prstGeom prst="ellipse">
            <a:avLst/>
          </a:prstGeom>
          <a:solidFill>
            <a:srgbClr val="F89469">
              <a:alpha val="100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  <a:endParaRPr/>
          </a:p>
        </p:txBody>
      </p:sp>
      <p:pic>
        <p:nvPicPr>
          <p:cNvPr id="25" name="Picture 25"/>
          <p:cNvPicPr>
            <a:picLocks noChangeAspect="1"/>
          </p:cNvPicPr>
          <p:nvPr/>
        </p:nvPicPr>
        <p:blipFill>
          <a:blip r:embed="rId16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17"/>
              </a:ext>
            </a:extLst>
          </a:blip>
          <a:stretch>
            <a:fillRect/>
          </a:stretch>
        </p:blipFill>
        <p:spPr>
          <a:xfrm>
            <a:off x="8890000" y="3670300"/>
            <a:ext cx="762000" cy="762000"/>
          </a:xfrm>
          <a:prstGeom prst="rect">
            <a:avLst/>
          </a:prstGeom>
        </p:spPr>
      </p:pic>
      <p:sp>
        <p:nvSpPr>
          <p:cNvPr id="26" name="AutoShape 26"/>
          <p:cNvSpPr/>
          <p:nvPr/>
        </p:nvSpPr>
        <p:spPr>
          <a:xfrm>
            <a:off x="8255000" y="5524500"/>
            <a:ext cx="1778000" cy="508000"/>
          </a:xfrm>
          <a:prstGeom prst="rect">
            <a:avLst/>
          </a:prstGeom>
          <a:noFill/>
          <a:ln w="1905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indent="0" algn="ctr">
              <a:lnSpc>
                <a:spcPct val="125000"/>
              </a:lnSpc>
              <a:defRPr/>
            </a:pPr>
            <a:r>
              <a:rPr lang="en-US" sz="2800" b="1" i="0" u="none" strike="noStrike">
                <a:solidFill>
                  <a:srgbClr val="FF7A83"/>
                </a:solidFill>
                <a:latin typeface="Noto Sans SC"/>
                <a:ea typeface="Noto Sans SC"/>
                <a:cs typeface="Noto Sans SC"/>
                <a:sym typeface="Noto Sans SC"/>
              </a:rPr>
              <a:t>P2 阶段</a:t>
            </a:r>
            <a:endParaRPr lang="en-US" sz="1100"/>
          </a:p>
        </p:txBody>
      </p:sp>
      <p:sp>
        <p:nvSpPr>
          <p:cNvPr id="27" name="AutoShape 27"/>
          <p:cNvSpPr/>
          <p:nvPr/>
        </p:nvSpPr>
        <p:spPr>
          <a:xfrm>
            <a:off x="8255000" y="6096000"/>
            <a:ext cx="1778000" cy="317500"/>
          </a:xfrm>
          <a:prstGeom prst="rect">
            <a:avLst/>
          </a:prstGeom>
          <a:noFill/>
          <a:ln w="1905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indent="0" algn="ctr">
              <a:lnSpc>
                <a:spcPct val="125000"/>
              </a:lnSpc>
              <a:defRPr/>
            </a:pPr>
            <a:r>
              <a:rPr lang="en-US" altLang="zh-CN" b="1" dirty="0">
                <a:solidFill>
                  <a:srgbClr val="F89469"/>
                </a:solidFill>
                <a:latin typeface="Noto Sans SC"/>
                <a:ea typeface="Noto Sans SC"/>
                <a:cs typeface="Noto Sans SC"/>
                <a:sym typeface="Noto Sans SC"/>
              </a:rPr>
              <a:t>8</a:t>
            </a:r>
            <a:r>
              <a:rPr lang="en-US" sz="1400" b="1" i="0" u="none" strike="noStrike" dirty="0">
                <a:solidFill>
                  <a:srgbClr val="F89469"/>
                </a:solidFill>
                <a:latin typeface="Noto Sans SC"/>
                <a:ea typeface="Noto Sans SC"/>
                <a:cs typeface="Noto Sans SC"/>
                <a:sym typeface="Noto Sans SC"/>
              </a:rPr>
              <a:t> - </a:t>
            </a:r>
            <a:r>
              <a:rPr lang="en-US" altLang="zh-CN" b="1" dirty="0">
                <a:solidFill>
                  <a:srgbClr val="F89469"/>
                </a:solidFill>
                <a:latin typeface="Noto Sans SC"/>
                <a:ea typeface="Noto Sans SC"/>
                <a:cs typeface="Noto Sans SC"/>
                <a:sym typeface="Noto Sans SC"/>
              </a:rPr>
              <a:t>12</a:t>
            </a:r>
            <a:r>
              <a:rPr lang="en-US" sz="1400" b="1" i="0" u="none" strike="noStrike" dirty="0">
                <a:solidFill>
                  <a:srgbClr val="F89469"/>
                </a:solidFill>
                <a:latin typeface="Noto Sans SC"/>
                <a:ea typeface="Noto Sans SC"/>
                <a:cs typeface="Noto Sans SC"/>
                <a:sym typeface="Noto Sans SC"/>
              </a:rPr>
              <a:t>个月</a:t>
            </a:r>
            <a:endParaRPr lang="en-US" sz="1100" dirty="0"/>
          </a:p>
        </p:txBody>
      </p:sp>
      <p:sp>
        <p:nvSpPr>
          <p:cNvPr id="28" name="AutoShape 28"/>
          <p:cNvSpPr/>
          <p:nvPr/>
        </p:nvSpPr>
        <p:spPr>
          <a:xfrm>
            <a:off x="8001000" y="6604000"/>
            <a:ext cx="2286000" cy="1143000"/>
          </a:xfrm>
          <a:prstGeom prst="rect">
            <a:avLst/>
          </a:prstGeom>
          <a:noFill/>
          <a:ln w="19050" cap="flat" cmpd="sng">
            <a:noFill/>
            <a:prstDash val="solid"/>
            <a:round/>
          </a:ln>
        </p:spPr>
        <p:txBody>
          <a:bodyPr vert="horz" wrap="square" lIns="0" tIns="0" rIns="0" bIns="0" rtlCol="0" anchor="t" anchorCtr="0"/>
          <a:lstStyle/>
          <a:p>
            <a:pPr indent="0" algn="ctr">
              <a:lnSpc>
                <a:spcPct val="108333"/>
              </a:lnSpc>
              <a:defRPr/>
            </a:pPr>
            <a:r>
              <a:rPr lang="en-US" sz="1200" b="0" i="0" u="none" strike="noStrike">
                <a:solidFill>
                  <a:srgbClr val="595959"/>
                </a:solidFill>
                <a:latin typeface="Noto Sans SC"/>
                <a:ea typeface="Noto Sans SC"/>
                <a:cs typeface="Noto Sans SC"/>
                <a:sym typeface="Noto Sans SC"/>
              </a:rPr>
              <a:t>增强个性化推荐与硬件扩展性，构建开发者开放生态，探索订阅增值服务。</a:t>
            </a:r>
            <a:endParaRPr lang="en-US" sz="1100"/>
          </a:p>
        </p:txBody>
      </p:sp>
      <p:sp>
        <p:nvSpPr>
          <p:cNvPr id="29" name="AutoShape 29"/>
          <p:cNvSpPr/>
          <p:nvPr/>
        </p:nvSpPr>
        <p:spPr>
          <a:xfrm>
            <a:off x="9029700" y="4851400"/>
            <a:ext cx="203200" cy="203200"/>
          </a:xfrm>
          <a:prstGeom prst="ellipse">
            <a:avLst/>
          </a:prstGeom>
          <a:solidFill>
            <a:srgbClr val="F89469">
              <a:alpha val="100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  <a:endParaRPr/>
          </a:p>
        </p:txBody>
      </p:sp>
      <p:pic>
        <p:nvPicPr>
          <p:cNvPr id="30" name="Picture 30"/>
          <p:cNvPicPr>
            <a:picLocks noChangeAspect="1"/>
          </p:cNvPicPr>
          <p:nvPr/>
        </p:nvPicPr>
        <p:blipFill>
          <a:blip r:embed="rId18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19"/>
              </a:ext>
            </a:extLst>
          </a:blip>
          <a:stretch>
            <a:fillRect/>
          </a:stretch>
        </p:blipFill>
        <p:spPr>
          <a:xfrm>
            <a:off x="11582400" y="3670300"/>
            <a:ext cx="762000" cy="762000"/>
          </a:xfrm>
          <a:prstGeom prst="rect">
            <a:avLst/>
          </a:prstGeom>
        </p:spPr>
      </p:pic>
      <p:sp>
        <p:nvSpPr>
          <p:cNvPr id="31" name="AutoShape 31"/>
          <p:cNvSpPr/>
          <p:nvPr/>
        </p:nvSpPr>
        <p:spPr>
          <a:xfrm>
            <a:off x="10947400" y="5524500"/>
            <a:ext cx="1778000" cy="508000"/>
          </a:xfrm>
          <a:prstGeom prst="rect">
            <a:avLst/>
          </a:prstGeom>
          <a:noFill/>
          <a:ln w="1905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indent="0" algn="ctr">
              <a:lnSpc>
                <a:spcPct val="125000"/>
              </a:lnSpc>
              <a:defRPr/>
            </a:pPr>
            <a:r>
              <a:rPr lang="en-US" sz="2800" b="1" i="0" u="none" strike="noStrike">
                <a:solidFill>
                  <a:srgbClr val="FF7A83"/>
                </a:solidFill>
                <a:latin typeface="Noto Sans SC"/>
                <a:ea typeface="Noto Sans SC"/>
                <a:cs typeface="Noto Sans SC"/>
                <a:sym typeface="Noto Sans SC"/>
              </a:rPr>
              <a:t>长期目标</a:t>
            </a:r>
            <a:endParaRPr lang="en-US" sz="1100"/>
          </a:p>
        </p:txBody>
      </p:sp>
      <p:sp>
        <p:nvSpPr>
          <p:cNvPr id="32" name="AutoShape 32"/>
          <p:cNvSpPr/>
          <p:nvPr/>
        </p:nvSpPr>
        <p:spPr>
          <a:xfrm>
            <a:off x="10947400" y="6096000"/>
            <a:ext cx="1778000" cy="317500"/>
          </a:xfrm>
          <a:prstGeom prst="rect">
            <a:avLst/>
          </a:prstGeom>
          <a:noFill/>
          <a:ln w="1905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indent="0" algn="ctr">
              <a:lnSpc>
                <a:spcPct val="125000"/>
              </a:lnSpc>
              <a:defRPr/>
            </a:pPr>
            <a:r>
              <a:rPr lang="en-US" altLang="zh-CN" b="1" dirty="0">
                <a:solidFill>
                  <a:srgbClr val="F89469"/>
                </a:solidFill>
                <a:latin typeface="Noto Sans SC"/>
                <a:ea typeface="Noto Sans SC"/>
                <a:cs typeface="Noto Sans SC"/>
                <a:sym typeface="Noto Sans SC"/>
              </a:rPr>
              <a:t>1</a:t>
            </a:r>
            <a:r>
              <a:rPr lang="en-US" sz="1400" b="1" i="0" u="none" strike="noStrike" dirty="0">
                <a:solidFill>
                  <a:srgbClr val="F89469"/>
                </a:solidFill>
                <a:latin typeface="Noto Sans SC"/>
                <a:ea typeface="Noto Sans SC"/>
                <a:cs typeface="Noto Sans SC"/>
                <a:sym typeface="Noto Sans SC"/>
              </a:rPr>
              <a:t> </a:t>
            </a:r>
            <a:r>
              <a:rPr lang="en-US" sz="1400" b="1" i="0" u="none" strike="noStrike" dirty="0" err="1">
                <a:solidFill>
                  <a:srgbClr val="F89469"/>
                </a:solidFill>
                <a:latin typeface="Noto Sans SC"/>
                <a:ea typeface="Noto Sans SC"/>
                <a:cs typeface="Noto Sans SC"/>
                <a:sym typeface="Noto Sans SC"/>
              </a:rPr>
              <a:t>年以上</a:t>
            </a:r>
            <a:endParaRPr lang="en-US" sz="1100" dirty="0"/>
          </a:p>
        </p:txBody>
      </p:sp>
      <p:sp>
        <p:nvSpPr>
          <p:cNvPr id="33" name="AutoShape 33"/>
          <p:cNvSpPr/>
          <p:nvPr/>
        </p:nvSpPr>
        <p:spPr>
          <a:xfrm>
            <a:off x="10693400" y="6604000"/>
            <a:ext cx="2286000" cy="1143000"/>
          </a:xfrm>
          <a:prstGeom prst="rect">
            <a:avLst/>
          </a:prstGeom>
          <a:noFill/>
          <a:ln w="19050" cap="flat" cmpd="sng">
            <a:noFill/>
            <a:prstDash val="solid"/>
            <a:round/>
          </a:ln>
        </p:spPr>
        <p:txBody>
          <a:bodyPr vert="horz" wrap="square" lIns="0" tIns="0" rIns="0" bIns="0" rtlCol="0" anchor="t" anchorCtr="0"/>
          <a:lstStyle/>
          <a:p>
            <a:pPr indent="0" algn="ctr">
              <a:lnSpc>
                <a:spcPct val="108333"/>
              </a:lnSpc>
              <a:defRPr/>
            </a:pPr>
            <a:r>
              <a:rPr lang="en-US" sz="1200" b="0" i="0" u="none" strike="noStrike">
                <a:solidFill>
                  <a:srgbClr val="595959"/>
                </a:solidFill>
                <a:latin typeface="Noto Sans SC"/>
                <a:ea typeface="Noto Sans SC"/>
                <a:cs typeface="Noto Sans SC"/>
                <a:sym typeface="Noto Sans SC"/>
              </a:rPr>
              <a:t>成为家庭服务机器人的行业标准配置，探索与智慧城市、物联网的深度融合。</a:t>
            </a:r>
            <a:endParaRPr lang="en-US" sz="1100"/>
          </a:p>
        </p:txBody>
      </p:sp>
      <p:sp>
        <p:nvSpPr>
          <p:cNvPr id="34" name="AutoShape 34"/>
          <p:cNvSpPr/>
          <p:nvPr/>
        </p:nvSpPr>
        <p:spPr>
          <a:xfrm>
            <a:off x="11722100" y="4851400"/>
            <a:ext cx="203200" cy="203200"/>
          </a:xfrm>
          <a:prstGeom prst="ellipse">
            <a:avLst/>
          </a:prstGeom>
          <a:solidFill>
            <a:srgbClr val="F89469">
              <a:alpha val="100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  <a:endParaRPr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>
            <a:alpha val="100000"/>
          </a:srgb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AutoShape 2"/>
          <p:cNvSpPr/>
          <p:nvPr/>
        </p:nvSpPr>
        <p:spPr>
          <a:xfrm>
            <a:off x="622300" y="571500"/>
            <a:ext cx="7404100" cy="635000"/>
          </a:xfrm>
          <a:prstGeom prst="rect">
            <a:avLst/>
          </a:prstGeom>
          <a:noFill/>
          <a:ln w="19050" cap="flat" cmpd="sng">
            <a:noFill/>
            <a:prstDash val="solid"/>
            <a:round/>
          </a:ln>
        </p:spPr>
        <p:txBody>
          <a:bodyPr vert="horz" wrap="square" lIns="0" tIns="0" rIns="0" bIns="0" rtlCol="0" anchor="t" anchorCtr="0"/>
          <a:lstStyle/>
          <a:p>
            <a:pPr indent="0" algn="l">
              <a:lnSpc>
                <a:spcPts val="5040"/>
              </a:lnSpc>
              <a:defRPr/>
            </a:pPr>
            <a:r>
              <a:rPr lang="en-US" sz="4200" b="1" i="0" u="none" strike="noStrike">
                <a:solidFill>
                  <a:srgbClr val="FFB458"/>
                </a:solidFill>
                <a:latin typeface="Noto Sans SC"/>
                <a:ea typeface="Noto Sans SC"/>
                <a:cs typeface="Noto Sans SC"/>
                <a:sym typeface="Noto Sans SC"/>
              </a:rPr>
              <a:t>融资需求与团队介绍</a:t>
            </a:r>
            <a:endParaRPr lang="en-US" sz="1100"/>
          </a:p>
        </p:txBody>
      </p:sp>
      <p:cxnSp>
        <p:nvCxnSpPr>
          <p:cNvPr id="3" name="Connector 3"/>
          <p:cNvCxnSpPr/>
          <p:nvPr/>
        </p:nvCxnSpPr>
        <p:spPr>
          <a:xfrm>
            <a:off x="4406900" y="889000"/>
            <a:ext cx="11861807" cy="12700"/>
          </a:xfrm>
          <a:prstGeom prst="line">
            <a:avLst/>
          </a:prstGeom>
          <a:solidFill>
            <a:srgbClr val="DEE0E3">
              <a:alpha val="100000"/>
            </a:srgbClr>
          </a:solidFill>
          <a:ln w="12700" cap="rnd" cmpd="sng">
            <a:solidFill>
              <a:srgbClr val="F89469">
                <a:alpha val="100000"/>
              </a:srgbClr>
            </a:solidFill>
            <a:prstDash val="solid"/>
            <a:miter lim="10000000"/>
            <a:headEnd type="none" w="med" len="med"/>
            <a:tailEnd type="none" w="med" len="med"/>
          </a:ln>
        </p:spPr>
      </p:cxnSp>
      <p:sp>
        <p:nvSpPr>
          <p:cNvPr id="4" name="AutoShape 4"/>
          <p:cNvSpPr/>
          <p:nvPr/>
        </p:nvSpPr>
        <p:spPr>
          <a:xfrm>
            <a:off x="16446500" y="546100"/>
            <a:ext cx="1104900" cy="736600"/>
          </a:xfrm>
          <a:prstGeom prst="rect">
            <a:avLst/>
          </a:prstGeom>
          <a:noFill/>
          <a:ln w="19050" cap="flat" cmpd="sng">
            <a:noFill/>
            <a:prstDash val="solid"/>
            <a:round/>
          </a:ln>
        </p:spPr>
        <p:txBody>
          <a:bodyPr vert="horz" wrap="square" lIns="0" tIns="0" rIns="0" bIns="0" rtlCol="0" anchor="t" anchorCtr="0"/>
          <a:lstStyle/>
          <a:p>
            <a:pPr indent="0" algn="ctr">
              <a:lnSpc>
                <a:spcPts val="5400"/>
              </a:lnSpc>
              <a:defRPr/>
            </a:pPr>
            <a:r>
              <a:rPr lang="en-US" sz="4500" b="0" i="0" u="none" strike="noStrike">
                <a:solidFill>
                  <a:srgbClr val="FFB364"/>
                </a:solidFill>
                <a:latin typeface="Montserrat"/>
                <a:ea typeface="Montserrat"/>
                <a:cs typeface="Montserrat"/>
                <a:sym typeface="Montserrat"/>
              </a:rPr>
              <a:t>04</a:t>
            </a:r>
            <a:endParaRPr lang="en-US" sz="1100"/>
          </a:p>
        </p:txBody>
      </p:sp>
      <p:pic>
        <p:nvPicPr>
          <p:cNvPr id="5" name="Picture 5"/>
          <p:cNvPicPr>
            <a:picLocks noChangeAspect="1"/>
          </p:cNvPicPr>
          <p:nvPr/>
        </p:nvPicPr>
        <p:blipFill>
          <a:blip r:embed="rId3"/>
          <a:srcRect t="359" b="359"/>
          <a:stretch>
            <a:fillRect/>
          </a:stretch>
        </p:blipFill>
        <p:spPr>
          <a:xfrm>
            <a:off x="711200" y="6819900"/>
            <a:ext cx="16700500" cy="3467100"/>
          </a:xfrm>
          <a:prstGeom prst="rect">
            <a:avLst/>
          </a:prstGeom>
          <a:noFill/>
          <a:ln w="25400" cap="flat" cmpd="sng">
            <a:noFill/>
            <a:prstDash val="solid"/>
            <a:round/>
          </a:ln>
        </p:spPr>
      </p:pic>
      <p:sp>
        <p:nvSpPr>
          <p:cNvPr id="6" name="Freeform 6"/>
          <p:cNvSpPr/>
          <p:nvPr/>
        </p:nvSpPr>
        <p:spPr>
          <a:xfrm>
            <a:off x="1587500" y="2438400"/>
            <a:ext cx="15112555" cy="6964108"/>
          </a:xfrm>
          <a:custGeom>
            <a:avLst/>
            <a:gdLst/>
            <a:ahLst/>
            <a:cxnLst/>
            <a:rect l="l" t="t" r="r" b="b"/>
            <a:pathLst>
              <a:path w="15112555" h="6964108">
                <a:moveTo>
                  <a:pt x="364808" y="0"/>
                </a:moveTo>
                <a:lnTo>
                  <a:pt x="14747747" y="0"/>
                </a:lnTo>
                <a:cubicBezTo>
                  <a:pt x="14949202" y="0"/>
                  <a:pt x="15112555" y="163068"/>
                  <a:pt x="15112555" y="364331"/>
                </a:cubicBezTo>
                <a:lnTo>
                  <a:pt x="15112555" y="6964108"/>
                </a:lnTo>
                <a:lnTo>
                  <a:pt x="0" y="6964108"/>
                </a:lnTo>
                <a:lnTo>
                  <a:pt x="0" y="364331"/>
                </a:lnTo>
                <a:cubicBezTo>
                  <a:pt x="0" y="163068"/>
                  <a:pt x="163354" y="0"/>
                  <a:pt x="364808" y="0"/>
                </a:cubicBezTo>
                <a:close/>
              </a:path>
            </a:pathLst>
          </a:custGeom>
          <a:solidFill>
            <a:srgbClr val="FFFFFF">
              <a:alpha val="100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  <a:endParaRPr/>
          </a:p>
        </p:txBody>
      </p:sp>
      <p:sp>
        <p:nvSpPr>
          <p:cNvPr id="7" name="Freeform 7"/>
          <p:cNvSpPr/>
          <p:nvPr/>
        </p:nvSpPr>
        <p:spPr>
          <a:xfrm>
            <a:off x="1574800" y="2425700"/>
            <a:ext cx="15131605" cy="6983158"/>
          </a:xfrm>
          <a:custGeom>
            <a:avLst/>
            <a:gdLst/>
            <a:ahLst/>
            <a:cxnLst/>
            <a:rect l="l" t="t" r="r" b="b"/>
            <a:pathLst>
              <a:path w="15131605" h="6983158">
                <a:moveTo>
                  <a:pt x="374332" y="0"/>
                </a:moveTo>
                <a:lnTo>
                  <a:pt x="14757272" y="0"/>
                </a:lnTo>
                <a:lnTo>
                  <a:pt x="14757272" y="9525"/>
                </a:lnTo>
                <a:lnTo>
                  <a:pt x="14757272" y="0"/>
                </a:lnTo>
                <a:cubicBezTo>
                  <a:pt x="14963964" y="0"/>
                  <a:pt x="15131605" y="167354"/>
                  <a:pt x="15131605" y="373856"/>
                </a:cubicBezTo>
                <a:lnTo>
                  <a:pt x="15122080" y="373856"/>
                </a:lnTo>
                <a:lnTo>
                  <a:pt x="15131605" y="373856"/>
                </a:lnTo>
                <a:lnTo>
                  <a:pt x="15131605" y="6973634"/>
                </a:lnTo>
                <a:cubicBezTo>
                  <a:pt x="15131605" y="6978872"/>
                  <a:pt x="15127318" y="6983158"/>
                  <a:pt x="15122080" y="6983158"/>
                </a:cubicBezTo>
                <a:lnTo>
                  <a:pt x="9525" y="6983158"/>
                </a:lnTo>
                <a:cubicBezTo>
                  <a:pt x="4286" y="6983158"/>
                  <a:pt x="0" y="6978872"/>
                  <a:pt x="0" y="6973634"/>
                </a:cubicBezTo>
                <a:lnTo>
                  <a:pt x="0" y="373856"/>
                </a:lnTo>
                <a:lnTo>
                  <a:pt x="9525" y="373856"/>
                </a:lnTo>
                <a:lnTo>
                  <a:pt x="0" y="373856"/>
                </a:lnTo>
                <a:cubicBezTo>
                  <a:pt x="0" y="167354"/>
                  <a:pt x="167640" y="0"/>
                  <a:pt x="374332" y="0"/>
                </a:cubicBezTo>
                <a:cubicBezTo>
                  <a:pt x="375285" y="0"/>
                  <a:pt x="376333" y="190"/>
                  <a:pt x="377285" y="476"/>
                </a:cubicBezTo>
                <a:lnTo>
                  <a:pt x="374332" y="9525"/>
                </a:lnTo>
                <a:lnTo>
                  <a:pt x="374332" y="0"/>
                </a:lnTo>
                <a:moveTo>
                  <a:pt x="374332" y="19050"/>
                </a:moveTo>
                <a:cubicBezTo>
                  <a:pt x="373380" y="19050"/>
                  <a:pt x="372332" y="18860"/>
                  <a:pt x="371380" y="18574"/>
                </a:cubicBezTo>
                <a:lnTo>
                  <a:pt x="374332" y="9525"/>
                </a:lnTo>
                <a:lnTo>
                  <a:pt x="374332" y="19050"/>
                </a:lnTo>
                <a:cubicBezTo>
                  <a:pt x="178118" y="19050"/>
                  <a:pt x="19050" y="177927"/>
                  <a:pt x="19050" y="373856"/>
                </a:cubicBezTo>
                <a:lnTo>
                  <a:pt x="19050" y="6973634"/>
                </a:lnTo>
                <a:lnTo>
                  <a:pt x="9525" y="6973634"/>
                </a:lnTo>
                <a:lnTo>
                  <a:pt x="9525" y="6964108"/>
                </a:lnTo>
                <a:lnTo>
                  <a:pt x="15122080" y="6964108"/>
                </a:lnTo>
                <a:lnTo>
                  <a:pt x="15122080" y="6973634"/>
                </a:lnTo>
                <a:lnTo>
                  <a:pt x="15112555" y="6973634"/>
                </a:lnTo>
                <a:lnTo>
                  <a:pt x="15112555" y="373856"/>
                </a:lnTo>
                <a:cubicBezTo>
                  <a:pt x="15112555" y="177927"/>
                  <a:pt x="14953488" y="19050"/>
                  <a:pt x="14757272" y="19050"/>
                </a:cubicBezTo>
                <a:lnTo>
                  <a:pt x="374332" y="19050"/>
                </a:lnTo>
                <a:close/>
              </a:path>
            </a:pathLst>
          </a:custGeom>
          <a:solidFill>
            <a:srgbClr val="FF7A83">
              <a:alpha val="100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  <a:endParaRPr/>
          </a:p>
        </p:txBody>
      </p:sp>
      <p:sp>
        <p:nvSpPr>
          <p:cNvPr id="8" name="AutoShape 8"/>
          <p:cNvSpPr/>
          <p:nvPr/>
        </p:nvSpPr>
        <p:spPr>
          <a:xfrm>
            <a:off x="2197100" y="3365500"/>
            <a:ext cx="685800" cy="698500"/>
          </a:xfrm>
          <a:prstGeom prst="rect">
            <a:avLst/>
          </a:prstGeom>
          <a:noFill/>
          <a:ln w="19050" cap="flat" cmpd="sng">
            <a:noFill/>
            <a:prstDash val="solid"/>
            <a:round/>
          </a:ln>
        </p:spPr>
        <p:txBody>
          <a:bodyPr vert="horz" wrap="square" lIns="0" tIns="0" rIns="0" bIns="0" rtlCol="0" anchor="t" anchorCtr="0"/>
          <a:lstStyle/>
          <a:p>
            <a:pPr indent="0" algn="l">
              <a:lnSpc>
                <a:spcPts val="5040"/>
              </a:lnSpc>
              <a:defRPr/>
            </a:pPr>
            <a:r>
              <a:rPr lang="en-US" sz="4200" b="0" i="0" u="none" strike="noStrike">
                <a:solidFill>
                  <a:srgbClr val="FFB458"/>
                </a:solidFill>
                <a:latin typeface="Montserrat"/>
                <a:ea typeface="Montserrat"/>
                <a:cs typeface="Montserrat"/>
                <a:sym typeface="Montserrat"/>
              </a:rPr>
              <a:t>01</a:t>
            </a:r>
            <a:endParaRPr lang="en-US" sz="1100"/>
          </a:p>
        </p:txBody>
      </p:sp>
      <p:cxnSp>
        <p:nvCxnSpPr>
          <p:cNvPr id="9" name="Connector 9"/>
          <p:cNvCxnSpPr/>
          <p:nvPr/>
        </p:nvCxnSpPr>
        <p:spPr>
          <a:xfrm rot="5375790">
            <a:off x="2171700" y="4425972"/>
            <a:ext cx="1803400" cy="12700"/>
          </a:xfrm>
          <a:prstGeom prst="line">
            <a:avLst/>
          </a:prstGeom>
          <a:solidFill>
            <a:srgbClr val="DEE0E3">
              <a:alpha val="100000"/>
            </a:srgbClr>
          </a:solidFill>
          <a:ln w="12700" cap="flat" cmpd="sng">
            <a:solidFill>
              <a:srgbClr val="FF7A83">
                <a:alpha val="100000"/>
              </a:srgbClr>
            </a:solidFill>
            <a:prstDash val="solid"/>
            <a:round/>
            <a:headEnd type="none" w="med" len="med"/>
            <a:tailEnd type="none" w="med" len="med"/>
          </a:ln>
        </p:spPr>
      </p:cxnSp>
      <p:sp>
        <p:nvSpPr>
          <p:cNvPr id="10" name="AutoShape 10"/>
          <p:cNvSpPr/>
          <p:nvPr/>
        </p:nvSpPr>
        <p:spPr>
          <a:xfrm>
            <a:off x="3340100" y="3467100"/>
            <a:ext cx="2540000" cy="469900"/>
          </a:xfrm>
          <a:prstGeom prst="rect">
            <a:avLst/>
          </a:prstGeom>
          <a:noFill/>
          <a:ln w="19050" cap="flat" cmpd="sng">
            <a:noFill/>
            <a:prstDash val="solid"/>
            <a:round/>
          </a:ln>
        </p:spPr>
        <p:txBody>
          <a:bodyPr vert="horz" wrap="square" lIns="0" tIns="0" rIns="0" bIns="0" rtlCol="0" anchor="t" anchorCtr="0"/>
          <a:lstStyle/>
          <a:p>
            <a:pPr indent="0" algn="l">
              <a:lnSpc>
                <a:spcPts val="3600"/>
              </a:lnSpc>
              <a:defRPr/>
            </a:pPr>
            <a:r>
              <a:rPr lang="en-US" sz="2400" b="1" i="0" u="none" strike="noStrike">
                <a:solidFill>
                  <a:srgbClr val="FF7A83"/>
                </a:solidFill>
                <a:latin typeface="Noto Sans SC"/>
                <a:ea typeface="Noto Sans SC"/>
                <a:cs typeface="Noto Sans SC"/>
                <a:sym typeface="Noto Sans SC"/>
              </a:rPr>
              <a:t>种子轮融资计划</a:t>
            </a:r>
            <a:endParaRPr lang="en-US" sz="1100"/>
          </a:p>
        </p:txBody>
      </p:sp>
      <p:sp>
        <p:nvSpPr>
          <p:cNvPr id="11" name="AutoShape 11"/>
          <p:cNvSpPr/>
          <p:nvPr/>
        </p:nvSpPr>
        <p:spPr>
          <a:xfrm>
            <a:off x="3340100" y="4127500"/>
            <a:ext cx="2921000" cy="1270000"/>
          </a:xfrm>
          <a:prstGeom prst="rect">
            <a:avLst/>
          </a:prstGeom>
          <a:noFill/>
          <a:ln w="19050" cap="flat" cmpd="sng">
            <a:noFill/>
            <a:prstDash val="solid"/>
            <a:round/>
          </a:ln>
        </p:spPr>
        <p:txBody>
          <a:bodyPr vert="horz" wrap="square" lIns="0" tIns="0" rIns="0" bIns="0" rtlCol="0" anchor="t" anchorCtr="0"/>
          <a:lstStyle/>
          <a:p>
            <a:pPr indent="0" algn="l">
              <a:lnSpc>
                <a:spcPct val="116666"/>
              </a:lnSpc>
              <a:defRPr/>
            </a:pPr>
            <a:r>
              <a:rPr lang="en-US" sz="1300" b="0" i="0" u="none" strike="noStrike" dirty="0">
                <a:solidFill>
                  <a:srgbClr val="595959"/>
                </a:solidFill>
                <a:latin typeface="Noto Sans SC"/>
                <a:ea typeface="Noto Sans SC"/>
                <a:cs typeface="Noto Sans SC"/>
                <a:sym typeface="Noto Sans SC"/>
              </a:rPr>
              <a:t>目标融资金额：</a:t>
            </a:r>
            <a:r>
              <a:rPr lang="en-US" altLang="zh-CN" sz="1300" dirty="0">
                <a:solidFill>
                  <a:srgbClr val="595959"/>
                </a:solidFill>
                <a:latin typeface="Noto Sans SC"/>
                <a:ea typeface="Noto Sans SC"/>
                <a:cs typeface="Noto Sans SC"/>
                <a:sym typeface="Noto Sans SC"/>
              </a:rPr>
              <a:t>3</a:t>
            </a:r>
            <a:r>
              <a:rPr lang="en-US" sz="1300" b="0" i="0" u="none" strike="noStrike" dirty="0">
                <a:solidFill>
                  <a:srgbClr val="595959"/>
                </a:solidFill>
                <a:latin typeface="Noto Sans SC"/>
                <a:ea typeface="Noto Sans SC"/>
                <a:cs typeface="Noto Sans SC"/>
                <a:sym typeface="Noto Sans SC"/>
              </a:rPr>
              <a:t>00万人民币，用于启动核心业务验证与初始产品研发。</a:t>
            </a:r>
            <a:endParaRPr lang="en-US" sz="1100" dirty="0"/>
          </a:p>
        </p:txBody>
      </p:sp>
      <p:sp>
        <p:nvSpPr>
          <p:cNvPr id="12" name="AutoShape 12"/>
          <p:cNvSpPr/>
          <p:nvPr/>
        </p:nvSpPr>
        <p:spPr>
          <a:xfrm>
            <a:off x="7086600" y="3365500"/>
            <a:ext cx="850900" cy="698500"/>
          </a:xfrm>
          <a:prstGeom prst="rect">
            <a:avLst/>
          </a:prstGeom>
          <a:noFill/>
          <a:ln w="19050" cap="flat" cmpd="sng">
            <a:noFill/>
            <a:prstDash val="solid"/>
            <a:round/>
          </a:ln>
        </p:spPr>
        <p:txBody>
          <a:bodyPr vert="horz" wrap="square" lIns="0" tIns="0" rIns="0" bIns="0" rtlCol="0" anchor="t" anchorCtr="0"/>
          <a:lstStyle/>
          <a:p>
            <a:pPr indent="0" algn="l">
              <a:lnSpc>
                <a:spcPts val="5040"/>
              </a:lnSpc>
              <a:defRPr/>
            </a:pPr>
            <a:r>
              <a:rPr lang="en-US" sz="4200" b="0" i="0" u="none" strike="noStrike">
                <a:solidFill>
                  <a:srgbClr val="FFB458"/>
                </a:solidFill>
                <a:latin typeface="Montserrat"/>
                <a:ea typeface="Montserrat"/>
                <a:cs typeface="Montserrat"/>
                <a:sym typeface="Montserrat"/>
              </a:rPr>
              <a:t>02</a:t>
            </a:r>
            <a:endParaRPr lang="en-US" sz="1100"/>
          </a:p>
        </p:txBody>
      </p:sp>
      <p:cxnSp>
        <p:nvCxnSpPr>
          <p:cNvPr id="13" name="Connector 13"/>
          <p:cNvCxnSpPr/>
          <p:nvPr/>
        </p:nvCxnSpPr>
        <p:spPr>
          <a:xfrm rot="5375790">
            <a:off x="7061200" y="4425972"/>
            <a:ext cx="1803400" cy="12700"/>
          </a:xfrm>
          <a:prstGeom prst="line">
            <a:avLst/>
          </a:prstGeom>
          <a:solidFill>
            <a:srgbClr val="DEE0E3">
              <a:alpha val="100000"/>
            </a:srgbClr>
          </a:solidFill>
          <a:ln w="12700" cap="flat" cmpd="sng">
            <a:solidFill>
              <a:srgbClr val="FF7A83">
                <a:alpha val="100000"/>
              </a:srgbClr>
            </a:solidFill>
            <a:prstDash val="solid"/>
            <a:round/>
            <a:headEnd type="none" w="med" len="med"/>
            <a:tailEnd type="none" w="med" len="med"/>
          </a:ln>
        </p:spPr>
      </p:cxnSp>
      <p:sp>
        <p:nvSpPr>
          <p:cNvPr id="14" name="AutoShape 14"/>
          <p:cNvSpPr/>
          <p:nvPr/>
        </p:nvSpPr>
        <p:spPr>
          <a:xfrm>
            <a:off x="8229600" y="3467100"/>
            <a:ext cx="2540000" cy="469900"/>
          </a:xfrm>
          <a:prstGeom prst="rect">
            <a:avLst/>
          </a:prstGeom>
          <a:noFill/>
          <a:ln w="19050" cap="flat" cmpd="sng">
            <a:noFill/>
            <a:prstDash val="solid"/>
            <a:round/>
          </a:ln>
        </p:spPr>
        <p:txBody>
          <a:bodyPr vert="horz" wrap="square" lIns="0" tIns="0" rIns="0" bIns="0" rtlCol="0" anchor="t" anchorCtr="0"/>
          <a:lstStyle/>
          <a:p>
            <a:pPr indent="0" algn="l">
              <a:lnSpc>
                <a:spcPts val="3600"/>
              </a:lnSpc>
              <a:defRPr/>
            </a:pPr>
            <a:r>
              <a:rPr lang="en-US" sz="2400" b="1" i="0" u="none" strike="noStrike">
                <a:solidFill>
                  <a:srgbClr val="FF7A83"/>
                </a:solidFill>
                <a:latin typeface="Noto Sans SC"/>
                <a:ea typeface="Noto Sans SC"/>
                <a:cs typeface="Noto Sans SC"/>
                <a:sym typeface="Noto Sans SC"/>
              </a:rPr>
              <a:t>资金用途分配</a:t>
            </a:r>
            <a:endParaRPr lang="en-US" sz="1100"/>
          </a:p>
        </p:txBody>
      </p:sp>
      <p:sp>
        <p:nvSpPr>
          <p:cNvPr id="15" name="AutoShape 15"/>
          <p:cNvSpPr/>
          <p:nvPr/>
        </p:nvSpPr>
        <p:spPr>
          <a:xfrm>
            <a:off x="8229600" y="4127500"/>
            <a:ext cx="2921000" cy="1270000"/>
          </a:xfrm>
          <a:prstGeom prst="rect">
            <a:avLst/>
          </a:prstGeom>
          <a:noFill/>
          <a:ln w="19050" cap="flat" cmpd="sng">
            <a:noFill/>
            <a:prstDash val="solid"/>
            <a:round/>
          </a:ln>
        </p:spPr>
        <p:txBody>
          <a:bodyPr vert="horz" wrap="square" lIns="0" tIns="0" rIns="0" bIns="0" rtlCol="0" anchor="t" anchorCtr="0"/>
          <a:lstStyle/>
          <a:p>
            <a:pPr indent="0" algn="l">
              <a:lnSpc>
                <a:spcPct val="116666"/>
              </a:lnSpc>
              <a:defRPr/>
            </a:pPr>
            <a:r>
              <a:rPr lang="en-US" sz="1300" b="0" i="0" u="none" strike="noStrike">
                <a:solidFill>
                  <a:srgbClr val="595959"/>
                </a:solidFill>
                <a:latin typeface="Noto Sans SC"/>
                <a:ea typeface="Noto Sans SC"/>
                <a:cs typeface="Noto Sans SC"/>
                <a:sym typeface="Noto Sans SC"/>
              </a:rPr>
              <a:t>研发投入(40%)、供应链建设(30%)、市场推广(20%)、团队核心成员扩充(10%)。</a:t>
            </a:r>
            <a:endParaRPr lang="en-US" sz="1100"/>
          </a:p>
        </p:txBody>
      </p:sp>
      <p:sp>
        <p:nvSpPr>
          <p:cNvPr id="16" name="AutoShape 16"/>
          <p:cNvSpPr/>
          <p:nvPr/>
        </p:nvSpPr>
        <p:spPr>
          <a:xfrm>
            <a:off x="11976100" y="3365500"/>
            <a:ext cx="850900" cy="698500"/>
          </a:xfrm>
          <a:prstGeom prst="rect">
            <a:avLst/>
          </a:prstGeom>
          <a:noFill/>
          <a:ln w="19050" cap="flat" cmpd="sng">
            <a:noFill/>
            <a:prstDash val="solid"/>
            <a:round/>
          </a:ln>
        </p:spPr>
        <p:txBody>
          <a:bodyPr vert="horz" wrap="square" lIns="0" tIns="0" rIns="0" bIns="0" rtlCol="0" anchor="t" anchorCtr="0"/>
          <a:lstStyle/>
          <a:p>
            <a:pPr indent="0" algn="l">
              <a:lnSpc>
                <a:spcPts val="5040"/>
              </a:lnSpc>
              <a:defRPr/>
            </a:pPr>
            <a:r>
              <a:rPr lang="en-US" sz="4200" b="0" i="0" u="none" strike="noStrike">
                <a:solidFill>
                  <a:srgbClr val="FFB458"/>
                </a:solidFill>
                <a:latin typeface="Montserrat"/>
                <a:ea typeface="Montserrat"/>
                <a:cs typeface="Montserrat"/>
                <a:sym typeface="Montserrat"/>
              </a:rPr>
              <a:t>03</a:t>
            </a:r>
            <a:endParaRPr lang="en-US" sz="1100"/>
          </a:p>
        </p:txBody>
      </p:sp>
      <p:cxnSp>
        <p:nvCxnSpPr>
          <p:cNvPr id="17" name="Connector 17"/>
          <p:cNvCxnSpPr/>
          <p:nvPr/>
        </p:nvCxnSpPr>
        <p:spPr>
          <a:xfrm rot="5375790">
            <a:off x="11938000" y="4425972"/>
            <a:ext cx="1803400" cy="12700"/>
          </a:xfrm>
          <a:prstGeom prst="line">
            <a:avLst/>
          </a:prstGeom>
          <a:solidFill>
            <a:srgbClr val="DEE0E3">
              <a:alpha val="100000"/>
            </a:srgbClr>
          </a:solidFill>
          <a:ln w="12700" cap="flat" cmpd="sng">
            <a:solidFill>
              <a:srgbClr val="FF7A83">
                <a:alpha val="100000"/>
              </a:srgbClr>
            </a:solidFill>
            <a:prstDash val="solid"/>
            <a:round/>
            <a:headEnd type="none" w="med" len="med"/>
            <a:tailEnd type="none" w="med" len="med"/>
          </a:ln>
        </p:spPr>
      </p:cxnSp>
      <p:sp>
        <p:nvSpPr>
          <p:cNvPr id="18" name="AutoShape 18"/>
          <p:cNvSpPr/>
          <p:nvPr/>
        </p:nvSpPr>
        <p:spPr>
          <a:xfrm>
            <a:off x="13106400" y="3467100"/>
            <a:ext cx="2540000" cy="469900"/>
          </a:xfrm>
          <a:prstGeom prst="rect">
            <a:avLst/>
          </a:prstGeom>
          <a:noFill/>
          <a:ln w="19050" cap="flat" cmpd="sng">
            <a:noFill/>
            <a:prstDash val="solid"/>
            <a:round/>
          </a:ln>
        </p:spPr>
        <p:txBody>
          <a:bodyPr vert="horz" wrap="square" lIns="0" tIns="0" rIns="0" bIns="0" rtlCol="0" anchor="t" anchorCtr="0"/>
          <a:lstStyle/>
          <a:p>
            <a:pPr indent="0" algn="l">
              <a:lnSpc>
                <a:spcPts val="3600"/>
              </a:lnSpc>
              <a:defRPr/>
            </a:pPr>
            <a:r>
              <a:rPr lang="en-US" sz="2400" b="1" i="0" u="none" strike="noStrike">
                <a:solidFill>
                  <a:srgbClr val="FF7A83"/>
                </a:solidFill>
                <a:latin typeface="Noto Sans SC"/>
                <a:ea typeface="Noto Sans SC"/>
                <a:cs typeface="Noto Sans SC"/>
                <a:sym typeface="Noto Sans SC"/>
              </a:rPr>
              <a:t>CEO 首席执行官</a:t>
            </a:r>
            <a:endParaRPr lang="en-US" sz="1100"/>
          </a:p>
        </p:txBody>
      </p:sp>
      <p:sp>
        <p:nvSpPr>
          <p:cNvPr id="19" name="AutoShape 19"/>
          <p:cNvSpPr/>
          <p:nvPr/>
        </p:nvSpPr>
        <p:spPr>
          <a:xfrm>
            <a:off x="13106400" y="4127500"/>
            <a:ext cx="2540000" cy="1270000"/>
          </a:xfrm>
          <a:prstGeom prst="rect">
            <a:avLst/>
          </a:prstGeom>
          <a:noFill/>
          <a:ln w="19050" cap="flat" cmpd="sng">
            <a:noFill/>
            <a:prstDash val="solid"/>
            <a:round/>
          </a:ln>
        </p:spPr>
        <p:txBody>
          <a:bodyPr vert="horz" wrap="square" lIns="0" tIns="0" rIns="0" bIns="0" rtlCol="0" anchor="t" anchorCtr="0"/>
          <a:lstStyle/>
          <a:p>
            <a:pPr indent="0" algn="l">
              <a:lnSpc>
                <a:spcPct val="116666"/>
              </a:lnSpc>
              <a:defRPr/>
            </a:pPr>
            <a:r>
              <a:rPr lang="en-US" sz="1300" b="0" i="0" u="none" strike="noStrike">
                <a:solidFill>
                  <a:srgbClr val="595959"/>
                </a:solidFill>
                <a:latin typeface="Noto Sans SC"/>
                <a:ea typeface="Noto Sans SC"/>
                <a:cs typeface="Noto Sans SC"/>
                <a:sym typeface="Noto Sans SC"/>
              </a:rPr>
              <a:t>连续创业者，深耕AI行业多年，是AI产品商业化落地与团队管理的实战型专家。</a:t>
            </a:r>
            <a:endParaRPr lang="en-US" sz="1100"/>
          </a:p>
        </p:txBody>
      </p:sp>
      <p:sp>
        <p:nvSpPr>
          <p:cNvPr id="20" name="AutoShape 20"/>
          <p:cNvSpPr/>
          <p:nvPr/>
        </p:nvSpPr>
        <p:spPr>
          <a:xfrm>
            <a:off x="2197100" y="6489700"/>
            <a:ext cx="952500" cy="698500"/>
          </a:xfrm>
          <a:prstGeom prst="rect">
            <a:avLst/>
          </a:prstGeom>
          <a:noFill/>
          <a:ln w="19050" cap="flat" cmpd="sng">
            <a:noFill/>
            <a:prstDash val="solid"/>
            <a:round/>
          </a:ln>
        </p:spPr>
        <p:txBody>
          <a:bodyPr vert="horz" wrap="square" lIns="0" tIns="0" rIns="0" bIns="0" rtlCol="0" anchor="t" anchorCtr="0"/>
          <a:lstStyle/>
          <a:p>
            <a:pPr indent="0" algn="l">
              <a:lnSpc>
                <a:spcPts val="5040"/>
              </a:lnSpc>
              <a:defRPr/>
            </a:pPr>
            <a:r>
              <a:rPr lang="en-US" sz="4200" b="0" i="0" u="none" strike="noStrike">
                <a:solidFill>
                  <a:srgbClr val="FFB458"/>
                </a:solidFill>
                <a:latin typeface="Montserrat"/>
                <a:ea typeface="Montserrat"/>
                <a:cs typeface="Montserrat"/>
                <a:sym typeface="Montserrat"/>
              </a:rPr>
              <a:t>04</a:t>
            </a:r>
            <a:endParaRPr lang="en-US" sz="1100"/>
          </a:p>
        </p:txBody>
      </p:sp>
      <p:cxnSp>
        <p:nvCxnSpPr>
          <p:cNvPr id="21" name="Connector 21"/>
          <p:cNvCxnSpPr/>
          <p:nvPr/>
        </p:nvCxnSpPr>
        <p:spPr>
          <a:xfrm rot="5375619">
            <a:off x="2178050" y="7556523"/>
            <a:ext cx="1790700" cy="12700"/>
          </a:xfrm>
          <a:prstGeom prst="line">
            <a:avLst/>
          </a:prstGeom>
          <a:solidFill>
            <a:srgbClr val="DEE0E3">
              <a:alpha val="100000"/>
            </a:srgbClr>
          </a:solidFill>
          <a:ln w="12700" cap="flat" cmpd="sng">
            <a:solidFill>
              <a:srgbClr val="FF7A83">
                <a:alpha val="100000"/>
              </a:srgbClr>
            </a:solidFill>
            <a:prstDash val="solid"/>
            <a:round/>
            <a:headEnd type="none" w="med" len="med"/>
            <a:tailEnd type="none" w="med" len="med"/>
          </a:ln>
        </p:spPr>
      </p:cxnSp>
      <p:sp>
        <p:nvSpPr>
          <p:cNvPr id="22" name="AutoShape 22"/>
          <p:cNvSpPr/>
          <p:nvPr/>
        </p:nvSpPr>
        <p:spPr>
          <a:xfrm>
            <a:off x="3340100" y="6604000"/>
            <a:ext cx="2540000" cy="469900"/>
          </a:xfrm>
          <a:prstGeom prst="rect">
            <a:avLst/>
          </a:prstGeom>
          <a:noFill/>
          <a:ln w="19050" cap="flat" cmpd="sng">
            <a:noFill/>
            <a:prstDash val="solid"/>
            <a:round/>
          </a:ln>
        </p:spPr>
        <p:txBody>
          <a:bodyPr vert="horz" wrap="square" lIns="0" tIns="0" rIns="0" bIns="0" rtlCol="0" anchor="t" anchorCtr="0"/>
          <a:lstStyle/>
          <a:p>
            <a:pPr indent="0" algn="l">
              <a:lnSpc>
                <a:spcPts val="3600"/>
              </a:lnSpc>
              <a:defRPr/>
            </a:pPr>
            <a:r>
              <a:rPr lang="en-US" sz="2400" b="1" i="0" u="none" strike="noStrike">
                <a:solidFill>
                  <a:srgbClr val="FF7A83"/>
                </a:solidFill>
                <a:latin typeface="Noto Sans SC"/>
                <a:ea typeface="Noto Sans SC"/>
                <a:cs typeface="Noto Sans SC"/>
                <a:sym typeface="Noto Sans SC"/>
              </a:rPr>
              <a:t>CTO 首席技术官</a:t>
            </a:r>
            <a:endParaRPr lang="en-US" sz="1100"/>
          </a:p>
        </p:txBody>
      </p:sp>
      <p:sp>
        <p:nvSpPr>
          <p:cNvPr id="23" name="AutoShape 23"/>
          <p:cNvSpPr/>
          <p:nvPr/>
        </p:nvSpPr>
        <p:spPr>
          <a:xfrm>
            <a:off x="3340100" y="7239000"/>
            <a:ext cx="2921000" cy="1270000"/>
          </a:xfrm>
          <a:prstGeom prst="rect">
            <a:avLst/>
          </a:prstGeom>
          <a:noFill/>
          <a:ln w="19050" cap="flat" cmpd="sng">
            <a:noFill/>
            <a:prstDash val="solid"/>
            <a:round/>
          </a:ln>
        </p:spPr>
        <p:txBody>
          <a:bodyPr vert="horz" wrap="square" lIns="0" tIns="0" rIns="0" bIns="0" rtlCol="0" anchor="t" anchorCtr="0"/>
          <a:lstStyle/>
          <a:p>
            <a:pPr indent="0" algn="l">
              <a:lnSpc>
                <a:spcPct val="116666"/>
              </a:lnSpc>
              <a:defRPr/>
            </a:pPr>
            <a:r>
              <a:rPr lang="en-US" sz="1300" b="0" i="0" u="none" strike="noStrike">
                <a:solidFill>
                  <a:srgbClr val="595959"/>
                </a:solidFill>
                <a:latin typeface="Noto Sans SC"/>
                <a:ea typeface="Noto Sans SC"/>
                <a:cs typeface="Noto Sans SC"/>
                <a:sym typeface="Noto Sans SC"/>
              </a:rPr>
              <a:t>AI专业博士，专注大模型架构优化与边缘计算技术，拥有多项核心技术发明专利。</a:t>
            </a:r>
            <a:endParaRPr lang="en-US" sz="1100"/>
          </a:p>
        </p:txBody>
      </p:sp>
      <p:sp>
        <p:nvSpPr>
          <p:cNvPr id="24" name="AutoShape 24"/>
          <p:cNvSpPr/>
          <p:nvPr/>
        </p:nvSpPr>
        <p:spPr>
          <a:xfrm>
            <a:off x="7086600" y="6489700"/>
            <a:ext cx="952500" cy="698500"/>
          </a:xfrm>
          <a:prstGeom prst="rect">
            <a:avLst/>
          </a:prstGeom>
          <a:noFill/>
          <a:ln w="19050" cap="flat" cmpd="sng">
            <a:noFill/>
            <a:prstDash val="solid"/>
            <a:round/>
          </a:ln>
        </p:spPr>
        <p:txBody>
          <a:bodyPr vert="horz" wrap="square" lIns="0" tIns="0" rIns="0" bIns="0" rtlCol="0" anchor="t" anchorCtr="0"/>
          <a:lstStyle/>
          <a:p>
            <a:pPr indent="0" algn="l">
              <a:lnSpc>
                <a:spcPts val="5040"/>
              </a:lnSpc>
              <a:defRPr/>
            </a:pPr>
            <a:r>
              <a:rPr lang="en-US" sz="4200" b="0" i="0" u="none" strike="noStrike">
                <a:solidFill>
                  <a:srgbClr val="FFB458"/>
                </a:solidFill>
                <a:latin typeface="Montserrat"/>
                <a:ea typeface="Montserrat"/>
                <a:cs typeface="Montserrat"/>
                <a:sym typeface="Montserrat"/>
              </a:rPr>
              <a:t>05</a:t>
            </a:r>
            <a:endParaRPr lang="en-US" sz="1100"/>
          </a:p>
        </p:txBody>
      </p:sp>
      <p:cxnSp>
        <p:nvCxnSpPr>
          <p:cNvPr id="25" name="Connector 25"/>
          <p:cNvCxnSpPr/>
          <p:nvPr/>
        </p:nvCxnSpPr>
        <p:spPr>
          <a:xfrm rot="5375619">
            <a:off x="7067550" y="7556523"/>
            <a:ext cx="1790700" cy="12700"/>
          </a:xfrm>
          <a:prstGeom prst="line">
            <a:avLst/>
          </a:prstGeom>
          <a:solidFill>
            <a:srgbClr val="DEE0E3">
              <a:alpha val="100000"/>
            </a:srgbClr>
          </a:solidFill>
          <a:ln w="12700" cap="flat" cmpd="sng">
            <a:solidFill>
              <a:srgbClr val="FF7A83">
                <a:alpha val="100000"/>
              </a:srgbClr>
            </a:solidFill>
            <a:prstDash val="solid"/>
            <a:round/>
            <a:headEnd type="none" w="med" len="med"/>
            <a:tailEnd type="none" w="med" len="med"/>
          </a:ln>
        </p:spPr>
      </p:cxnSp>
      <p:sp>
        <p:nvSpPr>
          <p:cNvPr id="26" name="AutoShape 26"/>
          <p:cNvSpPr/>
          <p:nvPr/>
        </p:nvSpPr>
        <p:spPr>
          <a:xfrm>
            <a:off x="8229600" y="6604000"/>
            <a:ext cx="2540000" cy="469900"/>
          </a:xfrm>
          <a:prstGeom prst="rect">
            <a:avLst/>
          </a:prstGeom>
          <a:noFill/>
          <a:ln w="19050" cap="flat" cmpd="sng">
            <a:noFill/>
            <a:prstDash val="solid"/>
            <a:round/>
          </a:ln>
        </p:spPr>
        <p:txBody>
          <a:bodyPr vert="horz" wrap="square" lIns="0" tIns="0" rIns="0" bIns="0" rtlCol="0" anchor="t" anchorCtr="0"/>
          <a:lstStyle/>
          <a:p>
            <a:pPr indent="0" algn="l">
              <a:lnSpc>
                <a:spcPts val="3600"/>
              </a:lnSpc>
              <a:defRPr/>
            </a:pPr>
            <a:r>
              <a:rPr lang="en-US" sz="2400" b="1" i="0" u="none" strike="noStrike">
                <a:solidFill>
                  <a:srgbClr val="FF7A83"/>
                </a:solidFill>
                <a:latin typeface="Noto Sans SC"/>
                <a:ea typeface="Noto Sans SC"/>
                <a:cs typeface="Noto Sans SC"/>
                <a:sym typeface="Noto Sans SC"/>
              </a:rPr>
              <a:t>产品研发负责人</a:t>
            </a:r>
            <a:endParaRPr lang="en-US" sz="1100"/>
          </a:p>
        </p:txBody>
      </p:sp>
      <p:sp>
        <p:nvSpPr>
          <p:cNvPr id="27" name="AutoShape 27"/>
          <p:cNvSpPr/>
          <p:nvPr/>
        </p:nvSpPr>
        <p:spPr>
          <a:xfrm>
            <a:off x="8229600" y="7239000"/>
            <a:ext cx="2921000" cy="1270000"/>
          </a:xfrm>
          <a:prstGeom prst="rect">
            <a:avLst/>
          </a:prstGeom>
          <a:noFill/>
          <a:ln w="19050" cap="flat" cmpd="sng">
            <a:noFill/>
            <a:prstDash val="solid"/>
            <a:round/>
          </a:ln>
        </p:spPr>
        <p:txBody>
          <a:bodyPr vert="horz" wrap="square" lIns="0" tIns="0" rIns="0" bIns="0" rtlCol="0" anchor="t" anchorCtr="0"/>
          <a:lstStyle/>
          <a:p>
            <a:pPr indent="0" algn="l">
              <a:lnSpc>
                <a:spcPct val="116666"/>
              </a:lnSpc>
              <a:defRPr/>
            </a:pPr>
            <a:r>
              <a:rPr lang="en-US" sz="1300" b="0" i="0" u="none" strike="noStrike">
                <a:solidFill>
                  <a:srgbClr val="595959"/>
                </a:solidFill>
                <a:latin typeface="Noto Sans SC"/>
                <a:ea typeface="Noto Sans SC"/>
                <a:cs typeface="Noto Sans SC"/>
                <a:sym typeface="Noto Sans SC"/>
              </a:rPr>
              <a:t>千万级用户智能硬件产品专家，擅长从真实用户需求出发，定义并打磨极致体验的产品。</a:t>
            </a:r>
            <a:endParaRPr lang="en-US" sz="1100"/>
          </a:p>
        </p:txBody>
      </p:sp>
      <p:sp>
        <p:nvSpPr>
          <p:cNvPr id="28" name="AutoShape 28"/>
          <p:cNvSpPr/>
          <p:nvPr/>
        </p:nvSpPr>
        <p:spPr>
          <a:xfrm>
            <a:off x="11976100" y="6489700"/>
            <a:ext cx="952500" cy="698500"/>
          </a:xfrm>
          <a:prstGeom prst="rect">
            <a:avLst/>
          </a:prstGeom>
          <a:noFill/>
          <a:ln w="19050" cap="flat" cmpd="sng">
            <a:noFill/>
            <a:prstDash val="solid"/>
            <a:round/>
          </a:ln>
        </p:spPr>
        <p:txBody>
          <a:bodyPr vert="horz" wrap="square" lIns="0" tIns="0" rIns="0" bIns="0" rtlCol="0" anchor="t" anchorCtr="0"/>
          <a:lstStyle/>
          <a:p>
            <a:pPr indent="0" algn="l">
              <a:lnSpc>
                <a:spcPts val="5040"/>
              </a:lnSpc>
              <a:defRPr/>
            </a:pPr>
            <a:r>
              <a:rPr lang="en-US" sz="4200" b="0" i="0" u="none" strike="noStrike">
                <a:solidFill>
                  <a:srgbClr val="FFB458"/>
                </a:solidFill>
                <a:latin typeface="Montserrat"/>
                <a:ea typeface="Montserrat"/>
                <a:cs typeface="Montserrat"/>
                <a:sym typeface="Montserrat"/>
              </a:rPr>
              <a:t>06</a:t>
            </a:r>
            <a:endParaRPr lang="en-US" sz="1100"/>
          </a:p>
        </p:txBody>
      </p:sp>
      <p:cxnSp>
        <p:nvCxnSpPr>
          <p:cNvPr id="29" name="Connector 29"/>
          <p:cNvCxnSpPr/>
          <p:nvPr/>
        </p:nvCxnSpPr>
        <p:spPr>
          <a:xfrm rot="5375619">
            <a:off x="11944350" y="7556523"/>
            <a:ext cx="1790700" cy="12700"/>
          </a:xfrm>
          <a:prstGeom prst="line">
            <a:avLst/>
          </a:prstGeom>
          <a:solidFill>
            <a:srgbClr val="DEE0E3">
              <a:alpha val="100000"/>
            </a:srgbClr>
          </a:solidFill>
          <a:ln w="12700" cap="flat" cmpd="sng">
            <a:solidFill>
              <a:srgbClr val="FF7A83">
                <a:alpha val="100000"/>
              </a:srgbClr>
            </a:solidFill>
            <a:prstDash val="solid"/>
            <a:round/>
            <a:headEnd type="none" w="med" len="med"/>
            <a:tailEnd type="none" w="med" len="med"/>
          </a:ln>
        </p:spPr>
      </p:cxnSp>
      <p:sp>
        <p:nvSpPr>
          <p:cNvPr id="30" name="AutoShape 30"/>
          <p:cNvSpPr/>
          <p:nvPr/>
        </p:nvSpPr>
        <p:spPr>
          <a:xfrm>
            <a:off x="13106400" y="6604000"/>
            <a:ext cx="2540000" cy="469900"/>
          </a:xfrm>
          <a:prstGeom prst="rect">
            <a:avLst/>
          </a:prstGeom>
          <a:noFill/>
          <a:ln w="19050" cap="flat" cmpd="sng">
            <a:noFill/>
            <a:prstDash val="solid"/>
            <a:round/>
          </a:ln>
        </p:spPr>
        <p:txBody>
          <a:bodyPr vert="horz" wrap="square" lIns="0" tIns="0" rIns="0" bIns="0" rtlCol="0" anchor="t" anchorCtr="0"/>
          <a:lstStyle/>
          <a:p>
            <a:pPr indent="0" algn="l">
              <a:lnSpc>
                <a:spcPts val="3600"/>
              </a:lnSpc>
              <a:defRPr/>
            </a:pPr>
            <a:r>
              <a:rPr lang="en-US" sz="2400" b="1" i="0" u="none" strike="noStrike">
                <a:solidFill>
                  <a:srgbClr val="FF7A83"/>
                </a:solidFill>
                <a:latin typeface="Noto Sans SC"/>
                <a:ea typeface="Noto Sans SC"/>
                <a:cs typeface="Noto Sans SC"/>
                <a:sym typeface="Noto Sans SC"/>
              </a:rPr>
              <a:t>硬件与市场负责人</a:t>
            </a:r>
            <a:endParaRPr lang="en-US" sz="1100"/>
          </a:p>
        </p:txBody>
      </p:sp>
      <p:sp>
        <p:nvSpPr>
          <p:cNvPr id="31" name="AutoShape 31"/>
          <p:cNvSpPr/>
          <p:nvPr/>
        </p:nvSpPr>
        <p:spPr>
          <a:xfrm>
            <a:off x="13106400" y="7239000"/>
            <a:ext cx="2540000" cy="1270000"/>
          </a:xfrm>
          <a:prstGeom prst="rect">
            <a:avLst/>
          </a:prstGeom>
          <a:noFill/>
          <a:ln w="19050" cap="flat" cmpd="sng">
            <a:noFill/>
            <a:prstDash val="solid"/>
            <a:round/>
          </a:ln>
        </p:spPr>
        <p:txBody>
          <a:bodyPr vert="horz" wrap="square" lIns="0" tIns="0" rIns="0" bIns="0" rtlCol="0" anchor="t" anchorCtr="0"/>
          <a:lstStyle/>
          <a:p>
            <a:pPr indent="0" algn="l">
              <a:lnSpc>
                <a:spcPct val="116666"/>
              </a:lnSpc>
              <a:defRPr/>
            </a:pPr>
            <a:r>
              <a:rPr lang="en-US" sz="1300" b="0" i="0" u="none" strike="noStrike">
                <a:solidFill>
                  <a:srgbClr val="595959"/>
                </a:solidFill>
                <a:latin typeface="Noto Sans SC"/>
                <a:ea typeface="Noto Sans SC"/>
                <a:cs typeface="Noto Sans SC"/>
                <a:sym typeface="Noto Sans SC"/>
              </a:rPr>
              <a:t>硬件端：具备机器人研发与供应链全流程经验；市场端：拥有多年科技品牌营销实战积累。</a:t>
            </a:r>
            <a:endParaRPr lang="en-US" sz="1100"/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>
            <a:alpha val="100000"/>
          </a:srgb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2"/>
          <p:cNvPicPr>
            <a:picLocks noChangeAspect="1"/>
          </p:cNvPicPr>
          <p:nvPr/>
        </p:nvPicPr>
        <p:blipFill>
          <a:blip r:embed="rId3"/>
          <a:srcRect/>
          <a:stretch>
            <a:fillRect/>
          </a:stretch>
        </p:blipFill>
        <p:spPr>
          <a:xfrm>
            <a:off x="0" y="1981200"/>
            <a:ext cx="1587500" cy="6997700"/>
          </a:xfrm>
          <a:prstGeom prst="rect">
            <a:avLst/>
          </a:prstGeom>
          <a:noFill/>
          <a:ln w="25400" cap="flat" cmpd="sng">
            <a:noFill/>
            <a:prstDash val="solid"/>
            <a:round/>
          </a:ln>
        </p:spPr>
      </p:pic>
      <p:pic>
        <p:nvPicPr>
          <p:cNvPr id="3" name="Picture 3"/>
          <p:cNvPicPr>
            <a:picLocks noChangeAspect="1"/>
          </p:cNvPicPr>
          <p:nvPr/>
        </p:nvPicPr>
        <p:blipFill>
          <a:blip r:embed="rId4"/>
          <a:srcRect/>
          <a:stretch>
            <a:fillRect/>
          </a:stretch>
        </p:blipFill>
        <p:spPr>
          <a:xfrm>
            <a:off x="876300" y="8293100"/>
            <a:ext cx="17411700" cy="1993900"/>
          </a:xfrm>
          <a:prstGeom prst="rect">
            <a:avLst/>
          </a:prstGeom>
          <a:noFill/>
          <a:ln w="25400" cap="flat" cmpd="sng">
            <a:noFill/>
            <a:prstDash val="solid"/>
            <a:round/>
          </a:ln>
        </p:spPr>
      </p:pic>
      <p:pic>
        <p:nvPicPr>
          <p:cNvPr id="4" name="Picture 4"/>
          <p:cNvPicPr>
            <a:picLocks noChangeAspect="1"/>
          </p:cNvPicPr>
          <p:nvPr/>
        </p:nvPicPr>
        <p:blipFill>
          <a:blip r:embed="rId5"/>
          <a:srcRect/>
          <a:stretch>
            <a:fillRect/>
          </a:stretch>
        </p:blipFill>
        <p:spPr>
          <a:xfrm>
            <a:off x="11391900" y="0"/>
            <a:ext cx="6896100" cy="9220200"/>
          </a:xfrm>
          <a:prstGeom prst="rect">
            <a:avLst/>
          </a:prstGeom>
          <a:noFill/>
          <a:ln w="25400" cap="flat" cmpd="sng">
            <a:noFill/>
            <a:prstDash val="solid"/>
            <a:round/>
          </a:ln>
        </p:spPr>
      </p:pic>
      <p:pic>
        <p:nvPicPr>
          <p:cNvPr id="5" name="Picture 5"/>
          <p:cNvPicPr>
            <a:picLocks noChangeAspect="1"/>
          </p:cNvPicPr>
          <p:nvPr/>
        </p:nvPicPr>
        <p:blipFill>
          <a:blip r:embed="rId6"/>
          <a:srcRect/>
          <a:stretch>
            <a:fillRect/>
          </a:stretch>
        </p:blipFill>
        <p:spPr>
          <a:xfrm>
            <a:off x="12522200" y="0"/>
            <a:ext cx="5765800" cy="8077200"/>
          </a:xfrm>
          <a:prstGeom prst="rect">
            <a:avLst/>
          </a:prstGeom>
          <a:noFill/>
          <a:ln w="25400" cap="flat" cmpd="sng">
            <a:noFill/>
            <a:prstDash val="solid"/>
            <a:round/>
          </a:ln>
        </p:spPr>
      </p:pic>
      <p:pic>
        <p:nvPicPr>
          <p:cNvPr id="6" name="Picture 6"/>
          <p:cNvPicPr>
            <a:picLocks noChangeAspect="1"/>
          </p:cNvPicPr>
          <p:nvPr/>
        </p:nvPicPr>
        <p:blipFill>
          <a:blip r:embed="rId7"/>
          <a:srcRect/>
          <a:stretch>
            <a:fillRect/>
          </a:stretch>
        </p:blipFill>
        <p:spPr>
          <a:xfrm>
            <a:off x="16471900" y="3657600"/>
            <a:ext cx="1816100" cy="5829300"/>
          </a:xfrm>
          <a:prstGeom prst="rect">
            <a:avLst/>
          </a:prstGeom>
          <a:noFill/>
          <a:ln w="25400" cap="flat" cmpd="sng">
            <a:noFill/>
            <a:prstDash val="solid"/>
            <a:round/>
          </a:ln>
        </p:spPr>
      </p:pic>
      <p:pic>
        <p:nvPicPr>
          <p:cNvPr id="7" name="Picture 7"/>
          <p:cNvPicPr>
            <a:picLocks noChangeAspect="1"/>
          </p:cNvPicPr>
          <p:nvPr/>
        </p:nvPicPr>
        <p:blipFill>
          <a:blip r:embed="rId8"/>
          <a:srcRect/>
          <a:stretch>
            <a:fillRect/>
          </a:stretch>
        </p:blipFill>
        <p:spPr>
          <a:xfrm>
            <a:off x="7899400" y="2654300"/>
            <a:ext cx="6502400" cy="6502400"/>
          </a:xfrm>
          <a:prstGeom prst="rect">
            <a:avLst/>
          </a:prstGeom>
          <a:noFill/>
          <a:ln w="25400" cap="flat" cmpd="sng">
            <a:noFill/>
            <a:prstDash val="solid"/>
            <a:round/>
          </a:ln>
        </p:spPr>
      </p:pic>
      <p:sp>
        <p:nvSpPr>
          <p:cNvPr id="8" name="AutoShape 8"/>
          <p:cNvSpPr/>
          <p:nvPr/>
        </p:nvSpPr>
        <p:spPr>
          <a:xfrm>
            <a:off x="1447800" y="3848100"/>
            <a:ext cx="9753600" cy="1384300"/>
          </a:xfrm>
          <a:prstGeom prst="rect">
            <a:avLst/>
          </a:prstGeom>
          <a:noFill/>
          <a:ln w="19050" cap="flat" cmpd="sng">
            <a:noFill/>
            <a:prstDash val="solid"/>
            <a:round/>
          </a:ln>
        </p:spPr>
        <p:txBody>
          <a:bodyPr vert="horz" wrap="square" lIns="0" tIns="0" rIns="0" bIns="0" rtlCol="0" anchor="t" anchorCtr="0"/>
          <a:lstStyle/>
          <a:p>
            <a:pPr indent="0" algn="l">
              <a:lnSpc>
                <a:spcPts val="10800"/>
              </a:lnSpc>
              <a:defRPr/>
            </a:pPr>
            <a:r>
              <a:rPr lang="en-US" sz="9000" b="0" i="0" u="none" strike="noStrike">
                <a:solidFill>
                  <a:srgbClr val="FFB458"/>
                </a:solidFill>
                <a:latin typeface="Noto Sans SC"/>
                <a:ea typeface="Noto Sans SC"/>
                <a:cs typeface="Noto Sans SC"/>
                <a:sym typeface="Noto Sans SC"/>
              </a:rPr>
              <a:t>感谢您的观看</a:t>
            </a:r>
            <a:endParaRPr lang="en-US" sz="1100"/>
          </a:p>
        </p:txBody>
      </p:sp>
      <p:sp>
        <p:nvSpPr>
          <p:cNvPr id="9" name="AutoShape 9"/>
          <p:cNvSpPr/>
          <p:nvPr/>
        </p:nvSpPr>
        <p:spPr>
          <a:xfrm>
            <a:off x="1447800" y="5397500"/>
            <a:ext cx="7632700" cy="1016000"/>
          </a:xfrm>
          <a:prstGeom prst="rect">
            <a:avLst/>
          </a:prstGeom>
          <a:noFill/>
          <a:ln w="1905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indent="0" algn="l">
              <a:lnSpc>
                <a:spcPts val="3600"/>
              </a:lnSpc>
              <a:defRPr/>
            </a:pPr>
            <a:r>
              <a:rPr lang="en-US" sz="2200" b="0" i="0" u="none" strike="noStrike">
                <a:solidFill>
                  <a:srgbClr val="64748B"/>
                </a:solidFill>
                <a:latin typeface="Noto Sans SC"/>
                <a:ea typeface="Noto Sans SC"/>
                <a:cs typeface="Noto Sans SC"/>
                <a:sym typeface="Noto Sans SC"/>
              </a:rPr>
              <a:t>期待与您携手，共创智能家庭新未来</a:t>
            </a:r>
            <a:endParaRPr lang="en-US" sz="1100"/>
          </a:p>
        </p:txBody>
      </p:sp>
      <p:pic>
        <p:nvPicPr>
          <p:cNvPr id="16" name="Picture 16"/>
          <p:cNvPicPr>
            <a:picLocks noChangeAspect="1"/>
          </p:cNvPicPr>
          <p:nvPr/>
        </p:nvPicPr>
        <p:blipFill>
          <a:blip r:embed="rId9"/>
          <a:srcRect/>
          <a:stretch>
            <a:fillRect/>
          </a:stretch>
        </p:blipFill>
        <p:spPr>
          <a:xfrm>
            <a:off x="1663700" y="8585200"/>
            <a:ext cx="533400" cy="533400"/>
          </a:xfrm>
          <a:prstGeom prst="rect">
            <a:avLst/>
          </a:prstGeom>
          <a:noFill/>
          <a:ln w="25400" cap="flat" cmpd="sng">
            <a:noFill/>
            <a:prstDash val="solid"/>
            <a:round/>
          </a:ln>
        </p:spPr>
      </p:pic>
      <p:sp>
        <p:nvSpPr>
          <p:cNvPr id="17" name="Freeform 17"/>
          <p:cNvSpPr/>
          <p:nvPr/>
        </p:nvSpPr>
        <p:spPr>
          <a:xfrm>
            <a:off x="2425700" y="8585200"/>
            <a:ext cx="548164" cy="548259"/>
          </a:xfrm>
          <a:custGeom>
            <a:avLst/>
            <a:gdLst/>
            <a:ahLst/>
            <a:cxnLst/>
            <a:rect l="l" t="t" r="r" b="b"/>
            <a:pathLst>
              <a:path w="548164" h="548259">
                <a:moveTo>
                  <a:pt x="0" y="274130"/>
                </a:moveTo>
                <a:cubicBezTo>
                  <a:pt x="0" y="122682"/>
                  <a:pt x="122682" y="0"/>
                  <a:pt x="274130" y="0"/>
                </a:cubicBezTo>
                <a:lnTo>
                  <a:pt x="274130" y="9525"/>
                </a:lnTo>
                <a:lnTo>
                  <a:pt x="274130" y="0"/>
                </a:lnTo>
                <a:cubicBezTo>
                  <a:pt x="425482" y="0"/>
                  <a:pt x="548164" y="122682"/>
                  <a:pt x="548164" y="274130"/>
                </a:cubicBezTo>
                <a:lnTo>
                  <a:pt x="538639" y="274130"/>
                </a:lnTo>
                <a:lnTo>
                  <a:pt x="548164" y="274130"/>
                </a:lnTo>
                <a:cubicBezTo>
                  <a:pt x="548164" y="425482"/>
                  <a:pt x="425482" y="548259"/>
                  <a:pt x="274034" y="548259"/>
                </a:cubicBezTo>
                <a:lnTo>
                  <a:pt x="274034" y="538734"/>
                </a:lnTo>
                <a:lnTo>
                  <a:pt x="274034" y="548259"/>
                </a:lnTo>
                <a:cubicBezTo>
                  <a:pt x="122682" y="548164"/>
                  <a:pt x="0" y="425482"/>
                  <a:pt x="0" y="274130"/>
                </a:cubicBezTo>
                <a:lnTo>
                  <a:pt x="9525" y="274130"/>
                </a:lnTo>
                <a:lnTo>
                  <a:pt x="19050" y="274130"/>
                </a:lnTo>
                <a:lnTo>
                  <a:pt x="9525" y="274130"/>
                </a:lnTo>
                <a:lnTo>
                  <a:pt x="0" y="274130"/>
                </a:lnTo>
                <a:moveTo>
                  <a:pt x="19050" y="274130"/>
                </a:moveTo>
                <a:cubicBezTo>
                  <a:pt x="19050" y="279368"/>
                  <a:pt x="14764" y="283654"/>
                  <a:pt x="9525" y="283654"/>
                </a:cubicBezTo>
                <a:cubicBezTo>
                  <a:pt x="4286" y="283654"/>
                  <a:pt x="0" y="279368"/>
                  <a:pt x="0" y="274130"/>
                </a:cubicBezTo>
                <a:cubicBezTo>
                  <a:pt x="0" y="268891"/>
                  <a:pt x="4286" y="264604"/>
                  <a:pt x="9525" y="264604"/>
                </a:cubicBezTo>
                <a:cubicBezTo>
                  <a:pt x="14764" y="264604"/>
                  <a:pt x="19050" y="268891"/>
                  <a:pt x="19050" y="274130"/>
                </a:cubicBezTo>
                <a:cubicBezTo>
                  <a:pt x="19050" y="414909"/>
                  <a:pt x="133255" y="529114"/>
                  <a:pt x="274130" y="529114"/>
                </a:cubicBezTo>
                <a:cubicBezTo>
                  <a:pt x="415004" y="529114"/>
                  <a:pt x="529114" y="414909"/>
                  <a:pt x="529114" y="274130"/>
                </a:cubicBezTo>
                <a:cubicBezTo>
                  <a:pt x="529114" y="133350"/>
                  <a:pt x="414909" y="19050"/>
                  <a:pt x="274130" y="19050"/>
                </a:cubicBezTo>
                <a:lnTo>
                  <a:pt x="274130" y="9525"/>
                </a:lnTo>
                <a:lnTo>
                  <a:pt x="274130" y="19050"/>
                </a:lnTo>
                <a:cubicBezTo>
                  <a:pt x="133255" y="19050"/>
                  <a:pt x="19050" y="133255"/>
                  <a:pt x="19050" y="274130"/>
                </a:cubicBezTo>
                <a:close/>
              </a:path>
            </a:pathLst>
          </a:custGeom>
          <a:solidFill>
            <a:srgbClr val="FF7A83">
              <a:alpha val="100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  <a:endParaRPr/>
          </a:p>
        </p:txBody>
      </p:sp>
      <p:sp>
        <p:nvSpPr>
          <p:cNvPr id="18" name="Freeform 18"/>
          <p:cNvSpPr/>
          <p:nvPr/>
        </p:nvSpPr>
        <p:spPr>
          <a:xfrm>
            <a:off x="3200400" y="8585200"/>
            <a:ext cx="548164" cy="548259"/>
          </a:xfrm>
          <a:custGeom>
            <a:avLst/>
            <a:gdLst/>
            <a:ahLst/>
            <a:cxnLst/>
            <a:rect l="l" t="t" r="r" b="b"/>
            <a:pathLst>
              <a:path w="548164" h="548259">
                <a:moveTo>
                  <a:pt x="0" y="274130"/>
                </a:moveTo>
                <a:cubicBezTo>
                  <a:pt x="0" y="122682"/>
                  <a:pt x="122682" y="0"/>
                  <a:pt x="274129" y="0"/>
                </a:cubicBezTo>
                <a:lnTo>
                  <a:pt x="274129" y="9525"/>
                </a:lnTo>
                <a:lnTo>
                  <a:pt x="274129" y="0"/>
                </a:lnTo>
                <a:cubicBezTo>
                  <a:pt x="425482" y="0"/>
                  <a:pt x="548164" y="122682"/>
                  <a:pt x="548164" y="274130"/>
                </a:cubicBezTo>
                <a:lnTo>
                  <a:pt x="538639" y="274130"/>
                </a:lnTo>
                <a:lnTo>
                  <a:pt x="548164" y="274130"/>
                </a:lnTo>
                <a:cubicBezTo>
                  <a:pt x="548164" y="425482"/>
                  <a:pt x="425482" y="548259"/>
                  <a:pt x="274034" y="548259"/>
                </a:cubicBezTo>
                <a:lnTo>
                  <a:pt x="274034" y="538734"/>
                </a:lnTo>
                <a:lnTo>
                  <a:pt x="274034" y="548259"/>
                </a:lnTo>
                <a:cubicBezTo>
                  <a:pt x="122682" y="548164"/>
                  <a:pt x="0" y="425482"/>
                  <a:pt x="0" y="274130"/>
                </a:cubicBezTo>
                <a:lnTo>
                  <a:pt x="9525" y="274130"/>
                </a:lnTo>
                <a:lnTo>
                  <a:pt x="19050" y="274130"/>
                </a:lnTo>
                <a:lnTo>
                  <a:pt x="9525" y="274130"/>
                </a:lnTo>
                <a:lnTo>
                  <a:pt x="0" y="274130"/>
                </a:lnTo>
                <a:moveTo>
                  <a:pt x="19050" y="274130"/>
                </a:moveTo>
                <a:cubicBezTo>
                  <a:pt x="19050" y="279368"/>
                  <a:pt x="14764" y="283654"/>
                  <a:pt x="9525" y="283654"/>
                </a:cubicBezTo>
                <a:cubicBezTo>
                  <a:pt x="4286" y="283654"/>
                  <a:pt x="0" y="279368"/>
                  <a:pt x="0" y="274130"/>
                </a:cubicBezTo>
                <a:cubicBezTo>
                  <a:pt x="0" y="268891"/>
                  <a:pt x="4286" y="264604"/>
                  <a:pt x="9525" y="264604"/>
                </a:cubicBezTo>
                <a:cubicBezTo>
                  <a:pt x="14764" y="264604"/>
                  <a:pt x="19050" y="268891"/>
                  <a:pt x="19050" y="274130"/>
                </a:cubicBezTo>
                <a:cubicBezTo>
                  <a:pt x="19050" y="414909"/>
                  <a:pt x="133255" y="529114"/>
                  <a:pt x="274129" y="529114"/>
                </a:cubicBezTo>
                <a:cubicBezTo>
                  <a:pt x="415004" y="529114"/>
                  <a:pt x="529114" y="414909"/>
                  <a:pt x="529114" y="274130"/>
                </a:cubicBezTo>
                <a:cubicBezTo>
                  <a:pt x="529114" y="133350"/>
                  <a:pt x="414909" y="19050"/>
                  <a:pt x="274129" y="19050"/>
                </a:cubicBezTo>
                <a:lnTo>
                  <a:pt x="274129" y="9525"/>
                </a:lnTo>
                <a:lnTo>
                  <a:pt x="274129" y="19050"/>
                </a:lnTo>
                <a:cubicBezTo>
                  <a:pt x="133255" y="19050"/>
                  <a:pt x="19050" y="133255"/>
                  <a:pt x="19050" y="274130"/>
                </a:cubicBezTo>
                <a:close/>
              </a:path>
            </a:pathLst>
          </a:custGeom>
          <a:solidFill>
            <a:srgbClr val="FF7A83">
              <a:alpha val="100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  <a:endParaRPr/>
          </a:p>
        </p:txBody>
      </p:sp>
      <p:sp>
        <p:nvSpPr>
          <p:cNvPr id="19" name="Freeform 19"/>
          <p:cNvSpPr/>
          <p:nvPr/>
        </p:nvSpPr>
        <p:spPr>
          <a:xfrm>
            <a:off x="3975100" y="8585200"/>
            <a:ext cx="548164" cy="548259"/>
          </a:xfrm>
          <a:custGeom>
            <a:avLst/>
            <a:gdLst/>
            <a:ahLst/>
            <a:cxnLst/>
            <a:rect l="l" t="t" r="r" b="b"/>
            <a:pathLst>
              <a:path w="548164" h="548259">
                <a:moveTo>
                  <a:pt x="0" y="274130"/>
                </a:moveTo>
                <a:cubicBezTo>
                  <a:pt x="0" y="122682"/>
                  <a:pt x="122682" y="0"/>
                  <a:pt x="274130" y="0"/>
                </a:cubicBezTo>
                <a:lnTo>
                  <a:pt x="274130" y="9525"/>
                </a:lnTo>
                <a:lnTo>
                  <a:pt x="274130" y="0"/>
                </a:lnTo>
                <a:cubicBezTo>
                  <a:pt x="425482" y="0"/>
                  <a:pt x="548164" y="122682"/>
                  <a:pt x="548164" y="274130"/>
                </a:cubicBezTo>
                <a:lnTo>
                  <a:pt x="538639" y="274130"/>
                </a:lnTo>
                <a:lnTo>
                  <a:pt x="548164" y="274130"/>
                </a:lnTo>
                <a:cubicBezTo>
                  <a:pt x="548164" y="425482"/>
                  <a:pt x="425482" y="548259"/>
                  <a:pt x="274034" y="548259"/>
                </a:cubicBezTo>
                <a:lnTo>
                  <a:pt x="274034" y="538734"/>
                </a:lnTo>
                <a:lnTo>
                  <a:pt x="274034" y="548259"/>
                </a:lnTo>
                <a:cubicBezTo>
                  <a:pt x="122682" y="548164"/>
                  <a:pt x="0" y="425482"/>
                  <a:pt x="0" y="274130"/>
                </a:cubicBezTo>
                <a:lnTo>
                  <a:pt x="9525" y="274130"/>
                </a:lnTo>
                <a:lnTo>
                  <a:pt x="19050" y="274130"/>
                </a:lnTo>
                <a:lnTo>
                  <a:pt x="9525" y="274130"/>
                </a:lnTo>
                <a:lnTo>
                  <a:pt x="0" y="274130"/>
                </a:lnTo>
                <a:moveTo>
                  <a:pt x="19050" y="274130"/>
                </a:moveTo>
                <a:cubicBezTo>
                  <a:pt x="19050" y="279368"/>
                  <a:pt x="14764" y="283654"/>
                  <a:pt x="9525" y="283654"/>
                </a:cubicBezTo>
                <a:cubicBezTo>
                  <a:pt x="4286" y="283654"/>
                  <a:pt x="0" y="279368"/>
                  <a:pt x="0" y="274130"/>
                </a:cubicBezTo>
                <a:cubicBezTo>
                  <a:pt x="0" y="268891"/>
                  <a:pt x="4286" y="264604"/>
                  <a:pt x="9525" y="264604"/>
                </a:cubicBezTo>
                <a:cubicBezTo>
                  <a:pt x="14764" y="264604"/>
                  <a:pt x="19050" y="268891"/>
                  <a:pt x="19050" y="274130"/>
                </a:cubicBezTo>
                <a:cubicBezTo>
                  <a:pt x="19050" y="414909"/>
                  <a:pt x="133255" y="529114"/>
                  <a:pt x="274130" y="529114"/>
                </a:cubicBezTo>
                <a:cubicBezTo>
                  <a:pt x="415004" y="529114"/>
                  <a:pt x="529114" y="414909"/>
                  <a:pt x="529114" y="274130"/>
                </a:cubicBezTo>
                <a:cubicBezTo>
                  <a:pt x="529114" y="133350"/>
                  <a:pt x="414909" y="19050"/>
                  <a:pt x="274130" y="19050"/>
                </a:cubicBezTo>
                <a:lnTo>
                  <a:pt x="274130" y="9525"/>
                </a:lnTo>
                <a:lnTo>
                  <a:pt x="274130" y="19050"/>
                </a:lnTo>
                <a:cubicBezTo>
                  <a:pt x="133255" y="19050"/>
                  <a:pt x="19050" y="133255"/>
                  <a:pt x="19050" y="274130"/>
                </a:cubicBezTo>
                <a:close/>
              </a:path>
            </a:pathLst>
          </a:custGeom>
          <a:solidFill>
            <a:srgbClr val="FF7A83">
              <a:alpha val="100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  <a:endParaRPr/>
          </a:p>
        </p:txBody>
      </p:sp>
      <p:sp>
        <p:nvSpPr>
          <p:cNvPr id="23" name="AutoShape 23"/>
          <p:cNvSpPr/>
          <p:nvPr/>
        </p:nvSpPr>
        <p:spPr>
          <a:xfrm>
            <a:off x="1524000" y="3302000"/>
            <a:ext cx="6477000" cy="457200"/>
          </a:xfrm>
          <a:prstGeom prst="rect">
            <a:avLst/>
          </a:prstGeom>
          <a:noFill/>
          <a:ln w="19050" cap="flat" cmpd="sng">
            <a:noFill/>
            <a:prstDash val="solid"/>
            <a:round/>
          </a:ln>
        </p:spPr>
        <p:txBody>
          <a:bodyPr vert="horz" wrap="square" lIns="0" tIns="0" rIns="0" bIns="0" rtlCol="0" anchor="t" anchorCtr="0"/>
          <a:lstStyle/>
          <a:p>
            <a:pPr indent="0" algn="l">
              <a:lnSpc>
                <a:spcPts val="3240"/>
              </a:lnSpc>
              <a:defRPr/>
            </a:pPr>
            <a:r>
              <a:rPr lang="en-US" sz="2800" b="0" i="0" u="none" strike="noStrike">
                <a:solidFill>
                  <a:srgbClr val="96A0B4"/>
                </a:solidFill>
                <a:latin typeface="Montserrat"/>
                <a:ea typeface="Montserrat"/>
                <a:cs typeface="Montserrat"/>
                <a:sym typeface="Montserrat"/>
              </a:rPr>
              <a:t>THANK YOU FOR WATCHING</a:t>
            </a:r>
            <a:endParaRPr lang="en-US" sz="1100"/>
          </a:p>
        </p:txBody>
      </p:sp>
      <p:pic>
        <p:nvPicPr>
          <p:cNvPr id="24" name="Picture 24"/>
          <p:cNvPicPr>
            <a:picLocks noChangeAspect="1"/>
          </p:cNvPicPr>
          <p:nvPr/>
        </p:nvPicPr>
        <p:blipFill>
          <a:blip r:embed="rId10"/>
          <a:srcRect/>
          <a:stretch>
            <a:fillRect/>
          </a:stretch>
        </p:blipFill>
        <p:spPr>
          <a:xfrm>
            <a:off x="10553700" y="-12700"/>
            <a:ext cx="7734300" cy="10020300"/>
          </a:xfrm>
          <a:prstGeom prst="rect">
            <a:avLst/>
          </a:prstGeom>
          <a:noFill/>
          <a:ln w="25400" cap="flat" cmpd="sng">
            <a:noFill/>
            <a:prstDash val="solid"/>
            <a:round/>
          </a:ln>
        </p:spPr>
      </p:pic>
      <p:sp>
        <p:nvSpPr>
          <p:cNvPr id="25" name="Freeform 25"/>
          <p:cNvSpPr/>
          <p:nvPr/>
        </p:nvSpPr>
        <p:spPr>
          <a:xfrm>
            <a:off x="11125200" y="6210300"/>
            <a:ext cx="597788" cy="597790"/>
          </a:xfrm>
          <a:custGeom>
            <a:avLst/>
            <a:gdLst/>
            <a:ahLst/>
            <a:cxnLst/>
            <a:rect l="l" t="t" r="r" b="b"/>
            <a:pathLst>
              <a:path w="597788" h="597790">
                <a:moveTo>
                  <a:pt x="0" y="298894"/>
                </a:moveTo>
                <a:cubicBezTo>
                  <a:pt x="0" y="133826"/>
                  <a:pt x="133826" y="0"/>
                  <a:pt x="298894" y="0"/>
                </a:cubicBezTo>
                <a:cubicBezTo>
                  <a:pt x="463961" y="0"/>
                  <a:pt x="597788" y="133826"/>
                  <a:pt x="597788" y="298894"/>
                </a:cubicBezTo>
                <a:cubicBezTo>
                  <a:pt x="597788" y="463964"/>
                  <a:pt x="463961" y="597790"/>
                  <a:pt x="298894" y="597790"/>
                </a:cubicBezTo>
                <a:cubicBezTo>
                  <a:pt x="133826" y="597790"/>
                  <a:pt x="0" y="463964"/>
                  <a:pt x="0" y="298894"/>
                </a:cubicBezTo>
                <a:close/>
              </a:path>
            </a:pathLst>
          </a:custGeom>
          <a:solidFill>
            <a:srgbClr val="F89469">
              <a:alpha val="100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  <a:endParaRPr/>
          </a:p>
        </p:txBody>
      </p:sp>
      <p:sp>
        <p:nvSpPr>
          <p:cNvPr id="26" name="AutoShape 26"/>
          <p:cNvSpPr/>
          <p:nvPr/>
        </p:nvSpPr>
        <p:spPr>
          <a:xfrm>
            <a:off x="13665200" y="1168400"/>
            <a:ext cx="3276600" cy="558800"/>
          </a:xfrm>
          <a:prstGeom prst="rect">
            <a:avLst/>
          </a:prstGeom>
          <a:noFill/>
          <a:ln w="19050" cap="flat" cmpd="sng">
            <a:noFill/>
            <a:prstDash val="solid"/>
            <a:round/>
          </a:ln>
        </p:spPr>
        <p:txBody>
          <a:bodyPr vert="horz" wrap="square" lIns="0" tIns="0" rIns="0" bIns="0" rtlCol="0" anchor="t" anchorCtr="0"/>
          <a:lstStyle/>
          <a:p>
            <a:pPr indent="0" algn="r">
              <a:lnSpc>
                <a:spcPts val="1889"/>
              </a:lnSpc>
              <a:defRPr/>
            </a:pPr>
            <a:r>
              <a:rPr lang="en-US" sz="1400" b="0" i="0" u="none" strike="noStrike">
                <a:solidFill>
                  <a:srgbClr val="FFFFFF"/>
                </a:solidFill>
                <a:latin typeface="Montserrat"/>
                <a:ea typeface="Montserrat"/>
                <a:cs typeface="Montserrat"/>
                <a:sym typeface="Montserrat"/>
              </a:rPr>
              <a:t>SMART HOME PLAN PRESENTATION</a:t>
            </a:r>
            <a:endParaRPr lang="en-US" sz="1100"/>
          </a:p>
        </p:txBody>
      </p:sp>
      <p:cxnSp>
        <p:nvCxnSpPr>
          <p:cNvPr id="27" name="Connector 27"/>
          <p:cNvCxnSpPr/>
          <p:nvPr/>
        </p:nvCxnSpPr>
        <p:spPr>
          <a:xfrm>
            <a:off x="14846300" y="3975100"/>
            <a:ext cx="3949720" cy="12700"/>
          </a:xfrm>
          <a:prstGeom prst="line">
            <a:avLst/>
          </a:prstGeom>
          <a:solidFill>
            <a:srgbClr val="DEE0E3">
              <a:alpha val="100000"/>
            </a:srgbClr>
          </a:solidFill>
          <a:ln w="12700" cap="rnd" cmpd="sng">
            <a:solidFill>
              <a:srgbClr val="FFFFFF">
                <a:alpha val="100000"/>
              </a:srgbClr>
            </a:solidFill>
            <a:prstDash val="solid"/>
            <a:miter lim="10000000"/>
            <a:headEnd type="none" w="sm" len="sm"/>
            <a:tailEnd type="none" w="sm" len="sm"/>
          </a:ln>
        </p:spPr>
      </p:cxnSp>
      <p:sp>
        <p:nvSpPr>
          <p:cNvPr id="28" name="AutoShape 28"/>
          <p:cNvSpPr/>
          <p:nvPr/>
        </p:nvSpPr>
        <p:spPr>
          <a:xfrm>
            <a:off x="15354300" y="6705600"/>
            <a:ext cx="1587500" cy="812800"/>
          </a:xfrm>
          <a:prstGeom prst="rect">
            <a:avLst/>
          </a:prstGeom>
          <a:noFill/>
          <a:ln w="19050" cap="flat" cmpd="sng">
            <a:noFill/>
            <a:prstDash val="solid"/>
            <a:round/>
          </a:ln>
        </p:spPr>
        <p:txBody>
          <a:bodyPr vert="horz" wrap="square" lIns="0" tIns="0" rIns="0" bIns="0" rtlCol="0" anchor="t" anchorCtr="0"/>
          <a:lstStyle/>
          <a:p>
            <a:pPr indent="0" algn="r">
              <a:lnSpc>
                <a:spcPts val="1980"/>
              </a:lnSpc>
              <a:defRPr/>
            </a:pPr>
            <a:r>
              <a:rPr lang="en-US" sz="1500" b="0" i="0" u="none" strike="noStrike">
                <a:solidFill>
                  <a:srgbClr val="FFFFFF"/>
                </a:solidFill>
                <a:latin typeface="Montserrat"/>
                <a:ea typeface="Montserrat"/>
                <a:cs typeface="Montserrat"/>
                <a:sym typeface="Montserrat"/>
              </a:rPr>
              <a:t>Smart</a:t>
            </a:r>
            <a:endParaRPr lang="en-US" sz="1100"/>
          </a:p>
          <a:p>
            <a:pPr indent="0" algn="r">
              <a:lnSpc>
                <a:spcPts val="1980"/>
              </a:lnSpc>
            </a:pPr>
            <a:r>
              <a:rPr lang="en-US" sz="1500" b="0" i="0" u="none" strike="noStrike">
                <a:solidFill>
                  <a:srgbClr val="FFFFFF"/>
                </a:solidFill>
                <a:latin typeface="Montserrat"/>
                <a:ea typeface="Montserrat"/>
                <a:cs typeface="Montserrat"/>
                <a:sym typeface="Montserrat"/>
              </a:rPr>
              <a:t>Future</a:t>
            </a:r>
          </a:p>
          <a:p>
            <a:pPr indent="0" algn="r">
              <a:lnSpc>
                <a:spcPts val="1980"/>
              </a:lnSpc>
            </a:pPr>
            <a:r>
              <a:rPr lang="en-US" sz="1500" b="0" i="0" u="none" strike="noStrike">
                <a:solidFill>
                  <a:srgbClr val="FFFFFF"/>
                </a:solidFill>
                <a:latin typeface="Montserrat"/>
                <a:ea typeface="Montserrat"/>
                <a:cs typeface="Montserrat"/>
                <a:sym typeface="Montserrat"/>
              </a:rPr>
              <a:t>Together</a:t>
            </a:r>
          </a:p>
        </p:txBody>
      </p:sp>
      <p:sp>
        <p:nvSpPr>
          <p:cNvPr id="29" name="Freeform 29"/>
          <p:cNvSpPr/>
          <p:nvPr/>
        </p:nvSpPr>
        <p:spPr>
          <a:xfrm rot="5400000">
            <a:off x="16738600" y="5930900"/>
            <a:ext cx="147638" cy="147733"/>
          </a:xfrm>
          <a:custGeom>
            <a:avLst/>
            <a:gdLst/>
            <a:ahLst/>
            <a:cxnLst/>
            <a:rect l="l" t="t" r="r" b="b"/>
            <a:pathLst>
              <a:path w="147638" h="147733">
                <a:moveTo>
                  <a:pt x="0" y="73819"/>
                </a:moveTo>
                <a:cubicBezTo>
                  <a:pt x="0" y="33052"/>
                  <a:pt x="33052" y="0"/>
                  <a:pt x="73819" y="0"/>
                </a:cubicBezTo>
                <a:lnTo>
                  <a:pt x="73819" y="9525"/>
                </a:lnTo>
                <a:lnTo>
                  <a:pt x="73819" y="0"/>
                </a:lnTo>
                <a:cubicBezTo>
                  <a:pt x="114586" y="0"/>
                  <a:pt x="147638" y="33052"/>
                  <a:pt x="147638" y="73819"/>
                </a:cubicBezTo>
                <a:cubicBezTo>
                  <a:pt x="147638" y="114586"/>
                  <a:pt x="114586" y="147638"/>
                  <a:pt x="73819" y="147638"/>
                </a:cubicBezTo>
                <a:lnTo>
                  <a:pt x="73819" y="138112"/>
                </a:lnTo>
                <a:lnTo>
                  <a:pt x="73819" y="147638"/>
                </a:lnTo>
                <a:cubicBezTo>
                  <a:pt x="33052" y="147733"/>
                  <a:pt x="0" y="114586"/>
                  <a:pt x="0" y="73819"/>
                </a:cubicBezTo>
                <a:lnTo>
                  <a:pt x="9525" y="73819"/>
                </a:lnTo>
                <a:lnTo>
                  <a:pt x="17812" y="78486"/>
                </a:lnTo>
                <a:cubicBezTo>
                  <a:pt x="15716" y="82296"/>
                  <a:pt x="11240" y="84106"/>
                  <a:pt x="7144" y="83058"/>
                </a:cubicBezTo>
                <a:cubicBezTo>
                  <a:pt x="3048" y="82010"/>
                  <a:pt x="0" y="78200"/>
                  <a:pt x="0" y="73819"/>
                </a:cubicBezTo>
                <a:moveTo>
                  <a:pt x="19050" y="73819"/>
                </a:moveTo>
                <a:lnTo>
                  <a:pt x="9525" y="73819"/>
                </a:lnTo>
                <a:lnTo>
                  <a:pt x="1238" y="69152"/>
                </a:lnTo>
                <a:cubicBezTo>
                  <a:pt x="3334" y="65342"/>
                  <a:pt x="7810" y="63532"/>
                  <a:pt x="11906" y="64580"/>
                </a:cubicBezTo>
                <a:cubicBezTo>
                  <a:pt x="16002" y="65627"/>
                  <a:pt x="19050" y="69532"/>
                  <a:pt x="19050" y="73819"/>
                </a:cubicBezTo>
                <a:cubicBezTo>
                  <a:pt x="19050" y="104108"/>
                  <a:pt x="43624" y="128588"/>
                  <a:pt x="73819" y="128588"/>
                </a:cubicBezTo>
                <a:cubicBezTo>
                  <a:pt x="104013" y="128588"/>
                  <a:pt x="128588" y="104013"/>
                  <a:pt x="128588" y="73819"/>
                </a:cubicBezTo>
                <a:lnTo>
                  <a:pt x="138112" y="73819"/>
                </a:lnTo>
                <a:lnTo>
                  <a:pt x="128588" y="73819"/>
                </a:lnTo>
                <a:cubicBezTo>
                  <a:pt x="128683" y="43624"/>
                  <a:pt x="104108" y="19050"/>
                  <a:pt x="73819" y="19050"/>
                </a:cubicBezTo>
                <a:lnTo>
                  <a:pt x="73819" y="9525"/>
                </a:lnTo>
                <a:lnTo>
                  <a:pt x="73819" y="19050"/>
                </a:lnTo>
                <a:cubicBezTo>
                  <a:pt x="43624" y="19050"/>
                  <a:pt x="19050" y="43624"/>
                  <a:pt x="19050" y="73819"/>
                </a:cubicBezTo>
                <a:close/>
              </a:path>
            </a:pathLst>
          </a:custGeom>
          <a:solidFill>
            <a:srgbClr val="FFFFFF">
              <a:alpha val="100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  <a:endParaRPr/>
          </a:p>
        </p:txBody>
      </p:sp>
      <p:sp>
        <p:nvSpPr>
          <p:cNvPr id="30" name="Freeform 30"/>
          <p:cNvSpPr/>
          <p:nvPr/>
        </p:nvSpPr>
        <p:spPr>
          <a:xfrm rot="5400000">
            <a:off x="16751300" y="6172200"/>
            <a:ext cx="128588" cy="128588"/>
          </a:xfrm>
          <a:custGeom>
            <a:avLst/>
            <a:gdLst/>
            <a:ahLst/>
            <a:cxnLst/>
            <a:rect l="l" t="t" r="r" b="b"/>
            <a:pathLst>
              <a:path w="128588" h="128588">
                <a:moveTo>
                  <a:pt x="0" y="64294"/>
                </a:moveTo>
                <a:cubicBezTo>
                  <a:pt x="0" y="28766"/>
                  <a:pt x="28766" y="0"/>
                  <a:pt x="64294" y="0"/>
                </a:cubicBezTo>
                <a:cubicBezTo>
                  <a:pt x="99822" y="0"/>
                  <a:pt x="128588" y="28766"/>
                  <a:pt x="128588" y="64294"/>
                </a:cubicBezTo>
                <a:cubicBezTo>
                  <a:pt x="128588" y="99822"/>
                  <a:pt x="99822" y="128588"/>
                  <a:pt x="64294" y="128588"/>
                </a:cubicBezTo>
                <a:cubicBezTo>
                  <a:pt x="28766" y="128588"/>
                  <a:pt x="0" y="99822"/>
                  <a:pt x="0" y="64294"/>
                </a:cubicBezTo>
                <a:close/>
              </a:path>
            </a:pathLst>
          </a:custGeom>
          <a:solidFill>
            <a:srgbClr val="FFFFFF">
              <a:alpha val="100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  <a:endParaRPr/>
          </a:p>
        </p:txBody>
      </p:sp>
      <p:sp>
        <p:nvSpPr>
          <p:cNvPr id="31" name="Freeform 31"/>
          <p:cNvSpPr/>
          <p:nvPr/>
        </p:nvSpPr>
        <p:spPr>
          <a:xfrm rot="5400000">
            <a:off x="16738600" y="6159500"/>
            <a:ext cx="147638" cy="147733"/>
          </a:xfrm>
          <a:custGeom>
            <a:avLst/>
            <a:gdLst/>
            <a:ahLst/>
            <a:cxnLst/>
            <a:rect l="l" t="t" r="r" b="b"/>
            <a:pathLst>
              <a:path w="147638" h="147733">
                <a:moveTo>
                  <a:pt x="0" y="73819"/>
                </a:moveTo>
                <a:cubicBezTo>
                  <a:pt x="0" y="33052"/>
                  <a:pt x="33052" y="0"/>
                  <a:pt x="73819" y="0"/>
                </a:cubicBezTo>
                <a:lnTo>
                  <a:pt x="73819" y="9525"/>
                </a:lnTo>
                <a:lnTo>
                  <a:pt x="73819" y="0"/>
                </a:lnTo>
                <a:cubicBezTo>
                  <a:pt x="114586" y="0"/>
                  <a:pt x="147638" y="33052"/>
                  <a:pt x="147638" y="73819"/>
                </a:cubicBezTo>
                <a:cubicBezTo>
                  <a:pt x="147638" y="114586"/>
                  <a:pt x="114586" y="147638"/>
                  <a:pt x="73819" y="147638"/>
                </a:cubicBezTo>
                <a:lnTo>
                  <a:pt x="73819" y="138112"/>
                </a:lnTo>
                <a:lnTo>
                  <a:pt x="73819" y="147638"/>
                </a:lnTo>
                <a:cubicBezTo>
                  <a:pt x="33052" y="147733"/>
                  <a:pt x="0" y="114586"/>
                  <a:pt x="0" y="73819"/>
                </a:cubicBezTo>
                <a:lnTo>
                  <a:pt x="9525" y="73819"/>
                </a:lnTo>
                <a:lnTo>
                  <a:pt x="17812" y="78486"/>
                </a:lnTo>
                <a:cubicBezTo>
                  <a:pt x="15716" y="82296"/>
                  <a:pt x="11240" y="84106"/>
                  <a:pt x="7144" y="83058"/>
                </a:cubicBezTo>
                <a:cubicBezTo>
                  <a:pt x="3048" y="82010"/>
                  <a:pt x="0" y="78200"/>
                  <a:pt x="0" y="73819"/>
                </a:cubicBezTo>
                <a:moveTo>
                  <a:pt x="19050" y="73819"/>
                </a:moveTo>
                <a:lnTo>
                  <a:pt x="9525" y="73819"/>
                </a:lnTo>
                <a:lnTo>
                  <a:pt x="1238" y="69152"/>
                </a:lnTo>
                <a:cubicBezTo>
                  <a:pt x="3334" y="65342"/>
                  <a:pt x="7810" y="63532"/>
                  <a:pt x="11906" y="64580"/>
                </a:cubicBezTo>
                <a:cubicBezTo>
                  <a:pt x="16002" y="65627"/>
                  <a:pt x="19050" y="69532"/>
                  <a:pt x="19050" y="73819"/>
                </a:cubicBezTo>
                <a:cubicBezTo>
                  <a:pt x="19050" y="104108"/>
                  <a:pt x="43624" y="128588"/>
                  <a:pt x="73819" y="128588"/>
                </a:cubicBezTo>
                <a:cubicBezTo>
                  <a:pt x="104013" y="128588"/>
                  <a:pt x="128588" y="104013"/>
                  <a:pt x="128588" y="73819"/>
                </a:cubicBezTo>
                <a:lnTo>
                  <a:pt x="138112" y="73819"/>
                </a:lnTo>
                <a:lnTo>
                  <a:pt x="128588" y="73819"/>
                </a:lnTo>
                <a:cubicBezTo>
                  <a:pt x="128683" y="43624"/>
                  <a:pt x="104108" y="19050"/>
                  <a:pt x="73819" y="19050"/>
                </a:cubicBezTo>
                <a:lnTo>
                  <a:pt x="73819" y="9525"/>
                </a:lnTo>
                <a:lnTo>
                  <a:pt x="73819" y="19050"/>
                </a:lnTo>
                <a:cubicBezTo>
                  <a:pt x="43624" y="19050"/>
                  <a:pt x="19050" y="43624"/>
                  <a:pt x="19050" y="73819"/>
                </a:cubicBezTo>
                <a:close/>
              </a:path>
            </a:pathLst>
          </a:custGeom>
          <a:solidFill>
            <a:srgbClr val="FFFFFF">
              <a:alpha val="100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  <a:endParaRPr/>
          </a:p>
        </p:txBody>
      </p:sp>
      <p:sp>
        <p:nvSpPr>
          <p:cNvPr id="32" name="Freeform 32"/>
          <p:cNvSpPr/>
          <p:nvPr/>
        </p:nvSpPr>
        <p:spPr>
          <a:xfrm rot="5400000">
            <a:off x="16738600" y="6388100"/>
            <a:ext cx="147638" cy="147733"/>
          </a:xfrm>
          <a:custGeom>
            <a:avLst/>
            <a:gdLst/>
            <a:ahLst/>
            <a:cxnLst/>
            <a:rect l="l" t="t" r="r" b="b"/>
            <a:pathLst>
              <a:path w="147638" h="147733">
                <a:moveTo>
                  <a:pt x="0" y="73819"/>
                </a:moveTo>
                <a:cubicBezTo>
                  <a:pt x="0" y="33052"/>
                  <a:pt x="33052" y="0"/>
                  <a:pt x="73819" y="0"/>
                </a:cubicBezTo>
                <a:lnTo>
                  <a:pt x="73819" y="9525"/>
                </a:lnTo>
                <a:lnTo>
                  <a:pt x="73819" y="0"/>
                </a:lnTo>
                <a:cubicBezTo>
                  <a:pt x="114586" y="0"/>
                  <a:pt x="147638" y="33052"/>
                  <a:pt x="147638" y="73819"/>
                </a:cubicBezTo>
                <a:cubicBezTo>
                  <a:pt x="147638" y="114586"/>
                  <a:pt x="114586" y="147638"/>
                  <a:pt x="73819" y="147638"/>
                </a:cubicBezTo>
                <a:lnTo>
                  <a:pt x="73819" y="138112"/>
                </a:lnTo>
                <a:lnTo>
                  <a:pt x="73819" y="147638"/>
                </a:lnTo>
                <a:cubicBezTo>
                  <a:pt x="33052" y="147733"/>
                  <a:pt x="0" y="114586"/>
                  <a:pt x="0" y="73819"/>
                </a:cubicBezTo>
                <a:lnTo>
                  <a:pt x="9525" y="73819"/>
                </a:lnTo>
                <a:lnTo>
                  <a:pt x="17812" y="78486"/>
                </a:lnTo>
                <a:cubicBezTo>
                  <a:pt x="15716" y="82296"/>
                  <a:pt x="11240" y="84106"/>
                  <a:pt x="7144" y="83058"/>
                </a:cubicBezTo>
                <a:cubicBezTo>
                  <a:pt x="3048" y="82010"/>
                  <a:pt x="0" y="78200"/>
                  <a:pt x="0" y="73819"/>
                </a:cubicBezTo>
                <a:moveTo>
                  <a:pt x="19050" y="73819"/>
                </a:moveTo>
                <a:lnTo>
                  <a:pt x="9525" y="73819"/>
                </a:lnTo>
                <a:lnTo>
                  <a:pt x="1238" y="69152"/>
                </a:lnTo>
                <a:cubicBezTo>
                  <a:pt x="3334" y="65342"/>
                  <a:pt x="7810" y="63532"/>
                  <a:pt x="11906" y="64580"/>
                </a:cubicBezTo>
                <a:cubicBezTo>
                  <a:pt x="16002" y="65627"/>
                  <a:pt x="19050" y="69532"/>
                  <a:pt x="19050" y="73819"/>
                </a:cubicBezTo>
                <a:cubicBezTo>
                  <a:pt x="19050" y="104108"/>
                  <a:pt x="43624" y="128588"/>
                  <a:pt x="73819" y="128588"/>
                </a:cubicBezTo>
                <a:cubicBezTo>
                  <a:pt x="104013" y="128588"/>
                  <a:pt x="128588" y="104013"/>
                  <a:pt x="128588" y="73819"/>
                </a:cubicBezTo>
                <a:lnTo>
                  <a:pt x="138112" y="73819"/>
                </a:lnTo>
                <a:lnTo>
                  <a:pt x="128588" y="73819"/>
                </a:lnTo>
                <a:cubicBezTo>
                  <a:pt x="128683" y="43624"/>
                  <a:pt x="104108" y="19050"/>
                  <a:pt x="73819" y="19050"/>
                </a:cubicBezTo>
                <a:lnTo>
                  <a:pt x="73819" y="9525"/>
                </a:lnTo>
                <a:lnTo>
                  <a:pt x="73819" y="19050"/>
                </a:lnTo>
                <a:cubicBezTo>
                  <a:pt x="43624" y="19050"/>
                  <a:pt x="19050" y="43624"/>
                  <a:pt x="19050" y="73819"/>
                </a:cubicBezTo>
                <a:close/>
              </a:path>
            </a:pathLst>
          </a:custGeom>
          <a:solidFill>
            <a:srgbClr val="FFFFFF">
              <a:alpha val="100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  <a:endParaRPr/>
          </a:p>
        </p:txBody>
      </p:sp>
      <p:sp>
        <p:nvSpPr>
          <p:cNvPr id="33" name="AutoShape 33"/>
          <p:cNvSpPr/>
          <p:nvPr/>
        </p:nvSpPr>
        <p:spPr>
          <a:xfrm>
            <a:off x="15417800" y="9410700"/>
            <a:ext cx="2336800" cy="330200"/>
          </a:xfrm>
          <a:prstGeom prst="rect">
            <a:avLst/>
          </a:prstGeom>
          <a:noFill/>
          <a:ln w="19050" cap="flat" cmpd="sng">
            <a:noFill/>
            <a:prstDash val="solid"/>
            <a:round/>
          </a:ln>
        </p:spPr>
        <p:txBody>
          <a:bodyPr vert="horz" wrap="square" lIns="0" tIns="0" rIns="0" bIns="0" rtlCol="0" anchor="t" anchorCtr="0"/>
          <a:lstStyle/>
          <a:p>
            <a:pPr indent="0" algn="l">
              <a:lnSpc>
                <a:spcPts val="2160"/>
              </a:lnSpc>
              <a:defRPr/>
            </a:pPr>
            <a:r>
              <a:rPr lang="en-US" sz="1400" b="0" i="0" u="none" strike="noStrike">
                <a:solidFill>
                  <a:srgbClr val="FFFFFF">
                    <a:alpha val="80000"/>
                  </a:srgbClr>
                </a:solidFill>
                <a:latin typeface="Montserrat"/>
                <a:ea typeface="Montserrat"/>
                <a:cs typeface="Montserrat"/>
                <a:sym typeface="Montserrat"/>
              </a:rPr>
              <a:t>www.smarthome-project.com</a:t>
            </a:r>
            <a:endParaRPr lang="en-US" sz="1100"/>
          </a:p>
        </p:txBody>
      </p:sp>
      <p:sp>
        <p:nvSpPr>
          <p:cNvPr id="34" name="AutoShape 34"/>
          <p:cNvSpPr/>
          <p:nvPr/>
        </p:nvSpPr>
        <p:spPr>
          <a:xfrm>
            <a:off x="15849600" y="825500"/>
            <a:ext cx="2349500" cy="241300"/>
          </a:xfrm>
          <a:prstGeom prst="rect">
            <a:avLst/>
          </a:prstGeom>
          <a:noFill/>
          <a:ln w="19050" cap="flat" cmpd="sng">
            <a:noFill/>
            <a:prstDash val="solid"/>
            <a:round/>
          </a:ln>
        </p:spPr>
        <p:txBody>
          <a:bodyPr vert="horz" wrap="square" lIns="0" tIns="0" rIns="0" bIns="0" rtlCol="0" anchor="t" anchorCtr="0"/>
          <a:lstStyle/>
          <a:p>
            <a:pPr indent="0" algn="l">
              <a:lnSpc>
                <a:spcPts val="1980"/>
              </a:lnSpc>
              <a:defRPr/>
            </a:pPr>
            <a:r>
              <a:rPr lang="en-US" sz="1400" b="0" i="0" u="none" strike="noStrike">
                <a:solidFill>
                  <a:srgbClr val="FFFFFF"/>
                </a:solidFill>
                <a:latin typeface="Noto Sans SC"/>
                <a:ea typeface="Noto Sans SC"/>
                <a:cs typeface="Noto Sans SC"/>
                <a:sym typeface="Noto Sans SC"/>
              </a:rPr>
              <a:t>智能家庭计划</a:t>
            </a:r>
            <a:endParaRPr lang="en-US" sz="1100"/>
          </a:p>
        </p:txBody>
      </p:sp>
      <p:pic>
        <p:nvPicPr>
          <p:cNvPr id="35" name="Picture 35"/>
          <p:cNvPicPr>
            <a:picLocks noChangeAspect="1"/>
          </p:cNvPicPr>
          <p:nvPr/>
        </p:nvPicPr>
        <p:blipFill>
          <a:blip r:embed="rId11"/>
          <a:srcRect/>
          <a:stretch>
            <a:fillRect/>
          </a:stretch>
        </p:blipFill>
        <p:spPr>
          <a:xfrm>
            <a:off x="1803400" y="8724900"/>
            <a:ext cx="241300" cy="254000"/>
          </a:xfrm>
          <a:prstGeom prst="rect">
            <a:avLst/>
          </a:prstGeom>
          <a:noFill/>
          <a:ln w="25400" cap="flat" cmpd="sng">
            <a:noFill/>
            <a:prstDash val="solid"/>
            <a:round/>
          </a:ln>
        </p:spPr>
      </p:pic>
      <p:pic>
        <p:nvPicPr>
          <p:cNvPr id="36" name="Picture 36"/>
          <p:cNvPicPr>
            <a:picLocks noChangeAspect="1"/>
          </p:cNvPicPr>
          <p:nvPr/>
        </p:nvPicPr>
        <p:blipFill>
          <a:blip r:embed="rId12"/>
          <a:srcRect/>
          <a:stretch>
            <a:fillRect/>
          </a:stretch>
        </p:blipFill>
        <p:spPr>
          <a:xfrm>
            <a:off x="3352800" y="8724900"/>
            <a:ext cx="228600" cy="254000"/>
          </a:xfrm>
          <a:prstGeom prst="rect">
            <a:avLst/>
          </a:prstGeom>
          <a:noFill/>
          <a:ln w="25400" cap="flat" cmpd="sng">
            <a:noFill/>
            <a:prstDash val="solid"/>
            <a:round/>
          </a:ln>
        </p:spPr>
      </p:pic>
      <p:pic>
        <p:nvPicPr>
          <p:cNvPr id="37" name="Picture 37"/>
          <p:cNvPicPr>
            <a:picLocks noChangeAspect="1"/>
          </p:cNvPicPr>
          <p:nvPr/>
        </p:nvPicPr>
        <p:blipFill>
          <a:blip r:embed="rId13"/>
          <a:srcRect/>
          <a:stretch>
            <a:fillRect/>
          </a:stretch>
        </p:blipFill>
        <p:spPr>
          <a:xfrm>
            <a:off x="4114800" y="8724900"/>
            <a:ext cx="266700" cy="254000"/>
          </a:xfrm>
          <a:prstGeom prst="rect">
            <a:avLst/>
          </a:prstGeom>
          <a:noFill/>
          <a:ln w="25400" cap="flat" cmpd="sng">
            <a:noFill/>
            <a:prstDash val="solid"/>
            <a:round/>
          </a:ln>
        </p:spPr>
      </p:pic>
      <p:pic>
        <p:nvPicPr>
          <p:cNvPr id="38" name="Picture 38"/>
          <p:cNvPicPr>
            <a:picLocks noChangeAspect="1"/>
          </p:cNvPicPr>
          <p:nvPr/>
        </p:nvPicPr>
        <p:blipFill>
          <a:blip r:embed="rId14"/>
          <a:srcRect/>
          <a:stretch>
            <a:fillRect/>
          </a:stretch>
        </p:blipFill>
        <p:spPr>
          <a:xfrm>
            <a:off x="2578100" y="8724900"/>
            <a:ext cx="241300" cy="254000"/>
          </a:xfrm>
          <a:prstGeom prst="rect">
            <a:avLst/>
          </a:prstGeom>
          <a:noFill/>
          <a:ln w="25400" cap="flat" cmpd="sng">
            <a:noFill/>
            <a:prstDash val="solid"/>
            <a:round/>
          </a:ln>
        </p:spPr>
      </p:pic>
    </p:spTree>
  </p:cSld>
  <p:clrMapOvr>
    <a:masterClrMapping/>
  </p:clrMapOvr>
</p:sld>
</file>

<file path=ppt/theme/theme1.xml><?xml version="1.0" encoding="utf-8"?>
<a:theme xmlns:a="http://schemas.openxmlformats.org/drawingml/2006/main" name="Office 主题​​">
  <a:themeElements>
    <a:clrScheme name="Office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默认主题">
  <a:themeElements>
    <a:clrScheme name="Office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3.xml><?xml version="1.0" encoding="utf-8"?>
<a:theme xmlns:a="http://schemas.openxmlformats.org/drawingml/2006/main" name="Office 主题​​">
  <a:themeElements>
    <a:clrScheme name="Office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1045</Words>
  <Application>Microsoft Macintosh PowerPoint</Application>
  <PresentationFormat>自定义</PresentationFormat>
  <Paragraphs>232</Paragraphs>
  <Slides>16</Slides>
  <Notes>16</Notes>
  <HiddenSlides>0</HiddenSlides>
  <MMClips>0</MMClips>
  <ScaleCrop>false</ScaleCrop>
  <HeadingPairs>
    <vt:vector size="6" baseType="variant">
      <vt:variant>
        <vt:lpstr>已用的字体</vt:lpstr>
      </vt:variant>
      <vt:variant>
        <vt:i4>4</vt:i4>
      </vt:variant>
      <vt:variant>
        <vt:lpstr>主题</vt:lpstr>
      </vt:variant>
      <vt:variant>
        <vt:i4>2</vt:i4>
      </vt:variant>
      <vt:variant>
        <vt:lpstr>幻灯片标题</vt:lpstr>
      </vt:variant>
      <vt:variant>
        <vt:i4>16</vt:i4>
      </vt:variant>
    </vt:vector>
  </HeadingPairs>
  <TitlesOfParts>
    <vt:vector size="22" baseType="lpstr">
      <vt:lpstr>Noto Sans SC</vt:lpstr>
      <vt:lpstr>Arial</vt:lpstr>
      <vt:lpstr>Montserrat</vt:lpstr>
      <vt:lpstr>Montserrat Medium</vt:lpstr>
      <vt:lpstr>Office 主题​​</vt:lpstr>
      <vt:lpstr>默认主题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cp:lastModifiedBy>Zhengmeng</cp:lastModifiedBy>
  <cp:revision>1</cp:revision>
  <dcterms:modified xsi:type="dcterms:W3CDTF">2026-04-21T13:48:53Z</dcterms:modified>
</cp:coreProperties>
</file>